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5143500" cx="9144000"/>
  <p:notesSz cx="6858000" cy="9144000"/>
  <p:embeddedFontLst>
    <p:embeddedFont>
      <p:font typeface="Raleway"/>
      <p:regular r:id="rId33"/>
      <p:bold r:id="rId34"/>
      <p:italic r:id="rId35"/>
      <p:boldItalic r:id="rId36"/>
    </p:embeddedFont>
    <p:embeddedFont>
      <p:font typeface="Lato"/>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ato-bold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Raleway-regular.fntdata"/><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Raleway-italic.fntdata"/><Relationship Id="rId12" Type="http://schemas.openxmlformats.org/officeDocument/2006/relationships/slide" Target="slides/slide7.xml"/><Relationship Id="rId34" Type="http://schemas.openxmlformats.org/officeDocument/2006/relationships/font" Target="fonts/Raleway-bold.fntdata"/><Relationship Id="rId15" Type="http://schemas.openxmlformats.org/officeDocument/2006/relationships/slide" Target="slides/slide10.xml"/><Relationship Id="rId37" Type="http://schemas.openxmlformats.org/officeDocument/2006/relationships/font" Target="fonts/Lato-regular.fntdata"/><Relationship Id="rId14" Type="http://schemas.openxmlformats.org/officeDocument/2006/relationships/slide" Target="slides/slide9.xml"/><Relationship Id="rId36" Type="http://schemas.openxmlformats.org/officeDocument/2006/relationships/font" Target="fonts/Raleway-boldItalic.fntdata"/><Relationship Id="rId17" Type="http://schemas.openxmlformats.org/officeDocument/2006/relationships/slide" Target="slides/slide12.xml"/><Relationship Id="rId39" Type="http://schemas.openxmlformats.org/officeDocument/2006/relationships/font" Target="fonts/Lato-italic.fntdata"/><Relationship Id="rId16" Type="http://schemas.openxmlformats.org/officeDocument/2006/relationships/slide" Target="slides/slide11.xml"/><Relationship Id="rId38" Type="http://schemas.openxmlformats.org/officeDocument/2006/relationships/font" Target="fonts/Lato-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e415c411a0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e415c411a0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e4276120bf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e4276120bf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e443f0fe6a_1_20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e443f0fe6a_1_20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e415c411a0_1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e415c411a0_1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e415c411a0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e415c411a0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lang="en-GB" sz="1200">
                <a:solidFill>
                  <a:schemeClr val="dk1"/>
                </a:solidFill>
                <a:latin typeface="Lato"/>
                <a:ea typeface="Lato"/>
                <a:cs typeface="Lato"/>
                <a:sym typeface="Lato"/>
              </a:rPr>
              <a:t>Préférer : </a:t>
            </a:r>
            <a:endParaRPr sz="1200">
              <a:solidFill>
                <a:schemeClr val="dk1"/>
              </a:solidFill>
              <a:latin typeface="Lato"/>
              <a:ea typeface="Lato"/>
              <a:cs typeface="Lato"/>
              <a:sym typeface="Lato"/>
            </a:endParaRPr>
          </a:p>
          <a:p>
            <a:pPr indent="-304800" lvl="0" marL="457200" rtl="0" algn="l">
              <a:spcBef>
                <a:spcPts val="1200"/>
              </a:spcBef>
              <a:spcAft>
                <a:spcPts val="0"/>
              </a:spcAft>
              <a:buClr>
                <a:schemeClr val="dk1"/>
              </a:buClr>
              <a:buSzPts val="1200"/>
              <a:buFont typeface="Lato"/>
              <a:buAutoNum type="arabicPeriod"/>
            </a:pPr>
            <a:r>
              <a:rPr lang="en-GB" sz="1200">
                <a:solidFill>
                  <a:schemeClr val="dk1"/>
                </a:solidFill>
                <a:latin typeface="Lato"/>
                <a:ea typeface="Lato"/>
                <a:cs typeface="Lato"/>
                <a:sym typeface="Lato"/>
              </a:rPr>
              <a:t>La fenêtre avec le plus grand chevauchement de tokens de la requête</a:t>
            </a:r>
            <a:endParaRPr sz="1200">
              <a:solidFill>
                <a:schemeClr val="dk1"/>
              </a:solidFill>
              <a:latin typeface="Lato"/>
              <a:ea typeface="Lato"/>
              <a:cs typeface="Lato"/>
              <a:sym typeface="Lato"/>
            </a:endParaRPr>
          </a:p>
          <a:p>
            <a:pPr indent="-298450" lvl="0" marL="457200" rtl="0" algn="l">
              <a:spcBef>
                <a:spcPts val="0"/>
              </a:spcBef>
              <a:spcAft>
                <a:spcPts val="0"/>
              </a:spcAft>
              <a:buClr>
                <a:schemeClr val="dk1"/>
              </a:buClr>
              <a:buSzPts val="1100"/>
              <a:buAutoNum type="arabicPeriod"/>
            </a:pPr>
            <a:r>
              <a:rPr lang="en-GB" sz="1200">
                <a:solidFill>
                  <a:schemeClr val="dk1"/>
                </a:solidFill>
                <a:latin typeface="Lato"/>
                <a:ea typeface="Lato"/>
                <a:cs typeface="Lato"/>
                <a:sym typeface="Lato"/>
              </a:rPr>
              <a:t>En cas d’égalité, la fenêtre la plus dense</a:t>
            </a:r>
            <a:endParaRPr sz="1200">
              <a:solidFill>
                <a:schemeClr val="dk1"/>
              </a:solidFill>
              <a:latin typeface="Lato"/>
              <a:ea typeface="Lato"/>
              <a:cs typeface="Lato"/>
              <a:sym typeface="Lato"/>
            </a:endParaRPr>
          </a:p>
          <a:p>
            <a:pPr indent="-298450" lvl="0" marL="457200" rtl="0" algn="l">
              <a:spcBef>
                <a:spcPts val="0"/>
              </a:spcBef>
              <a:spcAft>
                <a:spcPts val="0"/>
              </a:spcAft>
              <a:buClr>
                <a:schemeClr val="dk1"/>
              </a:buClr>
              <a:buSzPts val="1100"/>
              <a:buAutoNum type="arabicPeriod"/>
            </a:pPr>
            <a:r>
              <a:rPr lang="en-GB" sz="1200">
                <a:solidFill>
                  <a:schemeClr val="dk1"/>
                </a:solidFill>
                <a:latin typeface="Lato"/>
                <a:ea typeface="Lato"/>
                <a:cs typeface="Lato"/>
                <a:sym typeface="Lato"/>
              </a:rPr>
              <a:t>En cas d’égalité, la fenêtre la plus courte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e4276120bf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3e4276120bf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e415c411a0_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e415c411a0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e415c411a0_1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e415c411a0_1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Summary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 `hi_weighted`: minimize the sum of edge costs</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 `hi_minmax`: minimize the worst edge cost</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 `hi_minmax_budgeted`: minimize the worst edge cost subject to explicit path-edge budgets, with fallbacks</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GB"/>
              <a:t>Weighted Dijkstra asks:</a:t>
            </a:r>
            <a:endParaRPr/>
          </a:p>
          <a:p>
            <a:pPr indent="0" lvl="0" marL="0" rtl="0" algn="l">
              <a:spcBef>
                <a:spcPts val="0"/>
              </a:spcBef>
              <a:spcAft>
                <a:spcPts val="0"/>
              </a:spcAft>
              <a:buClr>
                <a:schemeClr val="dk1"/>
              </a:buClr>
              <a:buSzPts val="1100"/>
              <a:buFont typeface="Arial"/>
              <a:buNone/>
            </a:pPr>
            <a:r>
              <a:rPr lang="en-GB"/>
              <a:t>&gt; Among all complete paths, which one has the smallest total cost?</a:t>
            </a:r>
            <a:endParaRPr/>
          </a:p>
          <a:p>
            <a:pPr indent="0" lvl="0" marL="0" rtl="0" algn="l">
              <a:spcBef>
                <a:spcPts val="0"/>
              </a:spcBef>
              <a:spcAft>
                <a:spcPts val="0"/>
              </a:spcAft>
              <a:buClr>
                <a:schemeClr val="dk1"/>
              </a:buClr>
              <a:buSzPts val="1100"/>
              <a:buFont typeface="Arial"/>
              <a:buNone/>
            </a:pPr>
            <a:r>
              <a:rPr lang="en-GB"/>
              <a:t>Minmax asks:</a:t>
            </a:r>
            <a:endParaRPr/>
          </a:p>
          <a:p>
            <a:pPr indent="0" lvl="0" marL="0" rtl="0" algn="l">
              <a:spcBef>
                <a:spcPts val="0"/>
              </a:spcBef>
              <a:spcAft>
                <a:spcPts val="0"/>
              </a:spcAft>
              <a:buClr>
                <a:schemeClr val="dk1"/>
              </a:buClr>
              <a:buSzPts val="1100"/>
              <a:buFont typeface="Arial"/>
              <a:buNone/>
            </a:pPr>
            <a:r>
              <a:rPr lang="en-GB"/>
              <a:t>&gt; Among all complete paths, which one has the best worst edge?</a:t>
            </a:r>
            <a:endParaRPr/>
          </a:p>
          <a:p>
            <a:pPr indent="0" lvl="0" marL="0" rtl="0" algn="l">
              <a:spcBef>
                <a:spcPts val="0"/>
              </a:spcBef>
              <a:spcAft>
                <a:spcPts val="0"/>
              </a:spcAft>
              <a:buClr>
                <a:schemeClr val="dk1"/>
              </a:buClr>
              <a:buSzPts val="1100"/>
              <a:buFont typeface="Arial"/>
              <a:buNone/>
            </a:pPr>
            <a:r>
              <a:rPr lang="en-GB"/>
              <a:t>MCTS asks:</a:t>
            </a:r>
            <a:endParaRPr/>
          </a:p>
          <a:p>
            <a:pPr indent="0" lvl="0" marL="0" rtl="0" algn="l">
              <a:spcBef>
                <a:spcPts val="0"/>
              </a:spcBef>
              <a:spcAft>
                <a:spcPts val="0"/>
              </a:spcAft>
              <a:buClr>
                <a:schemeClr val="dk1"/>
              </a:buClr>
              <a:buSzPts val="1100"/>
              <a:buFont typeface="Arial"/>
              <a:buNone/>
            </a:pPr>
            <a:r>
              <a:rPr lang="en-GB"/>
              <a:t>&gt; If I grow a bridge step by step, which next move is most promising under a long-term reward?</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e439887526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e439887526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Poids: </a:t>
            </a:r>
            <a:endParaRPr/>
          </a:p>
          <a:p>
            <a:pPr indent="0" lvl="0" marL="0" rtl="0" algn="l">
              <a:spcBef>
                <a:spcPts val="0"/>
              </a:spcBef>
              <a:spcAft>
                <a:spcPts val="0"/>
              </a:spcAft>
              <a:buClr>
                <a:schemeClr val="dk1"/>
              </a:buClr>
              <a:buSzPts val="1100"/>
              <a:buFont typeface="Arial"/>
              <a:buNone/>
            </a:pPr>
            <a:r>
              <a:rPr lang="en-GB"/>
              <a:t>- semantic cost is the main term, because relevance to the query should dominate bridge selection</a:t>
            </a:r>
            <a:endParaRPr/>
          </a:p>
          <a:p>
            <a:pPr indent="0" lvl="0" marL="0" rtl="0" algn="l">
              <a:spcBef>
                <a:spcPts val="0"/>
              </a:spcBef>
              <a:spcAft>
                <a:spcPts val="0"/>
              </a:spcAft>
              <a:buClr>
                <a:schemeClr val="dk1"/>
              </a:buClr>
              <a:buSzPts val="1100"/>
              <a:buFont typeface="Arial"/>
              <a:buNone/>
            </a:pPr>
            <a:r>
              <a:rPr lang="en-GB"/>
              <a:t>- hub penalty discourages generic hub nodes that connect many things but often add weak explanatory value</a:t>
            </a:r>
            <a:endParaRPr/>
          </a:p>
          <a:p>
            <a:pPr indent="0" lvl="0" marL="0" rtl="0" algn="l">
              <a:spcBef>
                <a:spcPts val="0"/>
              </a:spcBef>
              <a:spcAft>
                <a:spcPts val="0"/>
              </a:spcAft>
              <a:buNone/>
            </a:pPr>
            <a:r>
              <a:rPr lang="en-GB"/>
              <a:t>- inverse weight penalty favors stronger graph relations when semantic evidence is similar</a:t>
            </a:r>
            <a:br>
              <a:rPr lang="en-GB"/>
            </a:br>
            <a:br>
              <a:rPr lang="en-GB"/>
            </a:br>
            <a:endParaRPr/>
          </a:p>
          <a:p>
            <a:pPr indent="0" lvl="0" marL="0" rtl="0" algn="l">
              <a:spcBef>
                <a:spcPts val="0"/>
              </a:spcBef>
              <a:spcAft>
                <a:spcPts val="0"/>
              </a:spcAft>
              <a:buNone/>
            </a:pPr>
            <a:r>
              <a:rPr lang="en-GB"/>
              <a:t>An edge is cheap when:</a:t>
            </a:r>
            <a:endParaRPr/>
          </a:p>
          <a:p>
            <a:pPr indent="0" lvl="0" marL="0" rtl="0" algn="l">
              <a:spcBef>
                <a:spcPts val="0"/>
              </a:spcBef>
              <a:spcAft>
                <a:spcPts val="0"/>
              </a:spcAft>
              <a:buNone/>
            </a:pPr>
            <a:r>
              <a:rPr lang="en-GB"/>
              <a:t>- its textual meaning matches the query well</a:t>
            </a:r>
            <a:endParaRPr/>
          </a:p>
          <a:p>
            <a:pPr indent="0" lvl="0" marL="0" rtl="0" algn="l">
              <a:spcBef>
                <a:spcPts val="0"/>
              </a:spcBef>
              <a:spcAft>
                <a:spcPts val="0"/>
              </a:spcAft>
              <a:buNone/>
            </a:pPr>
            <a:r>
              <a:rPr lang="en-GB"/>
              <a:t>- it does not pass through a highly generic hub</a:t>
            </a:r>
            <a:endParaRPr/>
          </a:p>
          <a:p>
            <a:pPr indent="0" lvl="0" marL="0" rtl="0" algn="l">
              <a:spcBef>
                <a:spcPts val="0"/>
              </a:spcBef>
              <a:spcAft>
                <a:spcPts val="0"/>
              </a:spcAft>
              <a:buNone/>
            </a:pPr>
            <a:r>
              <a:rPr lang="en-GB"/>
              <a:t>- it corresponds to a stronger graph relation</a:t>
            </a:r>
            <a:endParaRPr/>
          </a:p>
          <a:p>
            <a:pPr indent="0" lvl="0" marL="0" rtl="0" algn="l">
              <a:spcBef>
                <a:spcPts val="0"/>
              </a:spcBef>
              <a:spcAft>
                <a:spcPts val="0"/>
              </a:spcAft>
              <a:buNone/>
            </a:pPr>
            <a:r>
              <a:rPr lang="en-GB"/>
              <a:t>So lower cost means "better bridge evidence for this specific query."</a:t>
            </a:r>
            <a:endParaRPr/>
          </a:p>
          <a:p>
            <a:pPr indent="0" lvl="0" marL="0" rtl="0" algn="l">
              <a:lnSpc>
                <a:spcPct val="115000"/>
              </a:lnSpc>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e443f0fe6a_1_29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3e443f0fe6a_1_29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Minimax : often a better fit for bridge retrieval, because one semantically irrelevant edge can make the whole bridge less convincing.</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e447f218eb_7_60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3e447f218eb_7_60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Minimax : often a better fit for bridge retrieval, because one semantically irrelevant edge can make the whole bridge less convincing.</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e43c2d433e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3e43c2d433e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2) et limiter la sparsité de recherche</a:t>
            </a:r>
            <a:endParaRPr/>
          </a:p>
          <a:p>
            <a:pPr indent="0" lvl="0" marL="0" rtl="0" algn="l">
              <a:spcBef>
                <a:spcPts val="0"/>
              </a:spcBef>
              <a:spcAft>
                <a:spcPts val="0"/>
              </a:spcAft>
              <a:buNone/>
            </a:pPr>
            <a:r>
              <a:rPr lang="en-GB"/>
              <a:t>### Case A: The best bridge is not the shortest good path</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Sometimes the best bridge is not:</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 the shortest route</a:t>
            </a:r>
            <a:endParaRPr/>
          </a:p>
          <a:p>
            <a:pPr indent="0" lvl="0" marL="0" rtl="0" algn="l">
              <a:spcBef>
                <a:spcPts val="0"/>
              </a:spcBef>
              <a:spcAft>
                <a:spcPts val="0"/>
              </a:spcAft>
              <a:buNone/>
            </a:pPr>
            <a:r>
              <a:rPr lang="en-GB"/>
              <a:t>- the lowest-sum-cost route</a:t>
            </a:r>
            <a:endParaRPr/>
          </a:p>
          <a:p>
            <a:pPr indent="0" lvl="0" marL="0" rtl="0" algn="l">
              <a:spcBef>
                <a:spcPts val="0"/>
              </a:spcBef>
              <a:spcAft>
                <a:spcPts val="0"/>
              </a:spcAft>
              <a:buNone/>
            </a:pPr>
            <a:r>
              <a:rPr lang="en-GB"/>
              <a:t>- the lowest-worst-edge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It may instead be the route that:</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 reaches the right topic region</a:t>
            </a:r>
            <a:endParaRPr/>
          </a:p>
          <a:p>
            <a:pPr indent="0" lvl="0" marL="0" rtl="0" algn="l">
              <a:spcBef>
                <a:spcPts val="0"/>
              </a:spcBef>
              <a:spcAft>
                <a:spcPts val="0"/>
              </a:spcAft>
              <a:buNone/>
            </a:pPr>
            <a:r>
              <a:rPr lang="en-GB"/>
              <a:t>- collects complementary evidence</a:t>
            </a:r>
            <a:endParaRPr/>
          </a:p>
          <a:p>
            <a:pPr indent="0" lvl="0" marL="0" rtl="0" algn="l">
              <a:spcBef>
                <a:spcPts val="0"/>
              </a:spcBef>
              <a:spcAft>
                <a:spcPts val="0"/>
              </a:spcAft>
              <a:buNone/>
            </a:pPr>
            <a:r>
              <a:rPr lang="en-GB"/>
              <a:t>- avoids spending too much budget on redundant edges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MCTS can prefer that because reward can be path-level, not just edge-level.</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3e43c2d433e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3e43c2d433e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 Case A: The best bridge is not the shortest good path</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Sometimes the best bridge is not:</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 the shortest route</a:t>
            </a:r>
            <a:endParaRPr/>
          </a:p>
          <a:p>
            <a:pPr indent="0" lvl="0" marL="0" rtl="0" algn="l">
              <a:spcBef>
                <a:spcPts val="0"/>
              </a:spcBef>
              <a:spcAft>
                <a:spcPts val="0"/>
              </a:spcAft>
              <a:buNone/>
            </a:pPr>
            <a:r>
              <a:rPr lang="en-GB"/>
              <a:t>- the lowest-sum-cost route</a:t>
            </a:r>
            <a:endParaRPr/>
          </a:p>
          <a:p>
            <a:pPr indent="0" lvl="0" marL="0" rtl="0" algn="l">
              <a:spcBef>
                <a:spcPts val="0"/>
              </a:spcBef>
              <a:spcAft>
                <a:spcPts val="0"/>
              </a:spcAft>
              <a:buNone/>
            </a:pPr>
            <a:r>
              <a:rPr lang="en-GB"/>
              <a:t>- the lowest-worst-edge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It may instead be the route that:</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 reaches the right topic region</a:t>
            </a:r>
            <a:endParaRPr/>
          </a:p>
          <a:p>
            <a:pPr indent="0" lvl="0" marL="0" rtl="0" algn="l">
              <a:spcBef>
                <a:spcPts val="0"/>
              </a:spcBef>
              <a:spcAft>
                <a:spcPts val="0"/>
              </a:spcAft>
              <a:buNone/>
            </a:pPr>
            <a:r>
              <a:rPr lang="en-GB"/>
              <a:t>- collects complementary evidence</a:t>
            </a:r>
            <a:endParaRPr/>
          </a:p>
          <a:p>
            <a:pPr indent="0" lvl="0" marL="0" rtl="0" algn="l">
              <a:spcBef>
                <a:spcPts val="0"/>
              </a:spcBef>
              <a:spcAft>
                <a:spcPts val="0"/>
              </a:spcAft>
              <a:buNone/>
            </a:pPr>
            <a:r>
              <a:rPr lang="en-GB"/>
              <a:t>- avoids spending too much budget on redundant edges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MCTS can prefer that because reward can be path-level, not just edge-level.</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3e43c2d433e_1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3e43c2d433e_1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Inverse distance frequency : to bound </a:t>
            </a:r>
            <a:r>
              <a:rPr lang="en-GB"/>
              <a:t>distance (since can grow indefinitely)</a:t>
            </a:r>
            <a:r>
              <a:rPr lang="en-GB"/>
              <a:t> </a:t>
            </a:r>
            <a:br>
              <a:rPr lang="en-GB"/>
            </a:br>
            <a:r>
              <a:rPr lang="en-GB"/>
              <a:t>### Case A: The best bridge is not the shortest good path</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Sometimes the best bridge is not:</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 the shortest route</a:t>
            </a:r>
            <a:endParaRPr/>
          </a:p>
          <a:p>
            <a:pPr indent="0" lvl="0" marL="0" rtl="0" algn="l">
              <a:spcBef>
                <a:spcPts val="0"/>
              </a:spcBef>
              <a:spcAft>
                <a:spcPts val="0"/>
              </a:spcAft>
              <a:buNone/>
            </a:pPr>
            <a:r>
              <a:rPr lang="en-GB"/>
              <a:t>- the lowest-sum-cost route</a:t>
            </a:r>
            <a:endParaRPr/>
          </a:p>
          <a:p>
            <a:pPr indent="0" lvl="0" marL="0" rtl="0" algn="l">
              <a:spcBef>
                <a:spcPts val="0"/>
              </a:spcBef>
              <a:spcAft>
                <a:spcPts val="0"/>
              </a:spcAft>
              <a:buNone/>
            </a:pPr>
            <a:r>
              <a:rPr lang="en-GB"/>
              <a:t>- the lowest-worst-edge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It may instead be the route that:</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 reaches the right topic region</a:t>
            </a:r>
            <a:endParaRPr/>
          </a:p>
          <a:p>
            <a:pPr indent="0" lvl="0" marL="0" rtl="0" algn="l">
              <a:spcBef>
                <a:spcPts val="0"/>
              </a:spcBef>
              <a:spcAft>
                <a:spcPts val="0"/>
              </a:spcAft>
              <a:buNone/>
            </a:pPr>
            <a:r>
              <a:rPr lang="en-GB"/>
              <a:t>- collects complementary evidence</a:t>
            </a:r>
            <a:endParaRPr/>
          </a:p>
          <a:p>
            <a:pPr indent="0" lvl="0" marL="0" rtl="0" algn="l">
              <a:spcBef>
                <a:spcPts val="0"/>
              </a:spcBef>
              <a:spcAft>
                <a:spcPts val="0"/>
              </a:spcAft>
              <a:buNone/>
            </a:pPr>
            <a:r>
              <a:rPr lang="en-GB"/>
              <a:t>- avoids spending too much budget on redundant edges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MCTS can prefer that because reward can be path-level, not just edge-level.</a:t>
            </a:r>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3e43c2d433e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3e43c2d433e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Neighbors are sorted ascending by this score, then by:</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GB"/>
              <a:t>- neighbor degree</a:t>
            </a:r>
            <a:endParaRPr/>
          </a:p>
          <a:p>
            <a:pPr indent="0" lvl="0" marL="0" rtl="0" algn="l">
              <a:spcBef>
                <a:spcPts val="0"/>
              </a:spcBef>
              <a:spcAft>
                <a:spcPts val="0"/>
              </a:spcAft>
              <a:buClr>
                <a:schemeClr val="dk1"/>
              </a:buClr>
              <a:buSzPts val="1100"/>
              <a:buFont typeface="Arial"/>
              <a:buNone/>
            </a:pPr>
            <a:r>
              <a:rPr lang="en-GB"/>
              <a:t>- edge cost</a:t>
            </a:r>
            <a:endParaRPr/>
          </a:p>
          <a:p>
            <a:pPr indent="0" lvl="0" marL="0" rtl="0" algn="l">
              <a:spcBef>
                <a:spcPts val="0"/>
              </a:spcBef>
              <a:spcAft>
                <a:spcPts val="0"/>
              </a:spcAft>
              <a:buClr>
                <a:schemeClr val="dk1"/>
              </a:buClr>
              <a:buSzPts val="1100"/>
              <a:buFont typeface="Arial"/>
              <a:buNone/>
            </a:pPr>
            <a:r>
              <a:rPr lang="en-GB"/>
              <a:t>- node id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GB"/>
              <a:t>So earlier expansion favors: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GB"/>
              <a:t>- higher edge utility</a:t>
            </a:r>
            <a:endParaRPr/>
          </a:p>
          <a:p>
            <a:pPr indent="0" lvl="0" marL="0" rtl="0" algn="l">
              <a:spcBef>
                <a:spcPts val="0"/>
              </a:spcBef>
              <a:spcAft>
                <a:spcPts val="0"/>
              </a:spcAft>
              <a:buClr>
                <a:schemeClr val="dk1"/>
              </a:buClr>
              <a:buSzPts val="1100"/>
              <a:buFont typeface="Arial"/>
              <a:buNone/>
            </a:pPr>
            <a:r>
              <a:rPr lang="en-GB"/>
              <a:t>- closer-to-target nodes</a:t>
            </a:r>
            <a:endParaRPr/>
          </a:p>
          <a:p>
            <a:pPr indent="0" lvl="0" marL="0" rtl="0" algn="l">
              <a:spcBef>
                <a:spcPts val="0"/>
              </a:spcBef>
              <a:spcAft>
                <a:spcPts val="0"/>
              </a:spcAft>
              <a:buClr>
                <a:schemeClr val="dk1"/>
              </a:buClr>
              <a:buSzPts val="1100"/>
              <a:buFont typeface="Arial"/>
              <a:buNone/>
            </a:pPr>
            <a:r>
              <a:rPr lang="en-GB"/>
              <a:t>- fewer revisits</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3e43e7a150e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4" name="Google Shape;544;g3e43e7a150e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Reward evaluation : Score the rollout path using edge utility, target hit bonus, path-length penalty, and token-budget penalty.</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GB"/>
              <a:t>- neighbor degree</a:t>
            </a:r>
            <a:endParaRPr/>
          </a:p>
          <a:p>
            <a:pPr indent="0" lvl="0" marL="0" rtl="0" algn="l">
              <a:spcBef>
                <a:spcPts val="0"/>
              </a:spcBef>
              <a:spcAft>
                <a:spcPts val="0"/>
              </a:spcAft>
              <a:buClr>
                <a:schemeClr val="dk1"/>
              </a:buClr>
              <a:buSzPts val="1100"/>
              <a:buFont typeface="Arial"/>
              <a:buNone/>
            </a:pPr>
            <a:r>
              <a:rPr lang="en-GB"/>
              <a:t>- edge cost</a:t>
            </a:r>
            <a:endParaRPr/>
          </a:p>
          <a:p>
            <a:pPr indent="0" lvl="0" marL="0" rtl="0" algn="l">
              <a:spcBef>
                <a:spcPts val="0"/>
              </a:spcBef>
              <a:spcAft>
                <a:spcPts val="0"/>
              </a:spcAft>
              <a:buClr>
                <a:schemeClr val="dk1"/>
              </a:buClr>
              <a:buSzPts val="1100"/>
              <a:buFont typeface="Arial"/>
              <a:buNone/>
            </a:pPr>
            <a:r>
              <a:rPr lang="en-GB"/>
              <a:t>- node id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GB"/>
              <a:t>So earlier expansion favors: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GB"/>
              <a:t>- higher edge utility</a:t>
            </a:r>
            <a:endParaRPr/>
          </a:p>
          <a:p>
            <a:pPr indent="0" lvl="0" marL="0" rtl="0" algn="l">
              <a:spcBef>
                <a:spcPts val="0"/>
              </a:spcBef>
              <a:spcAft>
                <a:spcPts val="0"/>
              </a:spcAft>
              <a:buClr>
                <a:schemeClr val="dk1"/>
              </a:buClr>
              <a:buSzPts val="1100"/>
              <a:buFont typeface="Arial"/>
              <a:buNone/>
            </a:pPr>
            <a:r>
              <a:rPr lang="en-GB"/>
              <a:t>- closer-to-target nodes</a:t>
            </a:r>
            <a:endParaRPr/>
          </a:p>
          <a:p>
            <a:pPr indent="0" lvl="0" marL="0" rtl="0" algn="l">
              <a:spcBef>
                <a:spcPts val="0"/>
              </a:spcBef>
              <a:spcAft>
                <a:spcPts val="0"/>
              </a:spcAft>
              <a:buClr>
                <a:schemeClr val="dk1"/>
              </a:buClr>
              <a:buSzPts val="1100"/>
              <a:buFont typeface="Arial"/>
              <a:buNone/>
            </a:pPr>
            <a:r>
              <a:rPr lang="en-GB"/>
              <a:t>- fewer revisits</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e447f218eb_7_46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3e447f218eb_7_46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g3e447f218eb_7_20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2" name="Google Shape;612;g3e447f218eb_7_20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3e447f218eb_7_27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8" name="Google Shape;708;g3e447f218eb_7_27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g3e443f0fe6a_1_1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3" name="Google Shape;803;g3e443f0fe6a_1_1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 Expliquer gain en orale</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g3e447f218eb_7_75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6" name="Google Shape;846;g3e447f218eb_7_75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g3e443f0fe6a_1_15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3" name="Google Shape;883;g3e443f0fe6a_1_15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6" name="Shape 916"/>
        <p:cNvGrpSpPr/>
        <p:nvPr/>
      </p:nvGrpSpPr>
      <p:grpSpPr>
        <a:xfrm>
          <a:off x="0" y="0"/>
          <a:ext cx="0" cy="0"/>
          <a:chOff x="0" y="0"/>
          <a:chExt cx="0" cy="0"/>
        </a:xfrm>
      </p:grpSpPr>
      <p:sp>
        <p:nvSpPr>
          <p:cNvPr id="917" name="Google Shape;917;g3e443f0fe6a_1_17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8" name="Google Shape;918;g3e443f0fe6a_1_17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 name="Shape 921"/>
        <p:cNvGrpSpPr/>
        <p:nvPr/>
      </p:nvGrpSpPr>
      <p:grpSpPr>
        <a:xfrm>
          <a:off x="0" y="0"/>
          <a:ext cx="0" cy="0"/>
          <a:chOff x="0" y="0"/>
          <a:chExt cx="0" cy="0"/>
        </a:xfrm>
      </p:grpSpPr>
      <p:sp>
        <p:nvSpPr>
          <p:cNvPr id="922" name="Google Shape;922;g3e443f0fe6a_1_17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3" name="Google Shape;923;g3e443f0fe6a_1_17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g3e447f218eb_7_79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8" name="Google Shape;928;g3e447f218eb_7_79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5" name="Shape 945"/>
        <p:cNvGrpSpPr/>
        <p:nvPr/>
      </p:nvGrpSpPr>
      <p:grpSpPr>
        <a:xfrm>
          <a:off x="0" y="0"/>
          <a:ext cx="0" cy="0"/>
          <a:chOff x="0" y="0"/>
          <a:chExt cx="0" cy="0"/>
        </a:xfrm>
      </p:grpSpPr>
      <p:sp>
        <p:nvSpPr>
          <p:cNvPr id="946" name="Google Shape;946;g3e444ded2a5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7" name="Google Shape;947;g3e444ded2a5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Quote: “We studied HiRAG, improved its graph traversal, and discovered that retrieval quality is not only about finding better graph paths. The final context must preserve enough direct source evidence, otherwise naive chunk retrieval can win.</a:t>
            </a:r>
            <a:r>
              <a:rPr lang="en-GB"/>
              <a:t>”</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g3e447f218eb_51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8" name="Google Shape;958;g3e447f218eb_51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Quote: “We studied HiRAG, improved its graph traversal, and discovered that retrieval quality is not only about finding better graph paths. The final context must preserve enough direct source evidence, otherwise naive chunk retrieval can win.”</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pic>
        <p:nvPicPr>
          <p:cNvPr descr="shutterstock_429987889_edited.jpg" id="10" name="Google Shape;10;p2"/>
          <p:cNvPicPr preferRelativeResize="0"/>
          <p:nvPr/>
        </p:nvPicPr>
        <p:blipFill rotWithShape="1">
          <a:blip r:embed="rId2">
            <a:alphaModFix/>
          </a:blip>
          <a:srcRect b="23591" l="0" r="0" t="21800"/>
          <a:stretch/>
        </p:blipFill>
        <p:spPr>
          <a:xfrm>
            <a:off x="0" y="487825"/>
            <a:ext cx="9144000" cy="4655676"/>
          </a:xfrm>
          <a:prstGeom prst="rect">
            <a:avLst/>
          </a:prstGeom>
          <a:noFill/>
          <a:ln>
            <a:noFill/>
          </a:ln>
        </p:spPr>
      </p:pic>
      <p:sp>
        <p:nvSpPr>
          <p:cNvPr id="11" name="Google Shape;11;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 name="Google Shape;12;p2"/>
          <p:cNvGrpSpPr/>
          <p:nvPr/>
        </p:nvGrpSpPr>
        <p:grpSpPr>
          <a:xfrm>
            <a:off x="830392" y="1191256"/>
            <a:ext cx="745763" cy="45826"/>
            <a:chOff x="4580561" y="2589004"/>
            <a:chExt cx="1064464" cy="25200"/>
          </a:xfrm>
        </p:grpSpPr>
        <p:sp>
          <p:nvSpPr>
            <p:cNvPr id="13" name="Google Shape;13;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 name="Google Shape;15;p2"/>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4200"/>
              <a:buNone/>
              <a:defRPr sz="4200">
                <a:solidFill>
                  <a:schemeClr val="dk2"/>
                </a:solidFill>
              </a:defRPr>
            </a:lvl1pPr>
            <a:lvl2pPr lvl="1">
              <a:spcBef>
                <a:spcPts val="0"/>
              </a:spcBef>
              <a:spcAft>
                <a:spcPts val="0"/>
              </a:spcAft>
              <a:buClr>
                <a:schemeClr val="dk2"/>
              </a:buClr>
              <a:buSzPts val="4200"/>
              <a:buNone/>
              <a:defRPr sz="4200">
                <a:solidFill>
                  <a:schemeClr val="dk2"/>
                </a:solidFill>
              </a:defRPr>
            </a:lvl2pPr>
            <a:lvl3pPr lvl="2">
              <a:spcBef>
                <a:spcPts val="0"/>
              </a:spcBef>
              <a:spcAft>
                <a:spcPts val="0"/>
              </a:spcAft>
              <a:buClr>
                <a:schemeClr val="dk2"/>
              </a:buClr>
              <a:buSzPts val="4200"/>
              <a:buNone/>
              <a:defRPr sz="4200">
                <a:solidFill>
                  <a:schemeClr val="dk2"/>
                </a:solidFill>
              </a:defRPr>
            </a:lvl3pPr>
            <a:lvl4pPr lvl="3">
              <a:spcBef>
                <a:spcPts val="0"/>
              </a:spcBef>
              <a:spcAft>
                <a:spcPts val="0"/>
              </a:spcAft>
              <a:buClr>
                <a:schemeClr val="dk2"/>
              </a:buClr>
              <a:buSzPts val="4200"/>
              <a:buNone/>
              <a:defRPr sz="4200">
                <a:solidFill>
                  <a:schemeClr val="dk2"/>
                </a:solidFill>
              </a:defRPr>
            </a:lvl4pPr>
            <a:lvl5pPr lvl="4">
              <a:spcBef>
                <a:spcPts val="0"/>
              </a:spcBef>
              <a:spcAft>
                <a:spcPts val="0"/>
              </a:spcAft>
              <a:buClr>
                <a:schemeClr val="dk2"/>
              </a:buClr>
              <a:buSzPts val="4200"/>
              <a:buNone/>
              <a:defRPr sz="4200">
                <a:solidFill>
                  <a:schemeClr val="dk2"/>
                </a:solidFill>
              </a:defRPr>
            </a:lvl5pPr>
            <a:lvl6pPr lvl="5">
              <a:spcBef>
                <a:spcPts val="0"/>
              </a:spcBef>
              <a:spcAft>
                <a:spcPts val="0"/>
              </a:spcAft>
              <a:buClr>
                <a:schemeClr val="dk2"/>
              </a:buClr>
              <a:buSzPts val="4200"/>
              <a:buNone/>
              <a:defRPr sz="4200">
                <a:solidFill>
                  <a:schemeClr val="dk2"/>
                </a:solidFill>
              </a:defRPr>
            </a:lvl6pPr>
            <a:lvl7pPr lvl="6">
              <a:spcBef>
                <a:spcPts val="0"/>
              </a:spcBef>
              <a:spcAft>
                <a:spcPts val="0"/>
              </a:spcAft>
              <a:buClr>
                <a:schemeClr val="dk2"/>
              </a:buClr>
              <a:buSzPts val="4200"/>
              <a:buNone/>
              <a:defRPr sz="4200">
                <a:solidFill>
                  <a:schemeClr val="dk2"/>
                </a:solidFill>
              </a:defRPr>
            </a:lvl7pPr>
            <a:lvl8pPr lvl="7">
              <a:spcBef>
                <a:spcPts val="0"/>
              </a:spcBef>
              <a:spcAft>
                <a:spcPts val="0"/>
              </a:spcAft>
              <a:buClr>
                <a:schemeClr val="dk2"/>
              </a:buClr>
              <a:buSzPts val="4200"/>
              <a:buNone/>
              <a:defRPr sz="4200">
                <a:solidFill>
                  <a:schemeClr val="dk2"/>
                </a:solidFill>
              </a:defRPr>
            </a:lvl8pPr>
            <a:lvl9pPr lvl="8">
              <a:spcBef>
                <a:spcPts val="0"/>
              </a:spcBef>
              <a:spcAft>
                <a:spcPts val="0"/>
              </a:spcAft>
              <a:buClr>
                <a:schemeClr val="dk2"/>
              </a:buClr>
              <a:buSzPts val="4200"/>
              <a:buNone/>
              <a:defRPr sz="4200">
                <a:solidFill>
                  <a:schemeClr val="dk2"/>
                </a:solidFill>
              </a:defRPr>
            </a:lvl9pPr>
          </a:lstStyle>
          <a:p/>
        </p:txBody>
      </p:sp>
      <p:sp>
        <p:nvSpPr>
          <p:cNvPr id="16" name="Google Shape;16;p2"/>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7" name="Google Shape;17;p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18" name="Google Shape;18;p2"/>
          <p:cNvSpPr txBox="1"/>
          <p:nvPr/>
        </p:nvSpPr>
        <p:spPr>
          <a:xfrm>
            <a:off x="226550" y="78500"/>
            <a:ext cx="998100" cy="321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600">
                <a:latin typeface="Raleway"/>
                <a:ea typeface="Raleway"/>
                <a:cs typeface="Raleway"/>
                <a:sym typeface="Raleway"/>
              </a:rPr>
              <a:t>Confidential</a:t>
            </a:r>
            <a:endParaRPr b="1" sz="600">
              <a:latin typeface="Raleway"/>
              <a:ea typeface="Raleway"/>
              <a:cs typeface="Raleway"/>
              <a:sym typeface="Raleway"/>
            </a:endParaRPr>
          </a:p>
        </p:txBody>
      </p:sp>
      <p:sp>
        <p:nvSpPr>
          <p:cNvPr id="19" name="Google Shape;19;p2"/>
          <p:cNvSpPr txBox="1"/>
          <p:nvPr/>
        </p:nvSpPr>
        <p:spPr>
          <a:xfrm>
            <a:off x="1296767" y="78500"/>
            <a:ext cx="2100600" cy="321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600">
                <a:latin typeface="Raleway"/>
                <a:ea typeface="Raleway"/>
                <a:cs typeface="Raleway"/>
                <a:sym typeface="Raleway"/>
              </a:rPr>
              <a:t>Customized for </a:t>
            </a:r>
            <a:r>
              <a:rPr b="1" lang="en-GB" sz="600">
                <a:latin typeface="Raleway"/>
                <a:ea typeface="Raleway"/>
                <a:cs typeface="Raleway"/>
                <a:sym typeface="Raleway"/>
              </a:rPr>
              <a:t>Lorem Ipsum LLC</a:t>
            </a:r>
            <a:endParaRPr sz="600">
              <a:latin typeface="Raleway"/>
              <a:ea typeface="Raleway"/>
              <a:cs typeface="Raleway"/>
              <a:sym typeface="Raleway"/>
            </a:endParaRPr>
          </a:p>
        </p:txBody>
      </p:sp>
      <p:sp>
        <p:nvSpPr>
          <p:cNvPr id="20" name="Google Shape;20;p2"/>
          <p:cNvSpPr txBox="1"/>
          <p:nvPr/>
        </p:nvSpPr>
        <p:spPr>
          <a:xfrm>
            <a:off x="8213935" y="78500"/>
            <a:ext cx="705900" cy="3219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GB" sz="600">
                <a:latin typeface="Raleway"/>
                <a:ea typeface="Raleway"/>
                <a:cs typeface="Raleway"/>
                <a:sym typeface="Raleway"/>
              </a:rPr>
              <a:t>Version 1.0</a:t>
            </a:r>
            <a:endParaRPr b="1" sz="600">
              <a:latin typeface="Raleway"/>
              <a:ea typeface="Raleway"/>
              <a:cs typeface="Raleway"/>
              <a:sym typeface="Raleway"/>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_alt1">
  <p:cSld name="TITLE_1">
    <p:bg>
      <p:bgPr>
        <a:solidFill>
          <a:schemeClr val="lt2"/>
        </a:solidFill>
      </p:bgPr>
    </p:bg>
    <p:spTree>
      <p:nvGrpSpPr>
        <p:cNvPr id="21" name="Shape 21"/>
        <p:cNvGrpSpPr/>
        <p:nvPr/>
      </p:nvGrpSpPr>
      <p:grpSpPr>
        <a:xfrm>
          <a:off x="0" y="0"/>
          <a:ext cx="0" cy="0"/>
          <a:chOff x="0" y="0"/>
          <a:chExt cx="0" cy="0"/>
        </a:xfrm>
      </p:grpSpPr>
      <p:pic>
        <p:nvPicPr>
          <p:cNvPr descr="shutterstock_429987889_edited.jpg" id="22" name="Google Shape;22;p3"/>
          <p:cNvPicPr preferRelativeResize="0"/>
          <p:nvPr/>
        </p:nvPicPr>
        <p:blipFill rotWithShape="1">
          <a:blip r:embed="rId2">
            <a:alphaModFix/>
          </a:blip>
          <a:srcRect b="23591" l="0" r="0" t="21800"/>
          <a:stretch/>
        </p:blipFill>
        <p:spPr>
          <a:xfrm>
            <a:off x="0" y="487825"/>
            <a:ext cx="9144000" cy="4655676"/>
          </a:xfrm>
          <a:prstGeom prst="rect">
            <a:avLst/>
          </a:prstGeom>
          <a:noFill/>
          <a:ln>
            <a:noFill/>
          </a:ln>
        </p:spPr>
      </p:pic>
      <p:sp>
        <p:nvSpPr>
          <p:cNvPr id="23" name="Google Shape;23;p3"/>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 name="Google Shape;24;p3"/>
          <p:cNvGrpSpPr/>
          <p:nvPr/>
        </p:nvGrpSpPr>
        <p:grpSpPr>
          <a:xfrm>
            <a:off x="830392" y="1191256"/>
            <a:ext cx="745763" cy="45826"/>
            <a:chOff x="4580561" y="2589004"/>
            <a:chExt cx="1064464" cy="25200"/>
          </a:xfrm>
        </p:grpSpPr>
        <p:sp>
          <p:nvSpPr>
            <p:cNvPr id="25" name="Google Shape;25;p3"/>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 name="Google Shape;27;p3"/>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4200"/>
              <a:buNone/>
              <a:defRPr sz="4200">
                <a:solidFill>
                  <a:schemeClr val="dk2"/>
                </a:solidFill>
              </a:defRPr>
            </a:lvl1pPr>
            <a:lvl2pPr lvl="1">
              <a:spcBef>
                <a:spcPts val="0"/>
              </a:spcBef>
              <a:spcAft>
                <a:spcPts val="0"/>
              </a:spcAft>
              <a:buClr>
                <a:schemeClr val="dk2"/>
              </a:buClr>
              <a:buSzPts val="4200"/>
              <a:buNone/>
              <a:defRPr sz="4200">
                <a:solidFill>
                  <a:schemeClr val="dk2"/>
                </a:solidFill>
              </a:defRPr>
            </a:lvl2pPr>
            <a:lvl3pPr lvl="2">
              <a:spcBef>
                <a:spcPts val="0"/>
              </a:spcBef>
              <a:spcAft>
                <a:spcPts val="0"/>
              </a:spcAft>
              <a:buClr>
                <a:schemeClr val="dk2"/>
              </a:buClr>
              <a:buSzPts val="4200"/>
              <a:buNone/>
              <a:defRPr sz="4200">
                <a:solidFill>
                  <a:schemeClr val="dk2"/>
                </a:solidFill>
              </a:defRPr>
            </a:lvl3pPr>
            <a:lvl4pPr lvl="3">
              <a:spcBef>
                <a:spcPts val="0"/>
              </a:spcBef>
              <a:spcAft>
                <a:spcPts val="0"/>
              </a:spcAft>
              <a:buClr>
                <a:schemeClr val="dk2"/>
              </a:buClr>
              <a:buSzPts val="4200"/>
              <a:buNone/>
              <a:defRPr sz="4200">
                <a:solidFill>
                  <a:schemeClr val="dk2"/>
                </a:solidFill>
              </a:defRPr>
            </a:lvl4pPr>
            <a:lvl5pPr lvl="4">
              <a:spcBef>
                <a:spcPts val="0"/>
              </a:spcBef>
              <a:spcAft>
                <a:spcPts val="0"/>
              </a:spcAft>
              <a:buClr>
                <a:schemeClr val="dk2"/>
              </a:buClr>
              <a:buSzPts val="4200"/>
              <a:buNone/>
              <a:defRPr sz="4200">
                <a:solidFill>
                  <a:schemeClr val="dk2"/>
                </a:solidFill>
              </a:defRPr>
            </a:lvl5pPr>
            <a:lvl6pPr lvl="5">
              <a:spcBef>
                <a:spcPts val="0"/>
              </a:spcBef>
              <a:spcAft>
                <a:spcPts val="0"/>
              </a:spcAft>
              <a:buClr>
                <a:schemeClr val="dk2"/>
              </a:buClr>
              <a:buSzPts val="4200"/>
              <a:buNone/>
              <a:defRPr sz="4200">
                <a:solidFill>
                  <a:schemeClr val="dk2"/>
                </a:solidFill>
              </a:defRPr>
            </a:lvl6pPr>
            <a:lvl7pPr lvl="6">
              <a:spcBef>
                <a:spcPts val="0"/>
              </a:spcBef>
              <a:spcAft>
                <a:spcPts val="0"/>
              </a:spcAft>
              <a:buClr>
                <a:schemeClr val="dk2"/>
              </a:buClr>
              <a:buSzPts val="4200"/>
              <a:buNone/>
              <a:defRPr sz="4200">
                <a:solidFill>
                  <a:schemeClr val="dk2"/>
                </a:solidFill>
              </a:defRPr>
            </a:lvl7pPr>
            <a:lvl8pPr lvl="7">
              <a:spcBef>
                <a:spcPts val="0"/>
              </a:spcBef>
              <a:spcAft>
                <a:spcPts val="0"/>
              </a:spcAft>
              <a:buClr>
                <a:schemeClr val="dk2"/>
              </a:buClr>
              <a:buSzPts val="4200"/>
              <a:buNone/>
              <a:defRPr sz="4200">
                <a:solidFill>
                  <a:schemeClr val="dk2"/>
                </a:solidFill>
              </a:defRPr>
            </a:lvl8pPr>
            <a:lvl9pPr lvl="8">
              <a:spcBef>
                <a:spcPts val="0"/>
              </a:spcBef>
              <a:spcAft>
                <a:spcPts val="0"/>
              </a:spcAft>
              <a:buClr>
                <a:schemeClr val="dk2"/>
              </a:buClr>
              <a:buSzPts val="4200"/>
              <a:buNone/>
              <a:defRPr sz="4200">
                <a:solidFill>
                  <a:schemeClr val="dk2"/>
                </a:solidFill>
              </a:defRPr>
            </a:lvl9pPr>
          </a:lstStyle>
          <a:p/>
        </p:txBody>
      </p:sp>
      <p:sp>
        <p:nvSpPr>
          <p:cNvPr id="28" name="Google Shape;28;p3"/>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29" name="Google Shape;29;p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30" name="Google Shape;30;p3">
            <a:hlinkClick/>
          </p:cNvPr>
          <p:cNvSpPr/>
          <p:nvPr/>
        </p:nvSpPr>
        <p:spPr>
          <a:xfrm>
            <a:off x="8280450" y="0"/>
            <a:ext cx="863400" cy="454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1" name="Google Shape;31;p3">
            <a:hlinkClick/>
          </p:cNvPr>
          <p:cNvCxnSpPr/>
          <p:nvPr/>
        </p:nvCxnSpPr>
        <p:spPr>
          <a:xfrm>
            <a:off x="8598817" y="216350"/>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32" name="Google Shape;32;p3">
            <a:hlinkClick/>
          </p:cNvPr>
          <p:cNvCxnSpPr/>
          <p:nvPr/>
        </p:nvCxnSpPr>
        <p:spPr>
          <a:xfrm>
            <a:off x="8598817" y="250138"/>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33" name="Google Shape;33;p3">
            <a:hlinkClick/>
          </p:cNvPr>
          <p:cNvCxnSpPr/>
          <p:nvPr/>
        </p:nvCxnSpPr>
        <p:spPr>
          <a:xfrm>
            <a:off x="8598817" y="283925"/>
            <a:ext cx="216300" cy="0"/>
          </a:xfrm>
          <a:prstGeom prst="straightConnector1">
            <a:avLst/>
          </a:prstGeom>
          <a:noFill/>
          <a:ln cap="flat" cmpd="sng" w="9525">
            <a:solidFill>
              <a:srgbClr val="B7B7B7"/>
            </a:solidFill>
            <a:prstDash val="solid"/>
            <a:round/>
            <a:headEnd len="med" w="med" type="none"/>
            <a:tailEnd len="med" w="med"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34" name="Shape 34"/>
        <p:cNvGrpSpPr/>
        <p:nvPr/>
      </p:nvGrpSpPr>
      <p:grpSpPr>
        <a:xfrm>
          <a:off x="0" y="0"/>
          <a:ext cx="0" cy="0"/>
          <a:chOff x="0" y="0"/>
          <a:chExt cx="0" cy="0"/>
        </a:xfrm>
      </p:grpSpPr>
      <p:grpSp>
        <p:nvGrpSpPr>
          <p:cNvPr id="35" name="Google Shape;35;p4"/>
          <p:cNvGrpSpPr/>
          <p:nvPr/>
        </p:nvGrpSpPr>
        <p:grpSpPr>
          <a:xfrm>
            <a:off x="830392" y="1191256"/>
            <a:ext cx="745763" cy="45826"/>
            <a:chOff x="4580561" y="2589004"/>
            <a:chExt cx="1064464" cy="25200"/>
          </a:xfrm>
        </p:grpSpPr>
        <p:sp>
          <p:nvSpPr>
            <p:cNvPr id="36" name="Google Shape;36;p4"/>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4"/>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 name="Google Shape;38;p4"/>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39" name="Google Shape;39;p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
        <p:nvSpPr>
          <p:cNvPr id="40" name="Google Shape;40;p4">
            <a:hlinkClick/>
          </p:cNvPr>
          <p:cNvSpPr/>
          <p:nvPr/>
        </p:nvSpPr>
        <p:spPr>
          <a:xfrm>
            <a:off x="8280450" y="0"/>
            <a:ext cx="863400" cy="454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4">
            <a:hlinkClick/>
          </p:cNvPr>
          <p:cNvCxnSpPr/>
          <p:nvPr/>
        </p:nvCxnSpPr>
        <p:spPr>
          <a:xfrm>
            <a:off x="8598817" y="216350"/>
            <a:ext cx="216300" cy="0"/>
          </a:xfrm>
          <a:prstGeom prst="straightConnector1">
            <a:avLst/>
          </a:prstGeom>
          <a:noFill/>
          <a:ln cap="flat" cmpd="sng" w="9525">
            <a:solidFill>
              <a:schemeClr val="lt2"/>
            </a:solidFill>
            <a:prstDash val="solid"/>
            <a:round/>
            <a:headEnd len="med" w="med" type="none"/>
            <a:tailEnd len="med" w="med" type="none"/>
          </a:ln>
        </p:spPr>
      </p:cxnSp>
      <p:cxnSp>
        <p:nvCxnSpPr>
          <p:cNvPr id="42" name="Google Shape;42;p4">
            <a:hlinkClick/>
          </p:cNvPr>
          <p:cNvCxnSpPr/>
          <p:nvPr/>
        </p:nvCxnSpPr>
        <p:spPr>
          <a:xfrm>
            <a:off x="8598817" y="250138"/>
            <a:ext cx="216300" cy="0"/>
          </a:xfrm>
          <a:prstGeom prst="straightConnector1">
            <a:avLst/>
          </a:prstGeom>
          <a:noFill/>
          <a:ln cap="flat" cmpd="sng" w="9525">
            <a:solidFill>
              <a:schemeClr val="lt2"/>
            </a:solidFill>
            <a:prstDash val="solid"/>
            <a:round/>
            <a:headEnd len="med" w="med" type="none"/>
            <a:tailEnd len="med" w="med" type="none"/>
          </a:ln>
        </p:spPr>
      </p:cxnSp>
      <p:cxnSp>
        <p:nvCxnSpPr>
          <p:cNvPr id="43" name="Google Shape;43;p4">
            <a:hlinkClick/>
          </p:cNvPr>
          <p:cNvCxnSpPr/>
          <p:nvPr/>
        </p:nvCxnSpPr>
        <p:spPr>
          <a:xfrm>
            <a:off x="8598817" y="283925"/>
            <a:ext cx="216300" cy="0"/>
          </a:xfrm>
          <a:prstGeom prst="straightConnector1">
            <a:avLst/>
          </a:prstGeom>
          <a:noFill/>
          <a:ln cap="flat" cmpd="sng" w="9525">
            <a:solidFill>
              <a:schemeClr val="lt2"/>
            </a:solidFill>
            <a:prstDash val="solid"/>
            <a:round/>
            <a:headEnd len="med" w="med" type="none"/>
            <a:tailEnd len="med" w="med"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4" name="Shape 44"/>
        <p:cNvGrpSpPr/>
        <p:nvPr/>
      </p:nvGrpSpPr>
      <p:grpSpPr>
        <a:xfrm>
          <a:off x="0" y="0"/>
          <a:ext cx="0" cy="0"/>
          <a:chOff x="0" y="0"/>
          <a:chExt cx="0" cy="0"/>
        </a:xfrm>
      </p:grpSpPr>
      <p:sp>
        <p:nvSpPr>
          <p:cNvPr id="45" name="Google Shape;45;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 name="Google Shape;46;p5"/>
          <p:cNvGrpSpPr/>
          <p:nvPr/>
        </p:nvGrpSpPr>
        <p:grpSpPr>
          <a:xfrm>
            <a:off x="830392" y="1191256"/>
            <a:ext cx="745763" cy="45826"/>
            <a:chOff x="4580561" y="2589004"/>
            <a:chExt cx="1064464" cy="25200"/>
          </a:xfrm>
        </p:grpSpPr>
        <p:sp>
          <p:nvSpPr>
            <p:cNvPr id="47" name="Google Shape;47;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 name="Google Shape;49;p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50" name="Google Shape;50;p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1" name="Google Shape;51;p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52" name="Google Shape;52;p5">
            <a:hlinkClick/>
          </p:cNvPr>
          <p:cNvSpPr/>
          <p:nvPr/>
        </p:nvSpPr>
        <p:spPr>
          <a:xfrm>
            <a:off x="8280450" y="0"/>
            <a:ext cx="863400" cy="454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3" name="Google Shape;53;p5">
            <a:hlinkClick/>
          </p:cNvPr>
          <p:cNvCxnSpPr/>
          <p:nvPr/>
        </p:nvCxnSpPr>
        <p:spPr>
          <a:xfrm>
            <a:off x="8598817" y="216350"/>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54" name="Google Shape;54;p5">
            <a:hlinkClick/>
          </p:cNvPr>
          <p:cNvCxnSpPr/>
          <p:nvPr/>
        </p:nvCxnSpPr>
        <p:spPr>
          <a:xfrm>
            <a:off x="8598817" y="250138"/>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55" name="Google Shape;55;p5">
            <a:hlinkClick/>
          </p:cNvPr>
          <p:cNvCxnSpPr/>
          <p:nvPr/>
        </p:nvCxnSpPr>
        <p:spPr>
          <a:xfrm>
            <a:off x="8598817" y="283925"/>
            <a:ext cx="216300" cy="0"/>
          </a:xfrm>
          <a:prstGeom prst="straightConnector1">
            <a:avLst/>
          </a:prstGeom>
          <a:noFill/>
          <a:ln cap="flat" cmpd="sng" w="9525">
            <a:solidFill>
              <a:srgbClr val="B7B7B7"/>
            </a:solidFill>
            <a:prstDash val="solid"/>
            <a:round/>
            <a:headEnd len="med" w="med" type="none"/>
            <a:tailEnd len="med" w="med"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dy only">
  <p:cSld name="TITLE_AND_BODY_1">
    <p:spTree>
      <p:nvGrpSpPr>
        <p:cNvPr id="56" name="Shape 56"/>
        <p:cNvGrpSpPr/>
        <p:nvPr/>
      </p:nvGrpSpPr>
      <p:grpSpPr>
        <a:xfrm>
          <a:off x="0" y="0"/>
          <a:ext cx="0" cy="0"/>
          <a:chOff x="0" y="0"/>
          <a:chExt cx="0" cy="0"/>
        </a:xfrm>
      </p:grpSpPr>
      <p:sp>
        <p:nvSpPr>
          <p:cNvPr id="57" name="Google Shape;57;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59" name="Google Shape;59;p6">
            <a:hlinkClick/>
          </p:cNvPr>
          <p:cNvSpPr/>
          <p:nvPr/>
        </p:nvSpPr>
        <p:spPr>
          <a:xfrm>
            <a:off x="8280450" y="0"/>
            <a:ext cx="863400" cy="454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0" name="Google Shape;60;p6">
            <a:hlinkClick/>
          </p:cNvPr>
          <p:cNvCxnSpPr/>
          <p:nvPr/>
        </p:nvCxnSpPr>
        <p:spPr>
          <a:xfrm>
            <a:off x="8598817" y="216350"/>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61" name="Google Shape;61;p6">
            <a:hlinkClick/>
          </p:cNvPr>
          <p:cNvCxnSpPr/>
          <p:nvPr/>
        </p:nvCxnSpPr>
        <p:spPr>
          <a:xfrm>
            <a:off x="8598817" y="250138"/>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62" name="Google Shape;62;p6">
            <a:hlinkClick/>
          </p:cNvPr>
          <p:cNvCxnSpPr/>
          <p:nvPr/>
        </p:nvCxnSpPr>
        <p:spPr>
          <a:xfrm>
            <a:off x="8598817" y="283925"/>
            <a:ext cx="216300" cy="0"/>
          </a:xfrm>
          <a:prstGeom prst="straightConnector1">
            <a:avLst/>
          </a:prstGeom>
          <a:noFill/>
          <a:ln cap="flat" cmpd="sng" w="9525">
            <a:solidFill>
              <a:srgbClr val="B7B7B7"/>
            </a:solidFill>
            <a:prstDash val="solid"/>
            <a:round/>
            <a:headEnd len="med" w="med" type="none"/>
            <a:tailEnd len="med" w="med" type="none"/>
          </a:ln>
        </p:spPr>
      </p:cxnSp>
      <p:sp>
        <p:nvSpPr>
          <p:cNvPr id="63" name="Google Shape;63;p6"/>
          <p:cNvSpPr txBox="1"/>
          <p:nvPr>
            <p:ph idx="1" type="body"/>
          </p:nvPr>
        </p:nvSpPr>
        <p:spPr>
          <a:xfrm>
            <a:off x="729450" y="1068650"/>
            <a:ext cx="7688700" cy="10344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_alt2">
  <p:cSld name="TITLE_AND_BODY_1_1">
    <p:spTree>
      <p:nvGrpSpPr>
        <p:cNvPr id="64" name="Shape 64"/>
        <p:cNvGrpSpPr/>
        <p:nvPr/>
      </p:nvGrpSpPr>
      <p:grpSpPr>
        <a:xfrm>
          <a:off x="0" y="0"/>
          <a:ext cx="0" cy="0"/>
          <a:chOff x="0" y="0"/>
          <a:chExt cx="0" cy="0"/>
        </a:xfrm>
      </p:grpSpPr>
      <p:pic>
        <p:nvPicPr>
          <p:cNvPr descr="shutterstock_31891705.jpg" id="65" name="Google Shape;65;p7"/>
          <p:cNvPicPr preferRelativeResize="0"/>
          <p:nvPr/>
        </p:nvPicPr>
        <p:blipFill rotWithShape="1">
          <a:blip r:embed="rId2">
            <a:alphaModFix/>
          </a:blip>
          <a:srcRect b="11971" l="0" r="0" t="11971"/>
          <a:stretch/>
        </p:blipFill>
        <p:spPr>
          <a:xfrm>
            <a:off x="0" y="487825"/>
            <a:ext cx="9143999" cy="4655673"/>
          </a:xfrm>
          <a:prstGeom prst="rect">
            <a:avLst/>
          </a:prstGeom>
          <a:noFill/>
          <a:ln>
            <a:noFill/>
          </a:ln>
        </p:spPr>
      </p:pic>
      <p:sp>
        <p:nvSpPr>
          <p:cNvPr id="66" name="Google Shape;66;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7"/>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rgbClr val="FFFFFF"/>
                </a:solidFill>
              </a:defRPr>
            </a:lvl1pPr>
            <a:lvl2pPr lvl="1">
              <a:buNone/>
              <a:defRPr>
                <a:solidFill>
                  <a:srgbClr val="FFFFFF"/>
                </a:solidFill>
              </a:defRPr>
            </a:lvl2pPr>
            <a:lvl3pPr lvl="2">
              <a:buNone/>
              <a:defRPr>
                <a:solidFill>
                  <a:srgbClr val="FFFFFF"/>
                </a:solidFill>
              </a:defRPr>
            </a:lvl3pPr>
            <a:lvl4pPr lvl="3">
              <a:buNone/>
              <a:defRPr>
                <a:solidFill>
                  <a:srgbClr val="FFFFFF"/>
                </a:solidFill>
              </a:defRPr>
            </a:lvl4pPr>
            <a:lvl5pPr lvl="4">
              <a:buNone/>
              <a:defRPr>
                <a:solidFill>
                  <a:srgbClr val="FFFFFF"/>
                </a:solidFill>
              </a:defRPr>
            </a:lvl5pPr>
            <a:lvl6pPr lvl="5">
              <a:buNone/>
              <a:defRPr>
                <a:solidFill>
                  <a:srgbClr val="FFFFFF"/>
                </a:solidFill>
              </a:defRPr>
            </a:lvl6pPr>
            <a:lvl7pPr lvl="6">
              <a:buNone/>
              <a:defRPr>
                <a:solidFill>
                  <a:srgbClr val="FFFFFF"/>
                </a:solidFill>
              </a:defRPr>
            </a:lvl7pPr>
            <a:lvl8pPr lvl="7">
              <a:buNone/>
              <a:defRPr>
                <a:solidFill>
                  <a:srgbClr val="FFFFFF"/>
                </a:solidFill>
              </a:defRPr>
            </a:lvl8pPr>
            <a:lvl9pPr lvl="8">
              <a:buNone/>
              <a:defRPr>
                <a:solidFill>
                  <a:srgbClr val="FFFFFF"/>
                </a:solidFill>
              </a:defRPr>
            </a:lvl9pPr>
          </a:lstStyle>
          <a:p>
            <a:pPr indent="0" lvl="0" marL="0" rtl="0" algn="r">
              <a:spcBef>
                <a:spcPts val="0"/>
              </a:spcBef>
              <a:spcAft>
                <a:spcPts val="0"/>
              </a:spcAft>
              <a:buNone/>
            </a:pPr>
            <a:fld id="{00000000-1234-1234-1234-123412341234}" type="slidenum">
              <a:rPr lang="en-GB"/>
              <a:t>‹#›</a:t>
            </a:fld>
            <a:endParaRPr/>
          </a:p>
        </p:txBody>
      </p:sp>
      <p:sp>
        <p:nvSpPr>
          <p:cNvPr id="68" name="Google Shape;68;p7">
            <a:hlinkClick/>
          </p:cNvPr>
          <p:cNvSpPr/>
          <p:nvPr/>
        </p:nvSpPr>
        <p:spPr>
          <a:xfrm>
            <a:off x="8280450" y="0"/>
            <a:ext cx="863400" cy="454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9" name="Google Shape;69;p7">
            <a:hlinkClick/>
          </p:cNvPr>
          <p:cNvCxnSpPr/>
          <p:nvPr/>
        </p:nvCxnSpPr>
        <p:spPr>
          <a:xfrm>
            <a:off x="8598817" y="216350"/>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70" name="Google Shape;70;p7">
            <a:hlinkClick/>
          </p:cNvPr>
          <p:cNvCxnSpPr/>
          <p:nvPr/>
        </p:nvCxnSpPr>
        <p:spPr>
          <a:xfrm>
            <a:off x="8598817" y="250138"/>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71" name="Google Shape;71;p7">
            <a:hlinkClick/>
          </p:cNvPr>
          <p:cNvCxnSpPr/>
          <p:nvPr/>
        </p:nvCxnSpPr>
        <p:spPr>
          <a:xfrm>
            <a:off x="8598817" y="283925"/>
            <a:ext cx="216300" cy="0"/>
          </a:xfrm>
          <a:prstGeom prst="straightConnector1">
            <a:avLst/>
          </a:prstGeom>
          <a:noFill/>
          <a:ln cap="flat" cmpd="sng" w="9525">
            <a:solidFill>
              <a:srgbClr val="B7B7B7"/>
            </a:solidFill>
            <a:prstDash val="solid"/>
            <a:round/>
            <a:headEnd len="med" w="med" type="none"/>
            <a:tailEnd len="med" w="med" type="none"/>
          </a:ln>
        </p:spPr>
      </p:cxnSp>
      <p:sp>
        <p:nvSpPr>
          <p:cNvPr id="72" name="Google Shape;72;p7"/>
          <p:cNvSpPr txBox="1"/>
          <p:nvPr>
            <p:ph type="title"/>
          </p:nvPr>
        </p:nvSpPr>
        <p:spPr>
          <a:xfrm>
            <a:off x="729450" y="2056375"/>
            <a:ext cx="5887500" cy="1518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3" name="Shape 73"/>
        <p:cNvGrpSpPr/>
        <p:nvPr/>
      </p:nvGrpSpPr>
      <p:grpSpPr>
        <a:xfrm>
          <a:off x="0" y="0"/>
          <a:ext cx="0" cy="0"/>
          <a:chOff x="0" y="0"/>
          <a:chExt cx="0" cy="0"/>
        </a:xfrm>
      </p:grpSpPr>
      <p:sp>
        <p:nvSpPr>
          <p:cNvPr id="74" name="Google Shape;74;p8"/>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5" name="Google Shape;75;p8"/>
          <p:cNvGrpSpPr/>
          <p:nvPr/>
        </p:nvGrpSpPr>
        <p:grpSpPr>
          <a:xfrm>
            <a:off x="830392" y="1191256"/>
            <a:ext cx="745763" cy="45826"/>
            <a:chOff x="4580561" y="2589004"/>
            <a:chExt cx="1064464" cy="25200"/>
          </a:xfrm>
        </p:grpSpPr>
        <p:sp>
          <p:nvSpPr>
            <p:cNvPr id="76" name="Google Shape;76;p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8" name="Google Shape;78;p8"/>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79" name="Google Shape;79;p8"/>
          <p:cNvSpPr txBox="1"/>
          <p:nvPr>
            <p:ph idx="1" type="body"/>
          </p:nvPr>
        </p:nvSpPr>
        <p:spPr>
          <a:xfrm>
            <a:off x="729325"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80" name="Google Shape;80;p8"/>
          <p:cNvSpPr txBox="1"/>
          <p:nvPr>
            <p:ph idx="2" type="body"/>
          </p:nvPr>
        </p:nvSpPr>
        <p:spPr>
          <a:xfrm>
            <a:off x="4643604"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81" name="Google Shape;81;p8"/>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82" name="Google Shape;82;p8">
            <a:hlinkClick/>
          </p:cNvPr>
          <p:cNvSpPr/>
          <p:nvPr/>
        </p:nvSpPr>
        <p:spPr>
          <a:xfrm>
            <a:off x="8280450" y="0"/>
            <a:ext cx="863400" cy="454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3" name="Google Shape;83;p8">
            <a:hlinkClick/>
          </p:cNvPr>
          <p:cNvCxnSpPr/>
          <p:nvPr/>
        </p:nvCxnSpPr>
        <p:spPr>
          <a:xfrm>
            <a:off x="8598817" y="216350"/>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84" name="Google Shape;84;p8">
            <a:hlinkClick/>
          </p:cNvPr>
          <p:cNvCxnSpPr/>
          <p:nvPr/>
        </p:nvCxnSpPr>
        <p:spPr>
          <a:xfrm>
            <a:off x="8598817" y="250138"/>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85" name="Google Shape;85;p8">
            <a:hlinkClick/>
          </p:cNvPr>
          <p:cNvCxnSpPr/>
          <p:nvPr/>
        </p:nvCxnSpPr>
        <p:spPr>
          <a:xfrm>
            <a:off x="8598817" y="283925"/>
            <a:ext cx="216300" cy="0"/>
          </a:xfrm>
          <a:prstGeom prst="straightConnector1">
            <a:avLst/>
          </a:prstGeom>
          <a:noFill/>
          <a:ln cap="flat" cmpd="sng" w="9525">
            <a:solidFill>
              <a:srgbClr val="B7B7B7"/>
            </a:solidFill>
            <a:prstDash val="solid"/>
            <a:round/>
            <a:headEnd len="med" w="med" type="none"/>
            <a:tailEnd len="med" w="med"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6" name="Shape 86"/>
        <p:cNvGrpSpPr/>
        <p:nvPr/>
      </p:nvGrpSpPr>
      <p:grpSpPr>
        <a:xfrm>
          <a:off x="0" y="0"/>
          <a:ext cx="0" cy="0"/>
          <a:chOff x="0" y="0"/>
          <a:chExt cx="0" cy="0"/>
        </a:xfrm>
      </p:grpSpPr>
      <p:sp>
        <p:nvSpPr>
          <p:cNvPr id="87" name="Google Shape;87;p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 name="Google Shape;88;p9"/>
          <p:cNvGrpSpPr/>
          <p:nvPr/>
        </p:nvGrpSpPr>
        <p:grpSpPr>
          <a:xfrm>
            <a:off x="830392" y="1191256"/>
            <a:ext cx="745763" cy="45826"/>
            <a:chOff x="4580561" y="2589004"/>
            <a:chExt cx="1064464" cy="25200"/>
          </a:xfrm>
        </p:grpSpPr>
        <p:sp>
          <p:nvSpPr>
            <p:cNvPr id="89" name="Google Shape;89;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 name="Google Shape;91;p9"/>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92" name="Google Shape;92;p9"/>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93" name="Google Shape;93;p9">
            <a:hlinkClick/>
          </p:cNvPr>
          <p:cNvSpPr/>
          <p:nvPr/>
        </p:nvSpPr>
        <p:spPr>
          <a:xfrm>
            <a:off x="8280450" y="0"/>
            <a:ext cx="863400" cy="454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4" name="Google Shape;94;p9">
            <a:hlinkClick/>
          </p:cNvPr>
          <p:cNvCxnSpPr/>
          <p:nvPr/>
        </p:nvCxnSpPr>
        <p:spPr>
          <a:xfrm>
            <a:off x="8598817" y="216350"/>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95" name="Google Shape;95;p9">
            <a:hlinkClick/>
          </p:cNvPr>
          <p:cNvCxnSpPr/>
          <p:nvPr/>
        </p:nvCxnSpPr>
        <p:spPr>
          <a:xfrm>
            <a:off x="8598817" y="250138"/>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96" name="Google Shape;96;p9">
            <a:hlinkClick/>
          </p:cNvPr>
          <p:cNvCxnSpPr/>
          <p:nvPr/>
        </p:nvCxnSpPr>
        <p:spPr>
          <a:xfrm>
            <a:off x="8598817" y="283925"/>
            <a:ext cx="216300" cy="0"/>
          </a:xfrm>
          <a:prstGeom prst="straightConnector1">
            <a:avLst/>
          </a:prstGeom>
          <a:noFill/>
          <a:ln cap="flat" cmpd="sng" w="9525">
            <a:solidFill>
              <a:srgbClr val="B7B7B7"/>
            </a:solidFill>
            <a:prstDash val="solid"/>
            <a:round/>
            <a:headEnd len="med" w="med" type="none"/>
            <a:tailEnd len="med" w="med"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97" name="Shape 97"/>
        <p:cNvGrpSpPr/>
        <p:nvPr/>
      </p:nvGrpSpPr>
      <p:grpSpPr>
        <a:xfrm>
          <a:off x="0" y="0"/>
          <a:ext cx="0" cy="0"/>
          <a:chOff x="0" y="0"/>
          <a:chExt cx="0" cy="0"/>
        </a:xfrm>
      </p:grpSpPr>
      <p:sp>
        <p:nvSpPr>
          <p:cNvPr id="98" name="Google Shape;98;p10"/>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9" name="Google Shape;99;p10"/>
          <p:cNvGrpSpPr/>
          <p:nvPr/>
        </p:nvGrpSpPr>
        <p:grpSpPr>
          <a:xfrm>
            <a:off x="830392" y="1191256"/>
            <a:ext cx="745763" cy="45826"/>
            <a:chOff x="4580561" y="2589004"/>
            <a:chExt cx="1064464" cy="25200"/>
          </a:xfrm>
        </p:grpSpPr>
        <p:sp>
          <p:nvSpPr>
            <p:cNvPr id="100" name="Google Shape;100;p10"/>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0"/>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2" name="Google Shape;102;p10"/>
          <p:cNvSpPr txBox="1"/>
          <p:nvPr>
            <p:ph type="title"/>
          </p:nvPr>
        </p:nvSpPr>
        <p:spPr>
          <a:xfrm>
            <a:off x="730000" y="1318650"/>
            <a:ext cx="3300900" cy="1381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103" name="Google Shape;103;p10"/>
          <p:cNvSpPr txBox="1"/>
          <p:nvPr>
            <p:ph idx="1" type="body"/>
          </p:nvPr>
        </p:nvSpPr>
        <p:spPr>
          <a:xfrm>
            <a:off x="721225" y="2781725"/>
            <a:ext cx="3300900" cy="1597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04" name="Google Shape;104;p10"/>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105" name="Google Shape;105;p10">
            <a:hlinkClick/>
          </p:cNvPr>
          <p:cNvSpPr/>
          <p:nvPr/>
        </p:nvSpPr>
        <p:spPr>
          <a:xfrm>
            <a:off x="8280450" y="0"/>
            <a:ext cx="863400" cy="454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6" name="Google Shape;106;p10">
            <a:hlinkClick/>
          </p:cNvPr>
          <p:cNvCxnSpPr/>
          <p:nvPr/>
        </p:nvCxnSpPr>
        <p:spPr>
          <a:xfrm>
            <a:off x="8598817" y="216350"/>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107" name="Google Shape;107;p10">
            <a:hlinkClick/>
          </p:cNvPr>
          <p:cNvCxnSpPr/>
          <p:nvPr/>
        </p:nvCxnSpPr>
        <p:spPr>
          <a:xfrm>
            <a:off x="8598817" y="250138"/>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108" name="Google Shape;108;p10">
            <a:hlinkClick/>
          </p:cNvPr>
          <p:cNvCxnSpPr/>
          <p:nvPr/>
        </p:nvCxnSpPr>
        <p:spPr>
          <a:xfrm>
            <a:off x="8598817" y="283925"/>
            <a:ext cx="216300" cy="0"/>
          </a:xfrm>
          <a:prstGeom prst="straightConnector1">
            <a:avLst/>
          </a:prstGeom>
          <a:noFill/>
          <a:ln cap="flat" cmpd="sng" w="9525">
            <a:solidFill>
              <a:srgbClr val="B7B7B7"/>
            </a:solidFill>
            <a:prstDash val="solid"/>
            <a:round/>
            <a:headEnd len="med" w="med" type="none"/>
            <a:tailEnd len="med" w="med"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109" name="Shape 109"/>
        <p:cNvGrpSpPr/>
        <p:nvPr/>
      </p:nvGrpSpPr>
      <p:grpSpPr>
        <a:xfrm>
          <a:off x="0" y="0"/>
          <a:ext cx="0" cy="0"/>
          <a:chOff x="0" y="0"/>
          <a:chExt cx="0" cy="0"/>
        </a:xfrm>
      </p:grpSpPr>
      <p:grpSp>
        <p:nvGrpSpPr>
          <p:cNvPr id="110" name="Google Shape;110;p11"/>
          <p:cNvGrpSpPr/>
          <p:nvPr/>
        </p:nvGrpSpPr>
        <p:grpSpPr>
          <a:xfrm>
            <a:off x="830392" y="4169130"/>
            <a:ext cx="745763" cy="45826"/>
            <a:chOff x="4580561" y="2589004"/>
            <a:chExt cx="1064464" cy="25200"/>
          </a:xfrm>
        </p:grpSpPr>
        <p:sp>
          <p:nvSpPr>
            <p:cNvPr id="111" name="Google Shape;111;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 name="Google Shape;113;p11"/>
          <p:cNvSpPr txBox="1"/>
          <p:nvPr>
            <p:ph type="title"/>
          </p:nvPr>
        </p:nvSpPr>
        <p:spPr>
          <a:xfrm>
            <a:off x="729450" y="864300"/>
            <a:ext cx="7021200" cy="2985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14" name="Google Shape;114;p11"/>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
        <p:nvSpPr>
          <p:cNvPr id="115" name="Google Shape;115;p11">
            <a:hlinkClick/>
          </p:cNvPr>
          <p:cNvSpPr/>
          <p:nvPr/>
        </p:nvSpPr>
        <p:spPr>
          <a:xfrm>
            <a:off x="8280450" y="0"/>
            <a:ext cx="863400" cy="454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6" name="Google Shape;116;p11">
            <a:hlinkClick/>
          </p:cNvPr>
          <p:cNvCxnSpPr/>
          <p:nvPr/>
        </p:nvCxnSpPr>
        <p:spPr>
          <a:xfrm>
            <a:off x="8598817" y="216350"/>
            <a:ext cx="216300" cy="0"/>
          </a:xfrm>
          <a:prstGeom prst="straightConnector1">
            <a:avLst/>
          </a:prstGeom>
          <a:noFill/>
          <a:ln cap="flat" cmpd="sng" w="9525">
            <a:solidFill>
              <a:schemeClr val="lt2"/>
            </a:solidFill>
            <a:prstDash val="solid"/>
            <a:round/>
            <a:headEnd len="med" w="med" type="none"/>
            <a:tailEnd len="med" w="med" type="none"/>
          </a:ln>
        </p:spPr>
      </p:cxnSp>
      <p:cxnSp>
        <p:nvCxnSpPr>
          <p:cNvPr id="117" name="Google Shape;117;p11">
            <a:hlinkClick/>
          </p:cNvPr>
          <p:cNvCxnSpPr/>
          <p:nvPr/>
        </p:nvCxnSpPr>
        <p:spPr>
          <a:xfrm>
            <a:off x="8598817" y="250138"/>
            <a:ext cx="216300" cy="0"/>
          </a:xfrm>
          <a:prstGeom prst="straightConnector1">
            <a:avLst/>
          </a:prstGeom>
          <a:noFill/>
          <a:ln cap="flat" cmpd="sng" w="9525">
            <a:solidFill>
              <a:schemeClr val="lt2"/>
            </a:solidFill>
            <a:prstDash val="solid"/>
            <a:round/>
            <a:headEnd len="med" w="med" type="none"/>
            <a:tailEnd len="med" w="med" type="none"/>
          </a:ln>
        </p:spPr>
      </p:cxnSp>
      <p:cxnSp>
        <p:nvCxnSpPr>
          <p:cNvPr id="118" name="Google Shape;118;p11">
            <a:hlinkClick/>
          </p:cNvPr>
          <p:cNvCxnSpPr/>
          <p:nvPr/>
        </p:nvCxnSpPr>
        <p:spPr>
          <a:xfrm>
            <a:off x="8598817" y="283925"/>
            <a:ext cx="216300" cy="0"/>
          </a:xfrm>
          <a:prstGeom prst="straightConnector1">
            <a:avLst/>
          </a:prstGeom>
          <a:noFill/>
          <a:ln cap="flat" cmpd="sng" w="9525">
            <a:solidFill>
              <a:schemeClr val="lt2"/>
            </a:solidFill>
            <a:prstDash val="solid"/>
            <a:round/>
            <a:headEnd len="med" w="med" type="none"/>
            <a:tailEnd len="med" w="med"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9" name="Shape 119"/>
        <p:cNvGrpSpPr/>
        <p:nvPr/>
      </p:nvGrpSpPr>
      <p:grpSpPr>
        <a:xfrm>
          <a:off x="0" y="0"/>
          <a:ext cx="0" cy="0"/>
          <a:chOff x="0" y="0"/>
          <a:chExt cx="0" cy="0"/>
        </a:xfrm>
      </p:grpSpPr>
      <p:sp>
        <p:nvSpPr>
          <p:cNvPr id="120" name="Google Shape;120;p12"/>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1" name="Google Shape;121;p12"/>
          <p:cNvGrpSpPr/>
          <p:nvPr/>
        </p:nvGrpSpPr>
        <p:grpSpPr>
          <a:xfrm>
            <a:off x="830392" y="1191256"/>
            <a:ext cx="745763" cy="45826"/>
            <a:chOff x="4580561" y="2589004"/>
            <a:chExt cx="1064464" cy="25200"/>
          </a:xfrm>
        </p:grpSpPr>
        <p:sp>
          <p:nvSpPr>
            <p:cNvPr id="122" name="Google Shape;122;p1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4" name="Google Shape;124;p12"/>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125" name="Google Shape;125;p12"/>
          <p:cNvSpPr txBox="1"/>
          <p:nvPr>
            <p:ph idx="1" type="subTitle"/>
          </p:nvPr>
        </p:nvSpPr>
        <p:spPr>
          <a:xfrm>
            <a:off x="724950" y="3161525"/>
            <a:ext cx="3300900" cy="759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26" name="Google Shape;126;p12"/>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27" name="Google Shape;127;p1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128" name="Google Shape;128;p12">
            <a:hlinkClick/>
          </p:cNvPr>
          <p:cNvSpPr/>
          <p:nvPr/>
        </p:nvSpPr>
        <p:spPr>
          <a:xfrm>
            <a:off x="8280450" y="0"/>
            <a:ext cx="863400" cy="454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9" name="Google Shape;129;p12">
            <a:hlinkClick/>
          </p:cNvPr>
          <p:cNvCxnSpPr/>
          <p:nvPr/>
        </p:nvCxnSpPr>
        <p:spPr>
          <a:xfrm>
            <a:off x="8598817" y="216350"/>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130" name="Google Shape;130;p12">
            <a:hlinkClick/>
          </p:cNvPr>
          <p:cNvCxnSpPr/>
          <p:nvPr/>
        </p:nvCxnSpPr>
        <p:spPr>
          <a:xfrm>
            <a:off x="8598817" y="250138"/>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131" name="Google Shape;131;p12">
            <a:hlinkClick/>
          </p:cNvPr>
          <p:cNvCxnSpPr/>
          <p:nvPr/>
        </p:nvCxnSpPr>
        <p:spPr>
          <a:xfrm>
            <a:off x="8598817" y="283925"/>
            <a:ext cx="216300" cy="0"/>
          </a:xfrm>
          <a:prstGeom prst="straightConnector1">
            <a:avLst/>
          </a:prstGeom>
          <a:noFill/>
          <a:ln cap="flat" cmpd="sng" w="9525">
            <a:solidFill>
              <a:srgbClr val="B7B7B7"/>
            </a:solidFill>
            <a:prstDash val="solid"/>
            <a:round/>
            <a:headEnd len="med" w="med" type="none"/>
            <a:tailEnd len="med" w="med" type="none"/>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2" name="Shape 132"/>
        <p:cNvGrpSpPr/>
        <p:nvPr/>
      </p:nvGrpSpPr>
      <p:grpSpPr>
        <a:xfrm>
          <a:off x="0" y="0"/>
          <a:ext cx="0" cy="0"/>
          <a:chOff x="0" y="0"/>
          <a:chExt cx="0" cy="0"/>
        </a:xfrm>
      </p:grpSpPr>
      <p:sp>
        <p:nvSpPr>
          <p:cNvPr id="133" name="Google Shape;133;p13"/>
          <p:cNvSpPr txBox="1"/>
          <p:nvPr>
            <p:ph idx="1" type="body"/>
          </p:nvPr>
        </p:nvSpPr>
        <p:spPr>
          <a:xfrm>
            <a:off x="724950" y="4372551"/>
            <a:ext cx="7697400" cy="4605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300"/>
              <a:buNone/>
              <a:defRPr/>
            </a:lvl1pPr>
          </a:lstStyle>
          <a:p/>
        </p:txBody>
      </p:sp>
      <p:sp>
        <p:nvSpPr>
          <p:cNvPr id="134" name="Google Shape;134;p1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135" name="Google Shape;135;p13">
            <a:hlinkClick/>
          </p:cNvPr>
          <p:cNvSpPr/>
          <p:nvPr/>
        </p:nvSpPr>
        <p:spPr>
          <a:xfrm>
            <a:off x="8280450" y="0"/>
            <a:ext cx="863400" cy="454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6" name="Google Shape;136;p13">
            <a:hlinkClick/>
          </p:cNvPr>
          <p:cNvCxnSpPr/>
          <p:nvPr/>
        </p:nvCxnSpPr>
        <p:spPr>
          <a:xfrm>
            <a:off x="8598817" y="216350"/>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137" name="Google Shape;137;p13">
            <a:hlinkClick/>
          </p:cNvPr>
          <p:cNvCxnSpPr/>
          <p:nvPr/>
        </p:nvCxnSpPr>
        <p:spPr>
          <a:xfrm>
            <a:off x="8598817" y="250138"/>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138" name="Google Shape;138;p13">
            <a:hlinkClick/>
          </p:cNvPr>
          <p:cNvCxnSpPr/>
          <p:nvPr/>
        </p:nvCxnSpPr>
        <p:spPr>
          <a:xfrm>
            <a:off x="8598817" y="283925"/>
            <a:ext cx="216300" cy="0"/>
          </a:xfrm>
          <a:prstGeom prst="straightConnector1">
            <a:avLst/>
          </a:prstGeom>
          <a:noFill/>
          <a:ln cap="flat" cmpd="sng" w="9525">
            <a:solidFill>
              <a:srgbClr val="B7B7B7"/>
            </a:solidFill>
            <a:prstDash val="solid"/>
            <a:round/>
            <a:headEnd len="med" w="med" type="none"/>
            <a:tailEnd len="med" w="med"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139" name="Shape 139"/>
        <p:cNvGrpSpPr/>
        <p:nvPr/>
      </p:nvGrpSpPr>
      <p:grpSpPr>
        <a:xfrm>
          <a:off x="0" y="0"/>
          <a:ext cx="0" cy="0"/>
          <a:chOff x="0" y="0"/>
          <a:chExt cx="0" cy="0"/>
        </a:xfrm>
      </p:grpSpPr>
      <p:grpSp>
        <p:nvGrpSpPr>
          <p:cNvPr id="140" name="Google Shape;140;p14"/>
          <p:cNvGrpSpPr/>
          <p:nvPr/>
        </p:nvGrpSpPr>
        <p:grpSpPr>
          <a:xfrm>
            <a:off x="830392" y="4169130"/>
            <a:ext cx="745763" cy="45826"/>
            <a:chOff x="4580561" y="2589004"/>
            <a:chExt cx="1064464" cy="25200"/>
          </a:xfrm>
        </p:grpSpPr>
        <p:sp>
          <p:nvSpPr>
            <p:cNvPr id="141" name="Google Shape;141;p14"/>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4"/>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3" name="Google Shape;143;p14"/>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144" name="Google Shape;144;p14"/>
          <p:cNvSpPr txBox="1"/>
          <p:nvPr>
            <p:ph idx="1" type="body"/>
          </p:nvPr>
        </p:nvSpPr>
        <p:spPr>
          <a:xfrm>
            <a:off x="729450" y="2272888"/>
            <a:ext cx="7688400" cy="15804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1600"/>
              </a:spcBef>
              <a:spcAft>
                <a:spcPts val="0"/>
              </a:spcAft>
              <a:buClr>
                <a:schemeClr val="lt1"/>
              </a:buClr>
              <a:buSzPts val="1100"/>
              <a:buChar char="○"/>
              <a:defRPr>
                <a:solidFill>
                  <a:schemeClr val="lt1"/>
                </a:solidFill>
              </a:defRPr>
            </a:lvl2pPr>
            <a:lvl3pPr indent="-298450" lvl="2" marL="1371600">
              <a:spcBef>
                <a:spcPts val="1600"/>
              </a:spcBef>
              <a:spcAft>
                <a:spcPts val="0"/>
              </a:spcAft>
              <a:buClr>
                <a:schemeClr val="lt1"/>
              </a:buClr>
              <a:buSzPts val="1100"/>
              <a:buChar char="■"/>
              <a:defRPr>
                <a:solidFill>
                  <a:schemeClr val="lt1"/>
                </a:solidFill>
              </a:defRPr>
            </a:lvl3pPr>
            <a:lvl4pPr indent="-298450" lvl="3" marL="1828800">
              <a:spcBef>
                <a:spcPts val="1600"/>
              </a:spcBef>
              <a:spcAft>
                <a:spcPts val="0"/>
              </a:spcAft>
              <a:buClr>
                <a:schemeClr val="lt1"/>
              </a:buClr>
              <a:buSzPts val="1100"/>
              <a:buChar char="●"/>
              <a:defRPr>
                <a:solidFill>
                  <a:schemeClr val="lt1"/>
                </a:solidFill>
              </a:defRPr>
            </a:lvl4pPr>
            <a:lvl5pPr indent="-298450" lvl="4" marL="2286000">
              <a:spcBef>
                <a:spcPts val="1600"/>
              </a:spcBef>
              <a:spcAft>
                <a:spcPts val="0"/>
              </a:spcAft>
              <a:buClr>
                <a:schemeClr val="lt1"/>
              </a:buClr>
              <a:buSzPts val="1100"/>
              <a:buChar char="○"/>
              <a:defRPr>
                <a:solidFill>
                  <a:schemeClr val="lt1"/>
                </a:solidFill>
              </a:defRPr>
            </a:lvl5pPr>
            <a:lvl6pPr indent="-298450" lvl="5" marL="2743200">
              <a:spcBef>
                <a:spcPts val="1600"/>
              </a:spcBef>
              <a:spcAft>
                <a:spcPts val="0"/>
              </a:spcAft>
              <a:buClr>
                <a:schemeClr val="lt1"/>
              </a:buClr>
              <a:buSzPts val="1100"/>
              <a:buChar char="■"/>
              <a:defRPr>
                <a:solidFill>
                  <a:schemeClr val="lt1"/>
                </a:solidFill>
              </a:defRPr>
            </a:lvl6pPr>
            <a:lvl7pPr indent="-298450" lvl="6" marL="3200400">
              <a:spcBef>
                <a:spcPts val="1600"/>
              </a:spcBef>
              <a:spcAft>
                <a:spcPts val="0"/>
              </a:spcAft>
              <a:buClr>
                <a:schemeClr val="lt1"/>
              </a:buClr>
              <a:buSzPts val="1100"/>
              <a:buChar char="●"/>
              <a:defRPr>
                <a:solidFill>
                  <a:schemeClr val="lt1"/>
                </a:solidFill>
              </a:defRPr>
            </a:lvl7pPr>
            <a:lvl8pPr indent="-298450" lvl="7" marL="3657600">
              <a:spcBef>
                <a:spcPts val="1600"/>
              </a:spcBef>
              <a:spcAft>
                <a:spcPts val="0"/>
              </a:spcAft>
              <a:buClr>
                <a:schemeClr val="lt1"/>
              </a:buClr>
              <a:buSzPts val="1100"/>
              <a:buChar char="○"/>
              <a:defRPr>
                <a:solidFill>
                  <a:schemeClr val="lt1"/>
                </a:solidFill>
              </a:defRPr>
            </a:lvl8pPr>
            <a:lvl9pPr indent="-298450" lvl="8" marL="4114800">
              <a:spcBef>
                <a:spcPts val="1600"/>
              </a:spcBef>
              <a:spcAft>
                <a:spcPts val="1600"/>
              </a:spcAft>
              <a:buClr>
                <a:schemeClr val="lt1"/>
              </a:buClr>
              <a:buSzPts val="1100"/>
              <a:buChar char="■"/>
              <a:defRPr>
                <a:solidFill>
                  <a:schemeClr val="lt1"/>
                </a:solidFill>
              </a:defRPr>
            </a:lvl9pPr>
          </a:lstStyle>
          <a:p/>
        </p:txBody>
      </p:sp>
      <p:sp>
        <p:nvSpPr>
          <p:cNvPr id="145" name="Google Shape;145;p1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
        <p:nvSpPr>
          <p:cNvPr id="146" name="Google Shape;146;p14">
            <a:hlinkClick/>
          </p:cNvPr>
          <p:cNvSpPr/>
          <p:nvPr/>
        </p:nvSpPr>
        <p:spPr>
          <a:xfrm>
            <a:off x="8280450" y="0"/>
            <a:ext cx="863400" cy="454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7" name="Google Shape;147;p14">
            <a:hlinkClick/>
          </p:cNvPr>
          <p:cNvCxnSpPr/>
          <p:nvPr/>
        </p:nvCxnSpPr>
        <p:spPr>
          <a:xfrm>
            <a:off x="8598817" y="216350"/>
            <a:ext cx="216300" cy="0"/>
          </a:xfrm>
          <a:prstGeom prst="straightConnector1">
            <a:avLst/>
          </a:prstGeom>
          <a:noFill/>
          <a:ln cap="flat" cmpd="sng" w="9525">
            <a:solidFill>
              <a:schemeClr val="lt2"/>
            </a:solidFill>
            <a:prstDash val="solid"/>
            <a:round/>
            <a:headEnd len="med" w="med" type="none"/>
            <a:tailEnd len="med" w="med" type="none"/>
          </a:ln>
        </p:spPr>
      </p:cxnSp>
      <p:cxnSp>
        <p:nvCxnSpPr>
          <p:cNvPr id="148" name="Google Shape;148;p14">
            <a:hlinkClick/>
          </p:cNvPr>
          <p:cNvCxnSpPr/>
          <p:nvPr/>
        </p:nvCxnSpPr>
        <p:spPr>
          <a:xfrm>
            <a:off x="8598817" y="250138"/>
            <a:ext cx="216300" cy="0"/>
          </a:xfrm>
          <a:prstGeom prst="straightConnector1">
            <a:avLst/>
          </a:prstGeom>
          <a:noFill/>
          <a:ln cap="flat" cmpd="sng" w="9525">
            <a:solidFill>
              <a:schemeClr val="lt2"/>
            </a:solidFill>
            <a:prstDash val="solid"/>
            <a:round/>
            <a:headEnd len="med" w="med" type="none"/>
            <a:tailEnd len="med" w="med" type="none"/>
          </a:ln>
        </p:spPr>
      </p:cxnSp>
      <p:cxnSp>
        <p:nvCxnSpPr>
          <p:cNvPr id="149" name="Google Shape;149;p14">
            <a:hlinkClick/>
          </p:cNvPr>
          <p:cNvCxnSpPr/>
          <p:nvPr/>
        </p:nvCxnSpPr>
        <p:spPr>
          <a:xfrm>
            <a:off x="8598817" y="283925"/>
            <a:ext cx="216300" cy="0"/>
          </a:xfrm>
          <a:prstGeom prst="straightConnector1">
            <a:avLst/>
          </a:prstGeom>
          <a:noFill/>
          <a:ln cap="flat" cmpd="sng" w="9525">
            <a:solidFill>
              <a:schemeClr val="lt2"/>
            </a:solidFill>
            <a:prstDash val="solid"/>
            <a:round/>
            <a:headEnd len="med" w="med" type="none"/>
            <a:tailEnd len="med" w="med" type="none"/>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0" name="Shape 150"/>
        <p:cNvGrpSpPr/>
        <p:nvPr/>
      </p:nvGrpSpPr>
      <p:grpSpPr>
        <a:xfrm>
          <a:off x="0" y="0"/>
          <a:ext cx="0" cy="0"/>
          <a:chOff x="0" y="0"/>
          <a:chExt cx="0" cy="0"/>
        </a:xfrm>
      </p:grpSpPr>
      <p:sp>
        <p:nvSpPr>
          <p:cNvPr id="151" name="Google Shape;151;p1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152" name="Google Shape;152;p15">
            <a:hlinkClick/>
          </p:cNvPr>
          <p:cNvSpPr/>
          <p:nvPr/>
        </p:nvSpPr>
        <p:spPr>
          <a:xfrm>
            <a:off x="8280450" y="0"/>
            <a:ext cx="863400" cy="454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3" name="Google Shape;153;p15">
            <a:hlinkClick/>
          </p:cNvPr>
          <p:cNvCxnSpPr/>
          <p:nvPr/>
        </p:nvCxnSpPr>
        <p:spPr>
          <a:xfrm>
            <a:off x="8598817" y="216350"/>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154" name="Google Shape;154;p15">
            <a:hlinkClick/>
          </p:cNvPr>
          <p:cNvCxnSpPr/>
          <p:nvPr/>
        </p:nvCxnSpPr>
        <p:spPr>
          <a:xfrm>
            <a:off x="8598817" y="250138"/>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155" name="Google Shape;155;p15">
            <a:hlinkClick/>
          </p:cNvPr>
          <p:cNvCxnSpPr/>
          <p:nvPr/>
        </p:nvCxnSpPr>
        <p:spPr>
          <a:xfrm>
            <a:off x="8598817" y="283925"/>
            <a:ext cx="216300" cy="0"/>
          </a:xfrm>
          <a:prstGeom prst="straightConnector1">
            <a:avLst/>
          </a:prstGeom>
          <a:noFill/>
          <a:ln cap="flat" cmpd="sng" w="9525">
            <a:solidFill>
              <a:srgbClr val="B7B7B7"/>
            </a:solidFill>
            <a:prstDash val="solid"/>
            <a:round/>
            <a:headEnd len="med" w="med" type="none"/>
            <a:tailEnd len="med" w="med"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C">
  <p:cSld name="SECTION_HEADER_1">
    <p:bg>
      <p:bgPr>
        <a:solidFill>
          <a:schemeClr val="dk1"/>
        </a:solidFill>
      </p:bgPr>
    </p:bg>
    <p:spTree>
      <p:nvGrpSpPr>
        <p:cNvPr id="156" name="Shape 156"/>
        <p:cNvGrpSpPr/>
        <p:nvPr/>
      </p:nvGrpSpPr>
      <p:grpSpPr>
        <a:xfrm>
          <a:off x="0" y="0"/>
          <a:ext cx="0" cy="0"/>
          <a:chOff x="0" y="0"/>
          <a:chExt cx="0" cy="0"/>
        </a:xfrm>
      </p:grpSpPr>
      <p:sp>
        <p:nvSpPr>
          <p:cNvPr id="157" name="Google Shape;157;p16"/>
          <p:cNvSpPr txBox="1"/>
          <p:nvPr>
            <p:ph type="title"/>
          </p:nvPr>
        </p:nvSpPr>
        <p:spPr>
          <a:xfrm>
            <a:off x="1308150" y="1318650"/>
            <a:ext cx="7110000" cy="535200"/>
          </a:xfrm>
          <a:prstGeom prst="rect">
            <a:avLst/>
          </a:prstGeom>
        </p:spPr>
        <p:txBody>
          <a:bodyPr anchorCtr="0" anchor="t" bIns="91425" lIns="91425" spcFirstLastPara="1" rIns="91425" wrap="square" tIns="91425">
            <a:noAutofit/>
          </a:bodyPr>
          <a:lstStyle>
            <a:lvl1pPr lvl="0">
              <a:spcBef>
                <a:spcPts val="0"/>
              </a:spcBef>
              <a:spcAft>
                <a:spcPts val="0"/>
              </a:spcAft>
              <a:buClr>
                <a:srgbClr val="FFFFFF"/>
              </a:buClr>
              <a:buSzPts val="2600"/>
              <a:buNone/>
              <a:defRPr sz="2600">
                <a:solidFill>
                  <a:srgbClr val="FFFFFF"/>
                </a:solidFill>
              </a:defRPr>
            </a:lvl1pPr>
            <a:lvl2pPr lvl="1">
              <a:spcBef>
                <a:spcPts val="0"/>
              </a:spcBef>
              <a:spcAft>
                <a:spcPts val="0"/>
              </a:spcAft>
              <a:buClr>
                <a:srgbClr val="FFFFFF"/>
              </a:buClr>
              <a:buSzPts val="2600"/>
              <a:buNone/>
              <a:defRPr sz="2600">
                <a:solidFill>
                  <a:srgbClr val="FFFFFF"/>
                </a:solidFill>
              </a:defRPr>
            </a:lvl2pPr>
            <a:lvl3pPr lvl="2">
              <a:spcBef>
                <a:spcPts val="0"/>
              </a:spcBef>
              <a:spcAft>
                <a:spcPts val="0"/>
              </a:spcAft>
              <a:buClr>
                <a:srgbClr val="FFFFFF"/>
              </a:buClr>
              <a:buSzPts val="2600"/>
              <a:buNone/>
              <a:defRPr sz="2600">
                <a:solidFill>
                  <a:srgbClr val="FFFFFF"/>
                </a:solidFill>
              </a:defRPr>
            </a:lvl3pPr>
            <a:lvl4pPr lvl="3">
              <a:spcBef>
                <a:spcPts val="0"/>
              </a:spcBef>
              <a:spcAft>
                <a:spcPts val="0"/>
              </a:spcAft>
              <a:buClr>
                <a:srgbClr val="FFFFFF"/>
              </a:buClr>
              <a:buSzPts val="2600"/>
              <a:buNone/>
              <a:defRPr sz="2600">
                <a:solidFill>
                  <a:srgbClr val="FFFFFF"/>
                </a:solidFill>
              </a:defRPr>
            </a:lvl4pPr>
            <a:lvl5pPr lvl="4">
              <a:spcBef>
                <a:spcPts val="0"/>
              </a:spcBef>
              <a:spcAft>
                <a:spcPts val="0"/>
              </a:spcAft>
              <a:buClr>
                <a:srgbClr val="FFFFFF"/>
              </a:buClr>
              <a:buSzPts val="2600"/>
              <a:buNone/>
              <a:defRPr sz="2600">
                <a:solidFill>
                  <a:srgbClr val="FFFFFF"/>
                </a:solidFill>
              </a:defRPr>
            </a:lvl5pPr>
            <a:lvl6pPr lvl="5">
              <a:spcBef>
                <a:spcPts val="0"/>
              </a:spcBef>
              <a:spcAft>
                <a:spcPts val="0"/>
              </a:spcAft>
              <a:buClr>
                <a:srgbClr val="FFFFFF"/>
              </a:buClr>
              <a:buSzPts val="2600"/>
              <a:buNone/>
              <a:defRPr sz="2600">
                <a:solidFill>
                  <a:srgbClr val="FFFFFF"/>
                </a:solidFill>
              </a:defRPr>
            </a:lvl6pPr>
            <a:lvl7pPr lvl="6">
              <a:spcBef>
                <a:spcPts val="0"/>
              </a:spcBef>
              <a:spcAft>
                <a:spcPts val="0"/>
              </a:spcAft>
              <a:buClr>
                <a:srgbClr val="FFFFFF"/>
              </a:buClr>
              <a:buSzPts val="2600"/>
              <a:buNone/>
              <a:defRPr sz="2600">
                <a:solidFill>
                  <a:srgbClr val="FFFFFF"/>
                </a:solidFill>
              </a:defRPr>
            </a:lvl7pPr>
            <a:lvl8pPr lvl="7">
              <a:spcBef>
                <a:spcPts val="0"/>
              </a:spcBef>
              <a:spcAft>
                <a:spcPts val="0"/>
              </a:spcAft>
              <a:buClr>
                <a:srgbClr val="FFFFFF"/>
              </a:buClr>
              <a:buSzPts val="2600"/>
              <a:buNone/>
              <a:defRPr sz="2600">
                <a:solidFill>
                  <a:srgbClr val="FFFFFF"/>
                </a:solidFill>
              </a:defRPr>
            </a:lvl8pPr>
            <a:lvl9pPr lvl="8">
              <a:spcBef>
                <a:spcPts val="0"/>
              </a:spcBef>
              <a:spcAft>
                <a:spcPts val="0"/>
              </a:spcAft>
              <a:buClr>
                <a:srgbClr val="FFFFFF"/>
              </a:buClr>
              <a:buSzPts val="2600"/>
              <a:buNone/>
              <a:defRPr sz="2600">
                <a:solidFill>
                  <a:srgbClr val="FFFFFF"/>
                </a:solidFill>
              </a:defRPr>
            </a:lvl9pPr>
          </a:lstStyle>
          <a:p/>
        </p:txBody>
      </p:sp>
      <p:sp>
        <p:nvSpPr>
          <p:cNvPr id="158" name="Google Shape;158;p1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
        <p:nvSpPr>
          <p:cNvPr id="159" name="Google Shape;159;p16"/>
          <p:cNvSpPr txBox="1"/>
          <p:nvPr/>
        </p:nvSpPr>
        <p:spPr>
          <a:xfrm>
            <a:off x="226550" y="78500"/>
            <a:ext cx="998100" cy="321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600">
                <a:solidFill>
                  <a:srgbClr val="FFFFFF"/>
                </a:solidFill>
                <a:latin typeface="Raleway"/>
                <a:ea typeface="Raleway"/>
                <a:cs typeface="Raleway"/>
                <a:sym typeface="Raleway"/>
              </a:rPr>
              <a:t>Confidential</a:t>
            </a:r>
            <a:endParaRPr b="1" sz="600">
              <a:solidFill>
                <a:srgbClr val="FFFFFF"/>
              </a:solidFill>
              <a:latin typeface="Raleway"/>
              <a:ea typeface="Raleway"/>
              <a:cs typeface="Raleway"/>
              <a:sym typeface="Raleway"/>
            </a:endParaRPr>
          </a:p>
        </p:txBody>
      </p:sp>
      <p:sp>
        <p:nvSpPr>
          <p:cNvPr id="160" name="Google Shape;160;p16"/>
          <p:cNvSpPr txBox="1"/>
          <p:nvPr/>
        </p:nvSpPr>
        <p:spPr>
          <a:xfrm>
            <a:off x="1296767" y="78500"/>
            <a:ext cx="2100600" cy="321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600">
                <a:solidFill>
                  <a:srgbClr val="FFFFFF"/>
                </a:solidFill>
                <a:latin typeface="Raleway"/>
                <a:ea typeface="Raleway"/>
                <a:cs typeface="Raleway"/>
                <a:sym typeface="Raleway"/>
              </a:rPr>
              <a:t>Customized for </a:t>
            </a:r>
            <a:r>
              <a:rPr b="1" lang="en-GB" sz="600">
                <a:solidFill>
                  <a:srgbClr val="FFFFFF"/>
                </a:solidFill>
                <a:latin typeface="Raleway"/>
                <a:ea typeface="Raleway"/>
                <a:cs typeface="Raleway"/>
                <a:sym typeface="Raleway"/>
              </a:rPr>
              <a:t>Lorem Ipsum LLC</a:t>
            </a:r>
            <a:endParaRPr sz="600">
              <a:solidFill>
                <a:srgbClr val="FFFFFF"/>
              </a:solidFill>
              <a:latin typeface="Raleway"/>
              <a:ea typeface="Raleway"/>
              <a:cs typeface="Raleway"/>
              <a:sym typeface="Raleway"/>
            </a:endParaRPr>
          </a:p>
        </p:txBody>
      </p:sp>
      <p:sp>
        <p:nvSpPr>
          <p:cNvPr id="161" name="Google Shape;161;p16"/>
          <p:cNvSpPr txBox="1"/>
          <p:nvPr/>
        </p:nvSpPr>
        <p:spPr>
          <a:xfrm>
            <a:off x="8213935" y="78500"/>
            <a:ext cx="705900" cy="3219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GB" sz="600">
                <a:solidFill>
                  <a:srgbClr val="FFFFFF"/>
                </a:solidFill>
                <a:latin typeface="Raleway"/>
                <a:ea typeface="Raleway"/>
                <a:cs typeface="Raleway"/>
                <a:sym typeface="Raleway"/>
              </a:rPr>
              <a:t>Version 1.0</a:t>
            </a:r>
            <a:endParaRPr b="1" sz="600">
              <a:solidFill>
                <a:srgbClr val="FFFFFF"/>
              </a:solidFill>
              <a:latin typeface="Raleway"/>
              <a:ea typeface="Raleway"/>
              <a:cs typeface="Raleway"/>
              <a:sym typeface="Raleway"/>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_alt1">
  <p:cSld name="SECTION_HEADER_2">
    <p:bg>
      <p:bgPr>
        <a:solidFill>
          <a:srgbClr val="434343"/>
        </a:solidFill>
      </p:bgPr>
    </p:bg>
    <p:spTree>
      <p:nvGrpSpPr>
        <p:cNvPr id="162" name="Shape 162"/>
        <p:cNvGrpSpPr/>
        <p:nvPr/>
      </p:nvGrpSpPr>
      <p:grpSpPr>
        <a:xfrm>
          <a:off x="0" y="0"/>
          <a:ext cx="0" cy="0"/>
          <a:chOff x="0" y="0"/>
          <a:chExt cx="0" cy="0"/>
        </a:xfrm>
      </p:grpSpPr>
      <p:grpSp>
        <p:nvGrpSpPr>
          <p:cNvPr id="163" name="Google Shape;163;p17"/>
          <p:cNvGrpSpPr/>
          <p:nvPr/>
        </p:nvGrpSpPr>
        <p:grpSpPr>
          <a:xfrm>
            <a:off x="830392" y="1191256"/>
            <a:ext cx="745763" cy="45826"/>
            <a:chOff x="4580561" y="2589004"/>
            <a:chExt cx="1064464" cy="25200"/>
          </a:xfrm>
        </p:grpSpPr>
        <p:sp>
          <p:nvSpPr>
            <p:cNvPr id="164" name="Google Shape;164;p1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6" name="Google Shape;166;p17"/>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67" name="Google Shape;167;p17"/>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
        <p:nvSpPr>
          <p:cNvPr id="168" name="Google Shape;168;p17">
            <a:hlinkClick/>
          </p:cNvPr>
          <p:cNvSpPr/>
          <p:nvPr/>
        </p:nvSpPr>
        <p:spPr>
          <a:xfrm>
            <a:off x="8280450" y="0"/>
            <a:ext cx="863400" cy="454200"/>
          </a:xfrm>
          <a:prstGeom prst="rect">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9" name="Google Shape;169;p17">
            <a:hlinkClick/>
          </p:cNvPr>
          <p:cNvCxnSpPr/>
          <p:nvPr/>
        </p:nvCxnSpPr>
        <p:spPr>
          <a:xfrm>
            <a:off x="8598817" y="216350"/>
            <a:ext cx="216300" cy="0"/>
          </a:xfrm>
          <a:prstGeom prst="straightConnector1">
            <a:avLst/>
          </a:prstGeom>
          <a:noFill/>
          <a:ln cap="flat" cmpd="sng" w="9525">
            <a:solidFill>
              <a:schemeClr val="lt2"/>
            </a:solidFill>
            <a:prstDash val="solid"/>
            <a:round/>
            <a:headEnd len="med" w="med" type="none"/>
            <a:tailEnd len="med" w="med" type="none"/>
          </a:ln>
        </p:spPr>
      </p:cxnSp>
      <p:cxnSp>
        <p:nvCxnSpPr>
          <p:cNvPr id="170" name="Google Shape;170;p17">
            <a:hlinkClick/>
          </p:cNvPr>
          <p:cNvCxnSpPr/>
          <p:nvPr/>
        </p:nvCxnSpPr>
        <p:spPr>
          <a:xfrm>
            <a:off x="8598817" y="250138"/>
            <a:ext cx="216300" cy="0"/>
          </a:xfrm>
          <a:prstGeom prst="straightConnector1">
            <a:avLst/>
          </a:prstGeom>
          <a:noFill/>
          <a:ln cap="flat" cmpd="sng" w="9525">
            <a:solidFill>
              <a:schemeClr val="lt2"/>
            </a:solidFill>
            <a:prstDash val="solid"/>
            <a:round/>
            <a:headEnd len="med" w="med" type="none"/>
            <a:tailEnd len="med" w="med" type="none"/>
          </a:ln>
        </p:spPr>
      </p:cxnSp>
      <p:cxnSp>
        <p:nvCxnSpPr>
          <p:cNvPr id="171" name="Google Shape;171;p17">
            <a:hlinkClick/>
          </p:cNvPr>
          <p:cNvCxnSpPr/>
          <p:nvPr/>
        </p:nvCxnSpPr>
        <p:spPr>
          <a:xfrm>
            <a:off x="8598817" y="283925"/>
            <a:ext cx="216300" cy="0"/>
          </a:xfrm>
          <a:prstGeom prst="straightConnector1">
            <a:avLst/>
          </a:prstGeom>
          <a:noFill/>
          <a:ln cap="flat" cmpd="sng" w="9525">
            <a:solidFill>
              <a:schemeClr val="lt2"/>
            </a:solidFill>
            <a:prstDash val="solid"/>
            <a:round/>
            <a:headEnd len="med" w="med" type="none"/>
            <a:tailEnd len="med" w="med"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g3e444ded2a5_7_0)">
  <p:cSld name="Title and body (g3e444ded2a5_7_0)">
    <p:spTree>
      <p:nvGrpSpPr>
        <p:cNvPr id="172" name="Shape 172"/>
        <p:cNvGrpSpPr/>
        <p:nvPr/>
      </p:nvGrpSpPr>
      <p:grpSpPr>
        <a:xfrm>
          <a:off x="0" y="0"/>
          <a:ext cx="0" cy="0"/>
          <a:chOff x="0" y="0"/>
          <a:chExt cx="0" cy="0"/>
        </a:xfrm>
      </p:grpSpPr>
      <p:sp>
        <p:nvSpPr>
          <p:cNvPr id="173" name="Google Shape;173;p1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174" name="Google Shape;174;p1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75" name="Google Shape;175;p18"/>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e444ded2a5_19_0)">
  <p:cSld name="Generated (g3e444ded2a5_19_0)">
    <p:spTree>
      <p:nvGrpSpPr>
        <p:cNvPr id="176" name="Shape 176"/>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g3e444ded2a5_41_0)">
  <p:cSld name="Title and body (g3e444ded2a5_41_0)">
    <p:spTree>
      <p:nvGrpSpPr>
        <p:cNvPr id="177" name="Shape 177"/>
        <p:cNvGrpSpPr/>
        <p:nvPr/>
      </p:nvGrpSpPr>
      <p:grpSpPr>
        <a:xfrm>
          <a:off x="0" y="0"/>
          <a:ext cx="0" cy="0"/>
          <a:chOff x="0" y="0"/>
          <a:chExt cx="0" cy="0"/>
        </a:xfrm>
      </p:grpSpPr>
      <p:sp>
        <p:nvSpPr>
          <p:cNvPr id="178" name="Google Shape;178;p2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179" name="Google Shape;179;p2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80" name="Google Shape;180;p20"/>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g3e444ded2a5_48_0)">
  <p:cSld name="Title and body (g3e444ded2a5_48_0)">
    <p:spTree>
      <p:nvGrpSpPr>
        <p:cNvPr id="181" name="Shape 181"/>
        <p:cNvGrpSpPr/>
        <p:nvPr/>
      </p:nvGrpSpPr>
      <p:grpSpPr>
        <a:xfrm>
          <a:off x="0" y="0"/>
          <a:ext cx="0" cy="0"/>
          <a:chOff x="0" y="0"/>
          <a:chExt cx="0" cy="0"/>
        </a:xfrm>
      </p:grpSpPr>
      <p:sp>
        <p:nvSpPr>
          <p:cNvPr id="182" name="Google Shape;182;p2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183" name="Google Shape;183;p2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84" name="Google Shape;184;p21"/>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g3e444ded2a5_55_0)">
  <p:cSld name="Title and body (g3e444ded2a5_55_0)">
    <p:spTree>
      <p:nvGrpSpPr>
        <p:cNvPr id="185" name="Shape 185"/>
        <p:cNvGrpSpPr/>
        <p:nvPr/>
      </p:nvGrpSpPr>
      <p:grpSpPr>
        <a:xfrm>
          <a:off x="0" y="0"/>
          <a:ext cx="0" cy="0"/>
          <a:chOff x="0" y="0"/>
          <a:chExt cx="0" cy="0"/>
        </a:xfrm>
      </p:grpSpPr>
      <p:sp>
        <p:nvSpPr>
          <p:cNvPr id="186" name="Google Shape;186;p2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187" name="Google Shape;187;p2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88" name="Google Shape;188;p2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g3e4477a19a3_6_0)">
  <p:cSld name="Title and body (g3e4477a19a3_6_0)">
    <p:spTree>
      <p:nvGrpSpPr>
        <p:cNvPr id="189" name="Shape 189"/>
        <p:cNvGrpSpPr/>
        <p:nvPr/>
      </p:nvGrpSpPr>
      <p:grpSpPr>
        <a:xfrm>
          <a:off x="0" y="0"/>
          <a:ext cx="0" cy="0"/>
          <a:chOff x="0" y="0"/>
          <a:chExt cx="0" cy="0"/>
        </a:xfrm>
      </p:grpSpPr>
      <p:sp>
        <p:nvSpPr>
          <p:cNvPr id="190" name="Google Shape;190;p2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191" name="Google Shape;191;p2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92" name="Google Shape;192;p2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g3e4477a19a3_14_0)">
  <p:cSld name="Title and body (g3e4477a19a3_14_0)">
    <p:spTree>
      <p:nvGrpSpPr>
        <p:cNvPr id="193" name="Shape 193"/>
        <p:cNvGrpSpPr/>
        <p:nvPr/>
      </p:nvGrpSpPr>
      <p:grpSpPr>
        <a:xfrm>
          <a:off x="0" y="0"/>
          <a:ext cx="0" cy="0"/>
          <a:chOff x="0" y="0"/>
          <a:chExt cx="0" cy="0"/>
        </a:xfrm>
      </p:grpSpPr>
      <p:sp>
        <p:nvSpPr>
          <p:cNvPr id="194" name="Google Shape;194;p2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195" name="Google Shape;195;p2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96" name="Google Shape;196;p2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g3e447f218eb_65_0)">
  <p:cSld name="Title and body (g3e447f218eb_65_0)">
    <p:spTree>
      <p:nvGrpSpPr>
        <p:cNvPr id="197" name="Shape 197"/>
        <p:cNvGrpSpPr/>
        <p:nvPr/>
      </p:nvGrpSpPr>
      <p:grpSpPr>
        <a:xfrm>
          <a:off x="0" y="0"/>
          <a:ext cx="0" cy="0"/>
          <a:chOff x="0" y="0"/>
          <a:chExt cx="0" cy="0"/>
        </a:xfrm>
      </p:grpSpPr>
      <p:sp>
        <p:nvSpPr>
          <p:cNvPr id="198" name="Google Shape;198;p2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199" name="Google Shape;199;p2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200" name="Google Shape;200;p2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g3e447f218eb_72_0)">
  <p:cSld name="Title and body (g3e447f218eb_72_0)">
    <p:spTree>
      <p:nvGrpSpPr>
        <p:cNvPr id="201" name="Shape 201"/>
        <p:cNvGrpSpPr/>
        <p:nvPr/>
      </p:nvGrpSpPr>
      <p:grpSpPr>
        <a:xfrm>
          <a:off x="0" y="0"/>
          <a:ext cx="0" cy="0"/>
          <a:chOff x="0" y="0"/>
          <a:chExt cx="0" cy="0"/>
        </a:xfrm>
      </p:grpSpPr>
      <p:sp>
        <p:nvSpPr>
          <p:cNvPr id="202" name="Google Shape;202;p2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203" name="Google Shape;203;p2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204" name="Google Shape;204;p2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g3e447f218eb_110_0)">
  <p:cSld name="Blank (g3e447f218eb_110_0)">
    <p:spTree>
      <p:nvGrpSpPr>
        <p:cNvPr id="205" name="Shape 205"/>
        <p:cNvGrpSpPr/>
        <p:nvPr/>
      </p:nvGrpSpPr>
      <p:grpSpPr>
        <a:xfrm>
          <a:off x="0" y="0"/>
          <a:ext cx="0" cy="0"/>
          <a:chOff x="0" y="0"/>
          <a:chExt cx="0" cy="0"/>
        </a:xfrm>
      </p:grpSpPr>
      <p:sp>
        <p:nvSpPr>
          <p:cNvPr id="206" name="Google Shape;206;p27"/>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g3e447f218eb_117_0)">
  <p:cSld name="Blank (g3e447f218eb_117_0)">
    <p:spTree>
      <p:nvGrpSpPr>
        <p:cNvPr id="207" name="Shape 207"/>
        <p:cNvGrpSpPr/>
        <p:nvPr/>
      </p:nvGrpSpPr>
      <p:grpSpPr>
        <a:xfrm>
          <a:off x="0" y="0"/>
          <a:ext cx="0" cy="0"/>
          <a:chOff x="0" y="0"/>
          <a:chExt cx="0" cy="0"/>
        </a:xfrm>
      </p:grpSpPr>
      <p:sp>
        <p:nvSpPr>
          <p:cNvPr id="208" name="Google Shape;208;p28"/>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g3e447f218eb_124_0)">
  <p:cSld name="Title and body (g3e447f218eb_124_0)">
    <p:spTree>
      <p:nvGrpSpPr>
        <p:cNvPr id="209" name="Shape 209"/>
        <p:cNvGrpSpPr/>
        <p:nvPr/>
      </p:nvGrpSpPr>
      <p:grpSpPr>
        <a:xfrm>
          <a:off x="0" y="0"/>
          <a:ext cx="0" cy="0"/>
          <a:chOff x="0" y="0"/>
          <a:chExt cx="0" cy="0"/>
        </a:xfrm>
      </p:grpSpPr>
      <p:sp>
        <p:nvSpPr>
          <p:cNvPr id="210" name="Google Shape;210;p2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211" name="Google Shape;211;p2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212" name="Google Shape;212;p29"/>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g3e447f218eb_131_0)">
  <p:cSld name="Blank (g3e447f218eb_131_0)">
    <p:spTree>
      <p:nvGrpSpPr>
        <p:cNvPr id="213" name="Shape 213"/>
        <p:cNvGrpSpPr/>
        <p:nvPr/>
      </p:nvGrpSpPr>
      <p:grpSpPr>
        <a:xfrm>
          <a:off x="0" y="0"/>
          <a:ext cx="0" cy="0"/>
          <a:chOff x="0" y="0"/>
          <a:chExt cx="0" cy="0"/>
        </a:xfrm>
      </p:grpSpPr>
      <p:sp>
        <p:nvSpPr>
          <p:cNvPr id="214" name="Google Shape;214;p30"/>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0"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800"/>
              <a:buFont typeface="Raleway"/>
              <a:buNone/>
              <a:defRPr b="1" sz="2800">
                <a:latin typeface="Raleway"/>
                <a:ea typeface="Raleway"/>
                <a:cs typeface="Raleway"/>
                <a:sym typeface="Raleway"/>
              </a:defRPr>
            </a:lvl1pPr>
            <a:lvl2pPr lvl="1">
              <a:spcBef>
                <a:spcPts val="0"/>
              </a:spcBef>
              <a:spcAft>
                <a:spcPts val="0"/>
              </a:spcAft>
              <a:buSzPts val="2800"/>
              <a:buFont typeface="Raleway"/>
              <a:buNone/>
              <a:defRPr b="1" sz="2800">
                <a:latin typeface="Raleway"/>
                <a:ea typeface="Raleway"/>
                <a:cs typeface="Raleway"/>
                <a:sym typeface="Raleway"/>
              </a:defRPr>
            </a:lvl2pPr>
            <a:lvl3pPr lvl="2">
              <a:spcBef>
                <a:spcPts val="0"/>
              </a:spcBef>
              <a:spcAft>
                <a:spcPts val="0"/>
              </a:spcAft>
              <a:buSzPts val="2800"/>
              <a:buFont typeface="Raleway"/>
              <a:buNone/>
              <a:defRPr b="1" sz="2800">
                <a:latin typeface="Raleway"/>
                <a:ea typeface="Raleway"/>
                <a:cs typeface="Raleway"/>
                <a:sym typeface="Raleway"/>
              </a:defRPr>
            </a:lvl3pPr>
            <a:lvl4pPr lvl="3">
              <a:spcBef>
                <a:spcPts val="0"/>
              </a:spcBef>
              <a:spcAft>
                <a:spcPts val="0"/>
              </a:spcAft>
              <a:buSzPts val="2800"/>
              <a:buFont typeface="Raleway"/>
              <a:buNone/>
              <a:defRPr b="1" sz="2800">
                <a:latin typeface="Raleway"/>
                <a:ea typeface="Raleway"/>
                <a:cs typeface="Raleway"/>
                <a:sym typeface="Raleway"/>
              </a:defRPr>
            </a:lvl4pPr>
            <a:lvl5pPr lvl="4">
              <a:spcBef>
                <a:spcPts val="0"/>
              </a:spcBef>
              <a:spcAft>
                <a:spcPts val="0"/>
              </a:spcAft>
              <a:buSzPts val="2800"/>
              <a:buFont typeface="Raleway"/>
              <a:buNone/>
              <a:defRPr b="1" sz="2800">
                <a:latin typeface="Raleway"/>
                <a:ea typeface="Raleway"/>
                <a:cs typeface="Raleway"/>
                <a:sym typeface="Raleway"/>
              </a:defRPr>
            </a:lvl5pPr>
            <a:lvl6pPr lvl="5">
              <a:spcBef>
                <a:spcPts val="0"/>
              </a:spcBef>
              <a:spcAft>
                <a:spcPts val="0"/>
              </a:spcAft>
              <a:buSzPts val="2800"/>
              <a:buFont typeface="Raleway"/>
              <a:buNone/>
              <a:defRPr b="1" sz="2800">
                <a:latin typeface="Raleway"/>
                <a:ea typeface="Raleway"/>
                <a:cs typeface="Raleway"/>
                <a:sym typeface="Raleway"/>
              </a:defRPr>
            </a:lvl6pPr>
            <a:lvl7pPr lvl="6">
              <a:spcBef>
                <a:spcPts val="0"/>
              </a:spcBef>
              <a:spcAft>
                <a:spcPts val="0"/>
              </a:spcAft>
              <a:buSzPts val="2800"/>
              <a:buFont typeface="Raleway"/>
              <a:buNone/>
              <a:defRPr b="1" sz="2800">
                <a:latin typeface="Raleway"/>
                <a:ea typeface="Raleway"/>
                <a:cs typeface="Raleway"/>
                <a:sym typeface="Raleway"/>
              </a:defRPr>
            </a:lvl7pPr>
            <a:lvl8pPr lvl="7">
              <a:spcBef>
                <a:spcPts val="0"/>
              </a:spcBef>
              <a:spcAft>
                <a:spcPts val="0"/>
              </a:spcAft>
              <a:buSzPts val="2800"/>
              <a:buFont typeface="Raleway"/>
              <a:buNone/>
              <a:defRPr b="1" sz="2800">
                <a:latin typeface="Raleway"/>
                <a:ea typeface="Raleway"/>
                <a:cs typeface="Raleway"/>
                <a:sym typeface="Raleway"/>
              </a:defRPr>
            </a:lvl8pPr>
            <a:lvl9pPr lvl="8">
              <a:spcBef>
                <a:spcPts val="0"/>
              </a:spcBef>
              <a:spcAft>
                <a:spcPts val="0"/>
              </a:spcAft>
              <a:buSzPts val="2800"/>
              <a:buFont typeface="Raleway"/>
              <a:buNone/>
              <a:defRPr b="1" sz="2800">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 Id="rId3" Type="http://schemas.openxmlformats.org/officeDocument/2006/relationships/image" Target="../media/image1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33.png"/><Relationship Id="rId5" Type="http://schemas.openxmlformats.org/officeDocument/2006/relationships/image" Target="../media/image9.png"/><Relationship Id="rId6" Type="http://schemas.openxmlformats.org/officeDocument/2006/relationships/image" Target="../media/image4.png"/><Relationship Id="rId7"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 Id="rId3" Type="http://schemas.openxmlformats.org/officeDocument/2006/relationships/image" Target="../media/image26.png"/><Relationship Id="rId4" Type="http://schemas.openxmlformats.org/officeDocument/2006/relationships/image" Target="../media/image3.png"/><Relationship Id="rId9" Type="http://schemas.openxmlformats.org/officeDocument/2006/relationships/image" Target="../media/image14.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7.png"/><Relationship Id="rId8"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28.png"/><Relationship Id="rId4" Type="http://schemas.openxmlformats.org/officeDocument/2006/relationships/image" Target="../media/image35.png"/><Relationship Id="rId5" Type="http://schemas.openxmlformats.org/officeDocument/2006/relationships/image" Target="../media/image32.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3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50.png"/><Relationship Id="rId5" Type="http://schemas.openxmlformats.org/officeDocument/2006/relationships/image" Target="../media/image27.png"/><Relationship Id="rId6" Type="http://schemas.openxmlformats.org/officeDocument/2006/relationships/image" Target="../media/image31.png"/><Relationship Id="rId7" Type="http://schemas.openxmlformats.org/officeDocument/2006/relationships/image" Target="../media/image30.png"/><Relationship Id="rId8" Type="http://schemas.openxmlformats.org/officeDocument/2006/relationships/image" Target="../media/image4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51.png"/><Relationship Id="rId9" Type="http://schemas.openxmlformats.org/officeDocument/2006/relationships/image" Target="../media/image76.png"/><Relationship Id="rId5" Type="http://schemas.openxmlformats.org/officeDocument/2006/relationships/image" Target="../media/image25.png"/><Relationship Id="rId6" Type="http://schemas.openxmlformats.org/officeDocument/2006/relationships/image" Target="../media/image69.png"/><Relationship Id="rId7" Type="http://schemas.openxmlformats.org/officeDocument/2006/relationships/image" Target="../media/image46.png"/><Relationship Id="rId8" Type="http://schemas.openxmlformats.org/officeDocument/2006/relationships/image" Target="../media/image4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37.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63.png"/><Relationship Id="rId4" Type="http://schemas.openxmlformats.org/officeDocument/2006/relationships/image" Target="../media/image39.png"/><Relationship Id="rId5" Type="http://schemas.openxmlformats.org/officeDocument/2006/relationships/image" Target="../media/image42.png"/><Relationship Id="rId6" Type="http://schemas.openxmlformats.org/officeDocument/2006/relationships/image" Target="../media/image4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43.png"/><Relationship Id="rId4" Type="http://schemas.openxmlformats.org/officeDocument/2006/relationships/image" Target="../media/image58.png"/><Relationship Id="rId5" Type="http://schemas.openxmlformats.org/officeDocument/2006/relationships/image" Target="../media/image59.png"/><Relationship Id="rId6" Type="http://schemas.openxmlformats.org/officeDocument/2006/relationships/image" Target="../media/image57.png"/><Relationship Id="rId7" Type="http://schemas.openxmlformats.org/officeDocument/2006/relationships/image" Target="../media/image5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53.png"/><Relationship Id="rId4" Type="http://schemas.openxmlformats.org/officeDocument/2006/relationships/image" Target="../media/image45.png"/><Relationship Id="rId5" Type="http://schemas.openxmlformats.org/officeDocument/2006/relationships/image" Target="../media/image48.png"/><Relationship Id="rId6" Type="http://schemas.openxmlformats.org/officeDocument/2006/relationships/image" Target="../media/image72.png"/><Relationship Id="rId7" Type="http://schemas.openxmlformats.org/officeDocument/2006/relationships/image" Target="../media/image7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49.png"/><Relationship Id="rId4" Type="http://schemas.openxmlformats.org/officeDocument/2006/relationships/image" Target="../media/image47.png"/><Relationship Id="rId9" Type="http://schemas.openxmlformats.org/officeDocument/2006/relationships/image" Target="../media/image60.png"/><Relationship Id="rId5" Type="http://schemas.openxmlformats.org/officeDocument/2006/relationships/image" Target="../media/image80.png"/><Relationship Id="rId6" Type="http://schemas.openxmlformats.org/officeDocument/2006/relationships/image" Target="../media/image62.png"/><Relationship Id="rId7" Type="http://schemas.openxmlformats.org/officeDocument/2006/relationships/image" Target="../media/image55.png"/><Relationship Id="rId8" Type="http://schemas.openxmlformats.org/officeDocument/2006/relationships/image" Target="../media/image61.png"/><Relationship Id="rId10" Type="http://schemas.openxmlformats.org/officeDocument/2006/relationships/image" Target="../media/image5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9.xml"/><Relationship Id="rId3" Type="http://schemas.openxmlformats.org/officeDocument/2006/relationships/image" Target="../media/image6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0.xml"/><Relationship Id="rId3" Type="http://schemas.openxmlformats.org/officeDocument/2006/relationships/image" Target="../media/image74.png"/><Relationship Id="rId4" Type="http://schemas.openxmlformats.org/officeDocument/2006/relationships/image" Target="../media/image6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1.xml"/><Relationship Id="rId3" Type="http://schemas.openxmlformats.org/officeDocument/2006/relationships/image" Target="../media/image7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 Id="rId3" Type="http://schemas.openxmlformats.org/officeDocument/2006/relationships/image" Target="../media/image7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 Id="rId3" Type="http://schemas.openxmlformats.org/officeDocument/2006/relationships/image" Target="../media/image7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5.xml"/><Relationship Id="rId3" Type="http://schemas.openxmlformats.org/officeDocument/2006/relationships/image" Target="../media/image70.png"/><Relationship Id="rId4" Type="http://schemas.openxmlformats.org/officeDocument/2006/relationships/image" Target="../media/image79.png"/><Relationship Id="rId5" Type="http://schemas.openxmlformats.org/officeDocument/2006/relationships/image" Target="../media/image6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1"/>
          <p:cNvSpPr txBox="1"/>
          <p:nvPr>
            <p:ph type="title"/>
          </p:nvPr>
        </p:nvSpPr>
        <p:spPr>
          <a:xfrm>
            <a:off x="729450" y="1318650"/>
            <a:ext cx="3957900" cy="1968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GB">
                <a:solidFill>
                  <a:srgbClr val="000000"/>
                </a:solidFill>
              </a:rPr>
              <a:t>HiRAG  </a:t>
            </a:r>
            <a:r>
              <a:rPr b="0" lang="en-GB" sz="2300">
                <a:solidFill>
                  <a:srgbClr val="000000"/>
                </a:solidFill>
              </a:rPr>
              <a:t>Retrieval-Augmented Generation with Hierarchical Knowledge</a:t>
            </a:r>
            <a:endParaRPr b="0" sz="2300"/>
          </a:p>
        </p:txBody>
      </p:sp>
      <p:sp>
        <p:nvSpPr>
          <p:cNvPr id="220" name="Google Shape;220;p31"/>
          <p:cNvSpPr txBox="1"/>
          <p:nvPr/>
        </p:nvSpPr>
        <p:spPr>
          <a:xfrm>
            <a:off x="790550" y="3351000"/>
            <a:ext cx="1629000" cy="78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Paul Béglin</a:t>
            </a:r>
            <a:br>
              <a:rPr lang="en-GB" sz="1300">
                <a:solidFill>
                  <a:schemeClr val="accent1"/>
                </a:solidFill>
                <a:latin typeface="Lato"/>
                <a:ea typeface="Lato"/>
                <a:cs typeface="Lato"/>
                <a:sym typeface="Lato"/>
              </a:rPr>
            </a:br>
            <a:r>
              <a:rPr lang="en-GB" sz="1300">
                <a:solidFill>
                  <a:schemeClr val="accent1"/>
                </a:solidFill>
                <a:latin typeface="Lato"/>
                <a:ea typeface="Lato"/>
                <a:cs typeface="Lato"/>
                <a:sym typeface="Lato"/>
              </a:rPr>
              <a:t>Ekaterina Bogush</a:t>
            </a:r>
            <a:endParaRPr sz="1300">
              <a:solidFill>
                <a:schemeClr val="accent1"/>
              </a:solidFill>
              <a:latin typeface="Lato"/>
              <a:ea typeface="Lato"/>
              <a:cs typeface="Lato"/>
              <a:sym typeface="Lato"/>
            </a:endParaRPr>
          </a:p>
          <a:p>
            <a:pPr indent="0" lvl="0" marL="0" rtl="0" algn="l">
              <a:spcBef>
                <a:spcPts val="0"/>
              </a:spcBef>
              <a:spcAft>
                <a:spcPts val="0"/>
              </a:spcAft>
              <a:buNone/>
            </a:pPr>
            <a:r>
              <a:rPr lang="en-GB" sz="1300">
                <a:solidFill>
                  <a:schemeClr val="accent1"/>
                </a:solidFill>
                <a:latin typeface="Lato"/>
                <a:ea typeface="Lato"/>
                <a:cs typeface="Lato"/>
                <a:sym typeface="Lato"/>
              </a:rPr>
              <a:t>Zahra Siddique</a:t>
            </a:r>
            <a:endParaRPr sz="1300">
              <a:solidFill>
                <a:schemeClr val="accent1"/>
              </a:solidFill>
              <a:latin typeface="Lato"/>
              <a:ea typeface="Lato"/>
              <a:cs typeface="Lato"/>
              <a:sym typeface="Lato"/>
            </a:endParaRPr>
          </a:p>
        </p:txBody>
      </p:sp>
      <p:pic>
        <p:nvPicPr>
          <p:cNvPr id="221" name="Google Shape;221;p31"/>
          <p:cNvPicPr preferRelativeResize="0"/>
          <p:nvPr/>
        </p:nvPicPr>
        <p:blipFill>
          <a:blip r:embed="rId3">
            <a:alphaModFix/>
          </a:blip>
          <a:stretch>
            <a:fillRect/>
          </a:stretch>
        </p:blipFill>
        <p:spPr>
          <a:xfrm>
            <a:off x="4957200" y="1070050"/>
            <a:ext cx="3317249" cy="331724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2"/>
          <p:cNvSpPr txBox="1"/>
          <p:nvPr>
            <p:ph type="title"/>
          </p:nvPr>
        </p:nvSpPr>
        <p:spPr>
          <a:xfrm>
            <a:off x="727650" y="66960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Plan</a:t>
            </a:r>
            <a:endParaRPr/>
          </a:p>
        </p:txBody>
      </p:sp>
      <p:sp>
        <p:nvSpPr>
          <p:cNvPr id="227" name="Google Shape;227;p32"/>
          <p:cNvSpPr/>
          <p:nvPr/>
        </p:nvSpPr>
        <p:spPr>
          <a:xfrm>
            <a:off x="838100" y="1618364"/>
            <a:ext cx="463500" cy="463500"/>
          </a:xfrm>
          <a:prstGeom prst="rect">
            <a:avLst/>
          </a:prstGeom>
          <a:solidFill>
            <a:schemeClr val="dk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solidFill>
                  <a:schemeClr val="lt1"/>
                </a:solidFill>
                <a:latin typeface="Lato"/>
                <a:ea typeface="Lato"/>
                <a:cs typeface="Lato"/>
                <a:sym typeface="Lato"/>
              </a:rPr>
              <a:t>1</a:t>
            </a:r>
            <a:endParaRPr b="1" sz="1600">
              <a:solidFill>
                <a:schemeClr val="lt1"/>
              </a:solidFill>
              <a:latin typeface="Lato"/>
              <a:ea typeface="Lato"/>
              <a:cs typeface="Lato"/>
              <a:sym typeface="Lato"/>
            </a:endParaRPr>
          </a:p>
        </p:txBody>
      </p:sp>
      <p:sp>
        <p:nvSpPr>
          <p:cNvPr id="228" name="Google Shape;228;p32"/>
          <p:cNvSpPr/>
          <p:nvPr/>
        </p:nvSpPr>
        <p:spPr>
          <a:xfrm>
            <a:off x="838100" y="2171442"/>
            <a:ext cx="463500" cy="463500"/>
          </a:xfrm>
          <a:prstGeom prst="rect">
            <a:avLst/>
          </a:prstGeom>
          <a:solidFill>
            <a:schemeClr val="dk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solidFill>
                  <a:schemeClr val="lt1"/>
                </a:solidFill>
                <a:latin typeface="Lato"/>
                <a:ea typeface="Lato"/>
                <a:cs typeface="Lato"/>
                <a:sym typeface="Lato"/>
              </a:rPr>
              <a:t>2</a:t>
            </a:r>
            <a:endParaRPr b="1" sz="1600">
              <a:solidFill>
                <a:schemeClr val="lt1"/>
              </a:solidFill>
              <a:latin typeface="Lato"/>
              <a:ea typeface="Lato"/>
              <a:cs typeface="Lato"/>
              <a:sym typeface="Lato"/>
            </a:endParaRPr>
          </a:p>
        </p:txBody>
      </p:sp>
      <p:sp>
        <p:nvSpPr>
          <p:cNvPr id="229" name="Google Shape;229;p32"/>
          <p:cNvSpPr/>
          <p:nvPr/>
        </p:nvSpPr>
        <p:spPr>
          <a:xfrm>
            <a:off x="838100" y="3830675"/>
            <a:ext cx="463500" cy="463500"/>
          </a:xfrm>
          <a:prstGeom prst="rect">
            <a:avLst/>
          </a:prstGeom>
          <a:solidFill>
            <a:schemeClr val="dk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solidFill>
                  <a:schemeClr val="lt1"/>
                </a:solidFill>
                <a:latin typeface="Lato"/>
                <a:ea typeface="Lato"/>
                <a:cs typeface="Lato"/>
                <a:sym typeface="Lato"/>
              </a:rPr>
              <a:t>5</a:t>
            </a:r>
            <a:endParaRPr b="1" sz="1600">
              <a:solidFill>
                <a:schemeClr val="lt1"/>
              </a:solidFill>
              <a:latin typeface="Lato"/>
              <a:ea typeface="Lato"/>
              <a:cs typeface="Lato"/>
              <a:sym typeface="Lato"/>
            </a:endParaRPr>
          </a:p>
        </p:txBody>
      </p:sp>
      <p:sp>
        <p:nvSpPr>
          <p:cNvPr id="230" name="Google Shape;230;p32"/>
          <p:cNvSpPr txBox="1"/>
          <p:nvPr/>
        </p:nvSpPr>
        <p:spPr>
          <a:xfrm>
            <a:off x="1393925" y="3869986"/>
            <a:ext cx="44418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Conclusion</a:t>
            </a:r>
            <a:endParaRPr sz="1300">
              <a:solidFill>
                <a:schemeClr val="accent1"/>
              </a:solidFill>
              <a:latin typeface="Lato"/>
              <a:ea typeface="Lato"/>
              <a:cs typeface="Lato"/>
              <a:sym typeface="Lato"/>
            </a:endParaRPr>
          </a:p>
        </p:txBody>
      </p:sp>
      <p:sp>
        <p:nvSpPr>
          <p:cNvPr id="231" name="Google Shape;231;p32"/>
          <p:cNvSpPr txBox="1"/>
          <p:nvPr/>
        </p:nvSpPr>
        <p:spPr>
          <a:xfrm>
            <a:off x="1393925" y="3316908"/>
            <a:ext cx="44418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Évaluation</a:t>
            </a:r>
            <a:endParaRPr sz="1300">
              <a:solidFill>
                <a:schemeClr val="accent1"/>
              </a:solidFill>
              <a:latin typeface="Lato"/>
              <a:ea typeface="Lato"/>
              <a:cs typeface="Lato"/>
              <a:sym typeface="Lato"/>
            </a:endParaRPr>
          </a:p>
        </p:txBody>
      </p:sp>
      <p:sp>
        <p:nvSpPr>
          <p:cNvPr id="232" name="Google Shape;232;p32"/>
          <p:cNvSpPr/>
          <p:nvPr/>
        </p:nvSpPr>
        <p:spPr>
          <a:xfrm>
            <a:off x="838100" y="2724519"/>
            <a:ext cx="463500" cy="463500"/>
          </a:xfrm>
          <a:prstGeom prst="rect">
            <a:avLst/>
          </a:prstGeom>
          <a:solidFill>
            <a:schemeClr val="dk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solidFill>
                  <a:schemeClr val="lt1"/>
                </a:solidFill>
                <a:latin typeface="Lato"/>
                <a:ea typeface="Lato"/>
                <a:cs typeface="Lato"/>
                <a:sym typeface="Lato"/>
              </a:rPr>
              <a:t>3</a:t>
            </a:r>
            <a:endParaRPr b="1" sz="1600">
              <a:solidFill>
                <a:schemeClr val="lt1"/>
              </a:solidFill>
              <a:latin typeface="Lato"/>
              <a:ea typeface="Lato"/>
              <a:cs typeface="Lato"/>
              <a:sym typeface="Lato"/>
            </a:endParaRPr>
          </a:p>
        </p:txBody>
      </p:sp>
      <p:sp>
        <p:nvSpPr>
          <p:cNvPr id="233" name="Google Shape;233;p32"/>
          <p:cNvSpPr txBox="1"/>
          <p:nvPr/>
        </p:nvSpPr>
        <p:spPr>
          <a:xfrm>
            <a:off x="1393925" y="2210753"/>
            <a:ext cx="44418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Problèmes de HiRAG</a:t>
            </a:r>
            <a:endParaRPr sz="1300">
              <a:solidFill>
                <a:schemeClr val="accent1"/>
              </a:solidFill>
              <a:latin typeface="Lato"/>
              <a:ea typeface="Lato"/>
              <a:cs typeface="Lato"/>
              <a:sym typeface="Lato"/>
            </a:endParaRPr>
          </a:p>
        </p:txBody>
      </p:sp>
      <p:sp>
        <p:nvSpPr>
          <p:cNvPr id="234" name="Google Shape;234;p32"/>
          <p:cNvSpPr txBox="1"/>
          <p:nvPr/>
        </p:nvSpPr>
        <p:spPr>
          <a:xfrm>
            <a:off x="1393925" y="2763831"/>
            <a:ext cx="44418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Améliorations implémentées</a:t>
            </a:r>
            <a:endParaRPr sz="1300">
              <a:solidFill>
                <a:schemeClr val="accent1"/>
              </a:solidFill>
              <a:latin typeface="Lato"/>
              <a:ea typeface="Lato"/>
              <a:cs typeface="Lato"/>
              <a:sym typeface="Lato"/>
            </a:endParaRPr>
          </a:p>
        </p:txBody>
      </p:sp>
      <p:sp>
        <p:nvSpPr>
          <p:cNvPr id="235" name="Google Shape;235;p32"/>
          <p:cNvSpPr txBox="1"/>
          <p:nvPr/>
        </p:nvSpPr>
        <p:spPr>
          <a:xfrm>
            <a:off x="1393925" y="1657675"/>
            <a:ext cx="44418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Concept de HiRAG</a:t>
            </a:r>
            <a:endParaRPr sz="1300">
              <a:solidFill>
                <a:schemeClr val="accent1"/>
              </a:solidFill>
              <a:latin typeface="Lato"/>
              <a:ea typeface="Lato"/>
              <a:cs typeface="Lato"/>
              <a:sym typeface="Lato"/>
            </a:endParaRPr>
          </a:p>
        </p:txBody>
      </p:sp>
      <p:sp>
        <p:nvSpPr>
          <p:cNvPr id="236" name="Google Shape;236;p32"/>
          <p:cNvSpPr/>
          <p:nvPr/>
        </p:nvSpPr>
        <p:spPr>
          <a:xfrm>
            <a:off x="838100" y="3277597"/>
            <a:ext cx="463500" cy="463500"/>
          </a:xfrm>
          <a:prstGeom prst="rect">
            <a:avLst/>
          </a:prstGeom>
          <a:solidFill>
            <a:schemeClr val="dk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solidFill>
                  <a:schemeClr val="lt1"/>
                </a:solidFill>
                <a:latin typeface="Lato"/>
                <a:ea typeface="Lato"/>
                <a:cs typeface="Lato"/>
                <a:sym typeface="Lato"/>
              </a:rPr>
              <a:t>4</a:t>
            </a:r>
            <a:endParaRPr b="1" sz="1600">
              <a:solidFill>
                <a:schemeClr val="lt1"/>
              </a:solidFill>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0" name="Shape 240"/>
        <p:cNvGrpSpPr/>
        <p:nvPr/>
      </p:nvGrpSpPr>
      <p:grpSpPr>
        <a:xfrm>
          <a:off x="0" y="0"/>
          <a:ext cx="0" cy="0"/>
          <a:chOff x="0" y="0"/>
          <a:chExt cx="0" cy="0"/>
        </a:xfrm>
      </p:grpSpPr>
      <p:cxnSp>
        <p:nvCxnSpPr>
          <p:cNvPr id="241" name="Google Shape;241;p33">
            <a:hlinkClick/>
          </p:cNvPr>
          <p:cNvCxnSpPr/>
          <p:nvPr/>
        </p:nvCxnSpPr>
        <p:spPr>
          <a:xfrm>
            <a:off x="8598817" y="216350"/>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242" name="Google Shape;242;p33">
            <a:hlinkClick/>
          </p:cNvPr>
          <p:cNvCxnSpPr/>
          <p:nvPr/>
        </p:nvCxnSpPr>
        <p:spPr>
          <a:xfrm>
            <a:off x="8598817" y="250138"/>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243" name="Google Shape;243;p33">
            <a:hlinkClick/>
          </p:cNvPr>
          <p:cNvCxnSpPr/>
          <p:nvPr/>
        </p:nvCxnSpPr>
        <p:spPr>
          <a:xfrm>
            <a:off x="8598817" y="283925"/>
            <a:ext cx="216300" cy="0"/>
          </a:xfrm>
          <a:prstGeom prst="straightConnector1">
            <a:avLst/>
          </a:prstGeom>
          <a:noFill/>
          <a:ln cap="flat" cmpd="sng" w="9525">
            <a:solidFill>
              <a:srgbClr val="B7B7B7"/>
            </a:solidFill>
            <a:prstDash val="solid"/>
            <a:round/>
            <a:headEnd len="med" w="med" type="none"/>
            <a:tailEnd len="med" w="med" type="none"/>
          </a:ln>
        </p:spPr>
      </p:cxnSp>
      <p:sp>
        <p:nvSpPr>
          <p:cNvPr id="244" name="Google Shape;244;p33"/>
          <p:cNvSpPr txBox="1"/>
          <p:nvPr>
            <p:ph type="title"/>
          </p:nvPr>
        </p:nvSpPr>
        <p:spPr>
          <a:xfrm>
            <a:off x="727650" y="381000"/>
            <a:ext cx="7962000" cy="535200"/>
          </a:xfrm>
          <a:prstGeom prst="rect">
            <a:avLst/>
          </a:prstGeom>
          <a:solidFill>
            <a:srgbClr val="000000">
              <a:alpha val="0"/>
            </a:srgbClr>
          </a:solidFill>
          <a:ln>
            <a:noFill/>
          </a:ln>
        </p:spPr>
        <p:txBody>
          <a:bodyPr anchorCtr="0" anchor="t" bIns="95250" lIns="95250" spcFirstLastPara="1" rIns="95250" wrap="square" tIns="95250">
            <a:noAutofit/>
          </a:bodyPr>
          <a:lstStyle/>
          <a:p>
            <a:pPr indent="0" lvl="0" marL="0" rtl="0" algn="l">
              <a:spcBef>
                <a:spcPts val="0"/>
              </a:spcBef>
              <a:spcAft>
                <a:spcPts val="0"/>
              </a:spcAft>
              <a:buNone/>
            </a:pPr>
            <a:r>
              <a:rPr b="1" lang="en-GB" sz="2220">
                <a:solidFill>
                  <a:srgbClr val="1A1A1A"/>
                </a:solidFill>
                <a:latin typeface="Raleway"/>
                <a:ea typeface="Raleway"/>
                <a:cs typeface="Raleway"/>
                <a:sym typeface="Raleway"/>
              </a:rPr>
              <a:t>Concept de HiRAG : </a:t>
            </a:r>
            <a:r>
              <a:rPr b="0" lang="en-GB" sz="2220">
                <a:solidFill>
                  <a:srgbClr val="1A1A1A"/>
                </a:solidFill>
              </a:rPr>
              <a:t>Comment a</a:t>
            </a:r>
            <a:r>
              <a:rPr b="0" lang="en-GB" sz="2220">
                <a:solidFill>
                  <a:srgbClr val="1A1A1A"/>
                </a:solidFill>
              </a:rPr>
              <a:t>méliorer le RAG ?</a:t>
            </a:r>
            <a:endParaRPr b="0" sz="2220">
              <a:solidFill>
                <a:srgbClr val="1A1A1A"/>
              </a:solidFill>
            </a:endParaRPr>
          </a:p>
        </p:txBody>
      </p:sp>
      <p:grpSp>
        <p:nvGrpSpPr>
          <p:cNvPr id="245" name="Google Shape;245;p33"/>
          <p:cNvGrpSpPr/>
          <p:nvPr/>
        </p:nvGrpSpPr>
        <p:grpSpPr>
          <a:xfrm>
            <a:off x="476250" y="1143000"/>
            <a:ext cx="8191650" cy="3619500"/>
            <a:chOff x="476250" y="1143000"/>
            <a:chExt cx="8191650" cy="3619500"/>
          </a:xfrm>
        </p:grpSpPr>
        <p:sp>
          <p:nvSpPr>
            <p:cNvPr id="246" name="Google Shape;246;p33"/>
            <p:cNvSpPr/>
            <p:nvPr/>
          </p:nvSpPr>
          <p:spPr>
            <a:xfrm>
              <a:off x="476250" y="1143000"/>
              <a:ext cx="2571900" cy="3619500"/>
            </a:xfrm>
            <a:prstGeom prst="roundRect">
              <a:avLst>
                <a:gd fmla="val 4444" name="adj"/>
              </a:avLst>
            </a:prstGeom>
            <a:solidFill>
              <a:srgbClr val="F8FAFB"/>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7" name="Google Shape;247;p33"/>
            <p:cNvSpPr txBox="1"/>
            <p:nvPr/>
          </p:nvSpPr>
          <p:spPr>
            <a:xfrm>
              <a:off x="476250" y="1238250"/>
              <a:ext cx="25719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400">
                  <a:solidFill>
                    <a:srgbClr val="64748B"/>
                  </a:solidFill>
                  <a:latin typeface="Raleway"/>
                  <a:ea typeface="Raleway"/>
                  <a:cs typeface="Raleway"/>
                  <a:sym typeface="Raleway"/>
                </a:rPr>
                <a:t>Standard RAG</a:t>
              </a:r>
              <a:endParaRPr b="1" sz="1400">
                <a:solidFill>
                  <a:srgbClr val="64748B"/>
                </a:solidFill>
                <a:latin typeface="Raleway"/>
                <a:ea typeface="Raleway"/>
                <a:cs typeface="Raleway"/>
                <a:sym typeface="Raleway"/>
              </a:endParaRPr>
            </a:p>
          </p:txBody>
        </p:sp>
        <p:sp>
          <p:nvSpPr>
            <p:cNvPr id="248" name="Google Shape;248;p33"/>
            <p:cNvSpPr/>
            <p:nvPr/>
          </p:nvSpPr>
          <p:spPr>
            <a:xfrm>
              <a:off x="3286125" y="1143000"/>
              <a:ext cx="2571900" cy="3619500"/>
            </a:xfrm>
            <a:prstGeom prst="roundRect">
              <a:avLst>
                <a:gd fmla="val 4444" name="adj"/>
              </a:avLst>
            </a:prstGeom>
            <a:solidFill>
              <a:srgbClr val="F8FAFB"/>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9" name="Google Shape;249;p33"/>
            <p:cNvSpPr txBox="1"/>
            <p:nvPr/>
          </p:nvSpPr>
          <p:spPr>
            <a:xfrm>
              <a:off x="3286125" y="1238250"/>
              <a:ext cx="25719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400">
                  <a:solidFill>
                    <a:srgbClr val="64748B"/>
                  </a:solidFill>
                  <a:latin typeface="Raleway"/>
                  <a:ea typeface="Raleway"/>
                  <a:cs typeface="Raleway"/>
                  <a:sym typeface="Raleway"/>
                </a:rPr>
                <a:t>Graph RAG</a:t>
              </a:r>
              <a:endParaRPr b="1" sz="1400">
                <a:solidFill>
                  <a:srgbClr val="64748B"/>
                </a:solidFill>
                <a:latin typeface="Raleway"/>
                <a:ea typeface="Raleway"/>
                <a:cs typeface="Raleway"/>
                <a:sym typeface="Raleway"/>
              </a:endParaRPr>
            </a:p>
          </p:txBody>
        </p:sp>
        <p:sp>
          <p:nvSpPr>
            <p:cNvPr id="250" name="Google Shape;250;p33"/>
            <p:cNvSpPr/>
            <p:nvPr/>
          </p:nvSpPr>
          <p:spPr>
            <a:xfrm>
              <a:off x="6096000" y="1143000"/>
              <a:ext cx="2571900" cy="3619500"/>
            </a:xfrm>
            <a:prstGeom prst="roundRect">
              <a:avLst>
                <a:gd fmla="val 4444" name="adj"/>
              </a:avLst>
            </a:prstGeom>
            <a:solidFill>
              <a:srgbClr val="F0FDF4"/>
            </a:solidFill>
            <a:ln cap="flat" cmpd="sng" w="19050">
              <a:solidFill>
                <a:srgbClr val="BBF7D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1" name="Google Shape;251;p33"/>
            <p:cNvSpPr txBox="1"/>
            <p:nvPr/>
          </p:nvSpPr>
          <p:spPr>
            <a:xfrm>
              <a:off x="6096000" y="1238250"/>
              <a:ext cx="25719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400">
                  <a:solidFill>
                    <a:srgbClr val="15803D"/>
                  </a:solidFill>
                  <a:latin typeface="Raleway"/>
                  <a:ea typeface="Raleway"/>
                  <a:cs typeface="Raleway"/>
                  <a:sym typeface="Raleway"/>
                </a:rPr>
                <a:t>HiRAG (Hierarchical)</a:t>
              </a:r>
              <a:endParaRPr b="1" sz="1400">
                <a:solidFill>
                  <a:srgbClr val="15803D"/>
                </a:solidFill>
                <a:latin typeface="Raleway"/>
                <a:ea typeface="Raleway"/>
                <a:cs typeface="Raleway"/>
                <a:sym typeface="Raleway"/>
              </a:endParaRPr>
            </a:p>
          </p:txBody>
        </p:sp>
      </p:grpSp>
      <p:sp>
        <p:nvSpPr>
          <p:cNvPr id="252" name="Google Shape;252;p33"/>
          <p:cNvSpPr/>
          <p:nvPr/>
        </p:nvSpPr>
        <p:spPr>
          <a:xfrm>
            <a:off x="1285875" y="1714500"/>
            <a:ext cx="952500" cy="381000"/>
          </a:xfrm>
          <a:prstGeom prst="roundRect">
            <a:avLst>
              <a:gd fmla="val 20000" name="adj"/>
            </a:avLst>
          </a:prstGeom>
          <a:solidFill>
            <a:srgbClr val="FFFFFF"/>
          </a:solidFill>
          <a:ln cap="flat" cmpd="sng" w="9525">
            <a:solidFill>
              <a:srgbClr val="1A1A1A"/>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100">
                <a:solidFill>
                  <a:srgbClr val="000000"/>
                </a:solidFill>
                <a:latin typeface="Lato"/>
                <a:ea typeface="Lato"/>
                <a:cs typeface="Lato"/>
                <a:sym typeface="Lato"/>
              </a:rPr>
              <a:t>Requête</a:t>
            </a:r>
            <a:endParaRPr sz="1100">
              <a:solidFill>
                <a:srgbClr val="000000"/>
              </a:solidFill>
              <a:latin typeface="Lato"/>
              <a:ea typeface="Lato"/>
              <a:cs typeface="Lato"/>
              <a:sym typeface="Lato"/>
            </a:endParaRPr>
          </a:p>
        </p:txBody>
      </p:sp>
      <p:pic>
        <p:nvPicPr>
          <p:cNvPr id="253" name="Google Shape;253;p33"/>
          <p:cNvPicPr preferRelativeResize="0"/>
          <p:nvPr/>
        </p:nvPicPr>
        <p:blipFill rotWithShape="1">
          <a:blip r:embed="rId4">
            <a:alphaModFix/>
          </a:blip>
          <a:srcRect b="0" l="0" r="0" t="0"/>
          <a:stretch/>
        </p:blipFill>
        <p:spPr>
          <a:xfrm>
            <a:off x="1757363" y="2095500"/>
            <a:ext cx="9600" cy="190500"/>
          </a:xfrm>
          <a:prstGeom prst="rect">
            <a:avLst/>
          </a:prstGeom>
          <a:noFill/>
          <a:ln>
            <a:noFill/>
          </a:ln>
        </p:spPr>
      </p:pic>
      <p:sp>
        <p:nvSpPr>
          <p:cNvPr id="254" name="Google Shape;254;p33"/>
          <p:cNvSpPr/>
          <p:nvPr/>
        </p:nvSpPr>
        <p:spPr>
          <a:xfrm>
            <a:off x="1285875" y="2286000"/>
            <a:ext cx="952500" cy="381000"/>
          </a:xfrm>
          <a:prstGeom prst="roundRect">
            <a:avLst>
              <a:gd fmla="val 20000" name="adj"/>
            </a:avLst>
          </a:prstGeom>
          <a:solidFill>
            <a:srgbClr val="FFFFFF"/>
          </a:solidFill>
          <a:ln cap="flat" cmpd="sng" w="9525">
            <a:solidFill>
              <a:srgbClr val="1A1A1A"/>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100">
                <a:solidFill>
                  <a:srgbClr val="000000"/>
                </a:solidFill>
                <a:latin typeface="Lato"/>
                <a:ea typeface="Lato"/>
                <a:cs typeface="Lato"/>
                <a:sym typeface="Lato"/>
              </a:rPr>
              <a:t>Vector search</a:t>
            </a:r>
            <a:endParaRPr sz="1100">
              <a:solidFill>
                <a:srgbClr val="000000"/>
              </a:solidFill>
              <a:latin typeface="Lato"/>
              <a:ea typeface="Lato"/>
              <a:cs typeface="Lato"/>
              <a:sym typeface="Lato"/>
            </a:endParaRPr>
          </a:p>
        </p:txBody>
      </p:sp>
      <p:pic>
        <p:nvPicPr>
          <p:cNvPr id="255" name="Google Shape;255;p33"/>
          <p:cNvPicPr preferRelativeResize="0"/>
          <p:nvPr/>
        </p:nvPicPr>
        <p:blipFill rotWithShape="1">
          <a:blip r:embed="rId4">
            <a:alphaModFix/>
          </a:blip>
          <a:srcRect b="0" l="0" r="0" t="0"/>
          <a:stretch/>
        </p:blipFill>
        <p:spPr>
          <a:xfrm>
            <a:off x="1757363" y="2667000"/>
            <a:ext cx="9600" cy="190500"/>
          </a:xfrm>
          <a:prstGeom prst="rect">
            <a:avLst/>
          </a:prstGeom>
          <a:noFill/>
          <a:ln>
            <a:noFill/>
          </a:ln>
        </p:spPr>
      </p:pic>
      <p:sp>
        <p:nvSpPr>
          <p:cNvPr id="256" name="Google Shape;256;p33"/>
          <p:cNvSpPr/>
          <p:nvPr/>
        </p:nvSpPr>
        <p:spPr>
          <a:xfrm>
            <a:off x="1285875" y="2857500"/>
            <a:ext cx="952500" cy="381000"/>
          </a:xfrm>
          <a:prstGeom prst="roundRect">
            <a:avLst>
              <a:gd fmla="val 20000" name="adj"/>
            </a:avLst>
          </a:prstGeom>
          <a:solidFill>
            <a:srgbClr val="FFFFFF"/>
          </a:solidFill>
          <a:ln cap="flat" cmpd="sng" w="9525">
            <a:solidFill>
              <a:srgbClr val="1A1A1A"/>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100">
                <a:solidFill>
                  <a:srgbClr val="000000"/>
                </a:solidFill>
                <a:latin typeface="Lato"/>
                <a:ea typeface="Lato"/>
                <a:cs typeface="Lato"/>
                <a:sym typeface="Lato"/>
              </a:rPr>
              <a:t>LLM</a:t>
            </a:r>
            <a:endParaRPr sz="1100">
              <a:solidFill>
                <a:srgbClr val="000000"/>
              </a:solidFill>
              <a:latin typeface="Lato"/>
              <a:ea typeface="Lato"/>
              <a:cs typeface="Lato"/>
              <a:sym typeface="Lato"/>
            </a:endParaRPr>
          </a:p>
        </p:txBody>
      </p:sp>
      <p:pic>
        <p:nvPicPr>
          <p:cNvPr id="257" name="Google Shape;257;p33"/>
          <p:cNvPicPr preferRelativeResize="0"/>
          <p:nvPr/>
        </p:nvPicPr>
        <p:blipFill rotWithShape="1">
          <a:blip r:embed="rId4">
            <a:alphaModFix/>
          </a:blip>
          <a:srcRect b="0" l="0" r="0" t="0"/>
          <a:stretch/>
        </p:blipFill>
        <p:spPr>
          <a:xfrm>
            <a:off x="1757363" y="3238500"/>
            <a:ext cx="9600" cy="190500"/>
          </a:xfrm>
          <a:prstGeom prst="rect">
            <a:avLst/>
          </a:prstGeom>
          <a:noFill/>
          <a:ln>
            <a:noFill/>
          </a:ln>
        </p:spPr>
      </p:pic>
      <p:sp>
        <p:nvSpPr>
          <p:cNvPr id="258" name="Google Shape;258;p33"/>
          <p:cNvSpPr/>
          <p:nvPr/>
        </p:nvSpPr>
        <p:spPr>
          <a:xfrm>
            <a:off x="1285875" y="3429000"/>
            <a:ext cx="952500" cy="381000"/>
          </a:xfrm>
          <a:prstGeom prst="roundRect">
            <a:avLst>
              <a:gd fmla="val 20000" name="adj"/>
            </a:avLst>
          </a:prstGeom>
          <a:solidFill>
            <a:srgbClr val="E2E8F0"/>
          </a:solidFill>
          <a:ln cap="flat" cmpd="sng" w="9525">
            <a:solidFill>
              <a:srgbClr val="1A1A1A"/>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100">
                <a:solidFill>
                  <a:srgbClr val="000000"/>
                </a:solidFill>
                <a:latin typeface="Lato"/>
                <a:ea typeface="Lato"/>
                <a:cs typeface="Lato"/>
                <a:sym typeface="Lato"/>
              </a:rPr>
              <a:t>Réponse</a:t>
            </a:r>
            <a:endParaRPr sz="1100">
              <a:solidFill>
                <a:srgbClr val="000000"/>
              </a:solidFill>
              <a:latin typeface="Lato"/>
              <a:ea typeface="Lato"/>
              <a:cs typeface="Lato"/>
              <a:sym typeface="Lato"/>
            </a:endParaRPr>
          </a:p>
        </p:txBody>
      </p:sp>
      <p:sp>
        <p:nvSpPr>
          <p:cNvPr id="259" name="Google Shape;259;p33"/>
          <p:cNvSpPr txBox="1"/>
          <p:nvPr/>
        </p:nvSpPr>
        <p:spPr>
          <a:xfrm>
            <a:off x="571500" y="4000500"/>
            <a:ext cx="2381400" cy="571500"/>
          </a:xfrm>
          <a:prstGeom prst="rect">
            <a:avLst/>
          </a:prstGeom>
          <a:solidFill>
            <a:srgbClr val="000000">
              <a:alpha val="0"/>
            </a:srgbClr>
          </a:solidFill>
          <a:ln>
            <a:noFill/>
          </a:ln>
        </p:spPr>
        <p:txBody>
          <a:bodyPr anchorCtr="0" anchor="ctr" bIns="47625" lIns="47625" spcFirstLastPara="1" rIns="47625" wrap="square" tIns="47625">
            <a:noAutofit/>
          </a:bodyPr>
          <a:lstStyle/>
          <a:p>
            <a:pPr indent="0" lvl="0" marL="0" rtl="0" algn="ctr">
              <a:spcBef>
                <a:spcPts val="0"/>
              </a:spcBef>
              <a:spcAft>
                <a:spcPts val="0"/>
              </a:spcAft>
              <a:buNone/>
            </a:pPr>
            <a:r>
              <a:rPr lang="en-GB" sz="1000">
                <a:solidFill>
                  <a:srgbClr val="E06666"/>
                </a:solidFill>
                <a:latin typeface="Lato"/>
                <a:ea typeface="Lato"/>
                <a:cs typeface="Lato"/>
                <a:sym typeface="Lato"/>
              </a:rPr>
              <a:t>Pas de connaissances des entités-relations</a:t>
            </a:r>
            <a:endParaRPr sz="1000">
              <a:solidFill>
                <a:srgbClr val="E06666"/>
              </a:solidFill>
              <a:latin typeface="Lato"/>
              <a:ea typeface="Lato"/>
              <a:cs typeface="Lato"/>
              <a:sym typeface="Lato"/>
            </a:endParaRPr>
          </a:p>
        </p:txBody>
      </p:sp>
      <p:sp>
        <p:nvSpPr>
          <p:cNvPr id="260" name="Google Shape;260;p33"/>
          <p:cNvSpPr/>
          <p:nvPr/>
        </p:nvSpPr>
        <p:spPr>
          <a:xfrm>
            <a:off x="4095750" y="1714500"/>
            <a:ext cx="952500" cy="381000"/>
          </a:xfrm>
          <a:prstGeom prst="roundRect">
            <a:avLst>
              <a:gd fmla="val 20000" name="adj"/>
            </a:avLst>
          </a:prstGeom>
          <a:solidFill>
            <a:srgbClr val="FFFFFF"/>
          </a:solidFill>
          <a:ln cap="flat" cmpd="sng" w="9525">
            <a:solidFill>
              <a:srgbClr val="1A1A1A"/>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100">
                <a:solidFill>
                  <a:srgbClr val="000000"/>
                </a:solidFill>
                <a:latin typeface="Lato"/>
                <a:ea typeface="Lato"/>
                <a:cs typeface="Lato"/>
                <a:sym typeface="Lato"/>
              </a:rPr>
              <a:t>Requête</a:t>
            </a:r>
            <a:endParaRPr sz="1100">
              <a:solidFill>
                <a:srgbClr val="000000"/>
              </a:solidFill>
              <a:latin typeface="Lato"/>
              <a:ea typeface="Lato"/>
              <a:cs typeface="Lato"/>
              <a:sym typeface="Lato"/>
            </a:endParaRPr>
          </a:p>
        </p:txBody>
      </p:sp>
      <p:pic>
        <p:nvPicPr>
          <p:cNvPr id="261" name="Google Shape;261;p33"/>
          <p:cNvPicPr preferRelativeResize="0"/>
          <p:nvPr/>
        </p:nvPicPr>
        <p:blipFill rotWithShape="1">
          <a:blip r:embed="rId4">
            <a:alphaModFix/>
          </a:blip>
          <a:srcRect b="0" l="0" r="0" t="0"/>
          <a:stretch/>
        </p:blipFill>
        <p:spPr>
          <a:xfrm>
            <a:off x="4567238" y="2095500"/>
            <a:ext cx="9600" cy="190500"/>
          </a:xfrm>
          <a:prstGeom prst="rect">
            <a:avLst/>
          </a:prstGeom>
          <a:noFill/>
          <a:ln>
            <a:noFill/>
          </a:ln>
        </p:spPr>
      </p:pic>
      <p:sp>
        <p:nvSpPr>
          <p:cNvPr id="262" name="Google Shape;262;p33"/>
          <p:cNvSpPr/>
          <p:nvPr/>
        </p:nvSpPr>
        <p:spPr>
          <a:xfrm>
            <a:off x="4095750" y="2286000"/>
            <a:ext cx="952500" cy="381000"/>
          </a:xfrm>
          <a:prstGeom prst="roundRect">
            <a:avLst>
              <a:gd fmla="val 20000" name="adj"/>
            </a:avLst>
          </a:prstGeom>
          <a:solidFill>
            <a:srgbClr val="FFFFFF"/>
          </a:solidFill>
          <a:ln cap="flat" cmpd="sng" w="9525">
            <a:solidFill>
              <a:srgbClr val="1A1A1A"/>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100">
                <a:solidFill>
                  <a:srgbClr val="000000"/>
                </a:solidFill>
                <a:latin typeface="Lato"/>
                <a:ea typeface="Lato"/>
                <a:cs typeface="Lato"/>
                <a:sym typeface="Lato"/>
              </a:rPr>
              <a:t>KG Search</a:t>
            </a:r>
            <a:endParaRPr sz="1100">
              <a:solidFill>
                <a:srgbClr val="000000"/>
              </a:solidFill>
              <a:latin typeface="Lato"/>
              <a:ea typeface="Lato"/>
              <a:cs typeface="Lato"/>
              <a:sym typeface="Lato"/>
            </a:endParaRPr>
          </a:p>
        </p:txBody>
      </p:sp>
      <p:pic>
        <p:nvPicPr>
          <p:cNvPr id="263" name="Google Shape;263;p33"/>
          <p:cNvPicPr preferRelativeResize="0"/>
          <p:nvPr/>
        </p:nvPicPr>
        <p:blipFill rotWithShape="1">
          <a:blip r:embed="rId4">
            <a:alphaModFix/>
          </a:blip>
          <a:srcRect b="0" l="0" r="0" t="0"/>
          <a:stretch/>
        </p:blipFill>
        <p:spPr>
          <a:xfrm>
            <a:off x="4567238" y="2667000"/>
            <a:ext cx="9600" cy="190500"/>
          </a:xfrm>
          <a:prstGeom prst="rect">
            <a:avLst/>
          </a:prstGeom>
          <a:noFill/>
          <a:ln>
            <a:noFill/>
          </a:ln>
        </p:spPr>
      </p:pic>
      <p:sp>
        <p:nvSpPr>
          <p:cNvPr id="264" name="Google Shape;264;p33"/>
          <p:cNvSpPr/>
          <p:nvPr/>
        </p:nvSpPr>
        <p:spPr>
          <a:xfrm>
            <a:off x="4095750" y="2857500"/>
            <a:ext cx="952500" cy="381000"/>
          </a:xfrm>
          <a:prstGeom prst="roundRect">
            <a:avLst>
              <a:gd fmla="val 20000" name="adj"/>
            </a:avLst>
          </a:prstGeom>
          <a:solidFill>
            <a:srgbClr val="FFFFFF"/>
          </a:solidFill>
          <a:ln cap="flat" cmpd="sng" w="9525">
            <a:solidFill>
              <a:srgbClr val="1A1A1A"/>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100">
                <a:solidFill>
                  <a:srgbClr val="000000"/>
                </a:solidFill>
                <a:latin typeface="Lato"/>
                <a:ea typeface="Lato"/>
                <a:cs typeface="Lato"/>
                <a:sym typeface="Lato"/>
              </a:rPr>
              <a:t>LLM</a:t>
            </a:r>
            <a:endParaRPr sz="1100">
              <a:solidFill>
                <a:srgbClr val="000000"/>
              </a:solidFill>
              <a:latin typeface="Lato"/>
              <a:ea typeface="Lato"/>
              <a:cs typeface="Lato"/>
              <a:sym typeface="Lato"/>
            </a:endParaRPr>
          </a:p>
        </p:txBody>
      </p:sp>
      <p:pic>
        <p:nvPicPr>
          <p:cNvPr id="265" name="Google Shape;265;p33"/>
          <p:cNvPicPr preferRelativeResize="0"/>
          <p:nvPr/>
        </p:nvPicPr>
        <p:blipFill rotWithShape="1">
          <a:blip r:embed="rId4">
            <a:alphaModFix/>
          </a:blip>
          <a:srcRect b="0" l="0" r="0" t="0"/>
          <a:stretch/>
        </p:blipFill>
        <p:spPr>
          <a:xfrm>
            <a:off x="4567238" y="3238500"/>
            <a:ext cx="9600" cy="190500"/>
          </a:xfrm>
          <a:prstGeom prst="rect">
            <a:avLst/>
          </a:prstGeom>
          <a:noFill/>
          <a:ln>
            <a:noFill/>
          </a:ln>
        </p:spPr>
      </p:pic>
      <p:sp>
        <p:nvSpPr>
          <p:cNvPr id="266" name="Google Shape;266;p33"/>
          <p:cNvSpPr/>
          <p:nvPr/>
        </p:nvSpPr>
        <p:spPr>
          <a:xfrm>
            <a:off x="4095750" y="3429000"/>
            <a:ext cx="952500" cy="381000"/>
          </a:xfrm>
          <a:prstGeom prst="roundRect">
            <a:avLst>
              <a:gd fmla="val 20000" name="adj"/>
            </a:avLst>
          </a:prstGeom>
          <a:solidFill>
            <a:srgbClr val="E2E8F0"/>
          </a:solidFill>
          <a:ln cap="flat" cmpd="sng" w="9525">
            <a:solidFill>
              <a:srgbClr val="1A1A1A"/>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100">
                <a:solidFill>
                  <a:srgbClr val="000000"/>
                </a:solidFill>
                <a:latin typeface="Lato"/>
                <a:ea typeface="Lato"/>
                <a:cs typeface="Lato"/>
                <a:sym typeface="Lato"/>
              </a:rPr>
              <a:t>Réponse</a:t>
            </a:r>
            <a:endParaRPr sz="1100">
              <a:solidFill>
                <a:srgbClr val="000000"/>
              </a:solidFill>
              <a:latin typeface="Lato"/>
              <a:ea typeface="Lato"/>
              <a:cs typeface="Lato"/>
              <a:sym typeface="Lato"/>
            </a:endParaRPr>
          </a:p>
        </p:txBody>
      </p:sp>
      <p:sp>
        <p:nvSpPr>
          <p:cNvPr id="267" name="Google Shape;267;p33"/>
          <p:cNvSpPr txBox="1"/>
          <p:nvPr/>
        </p:nvSpPr>
        <p:spPr>
          <a:xfrm>
            <a:off x="3381375" y="4000500"/>
            <a:ext cx="2381400" cy="571500"/>
          </a:xfrm>
          <a:prstGeom prst="rect">
            <a:avLst/>
          </a:prstGeom>
          <a:solidFill>
            <a:srgbClr val="000000">
              <a:alpha val="0"/>
            </a:srgbClr>
          </a:solidFill>
          <a:ln>
            <a:noFill/>
          </a:ln>
        </p:spPr>
        <p:txBody>
          <a:bodyPr anchorCtr="0" anchor="ctr" bIns="47625" lIns="47625" spcFirstLastPara="1" rIns="47625" wrap="square" tIns="47625">
            <a:noAutofit/>
          </a:bodyPr>
          <a:lstStyle/>
          <a:p>
            <a:pPr indent="0" lvl="0" marL="0" rtl="0" algn="ctr">
              <a:spcBef>
                <a:spcPts val="0"/>
              </a:spcBef>
              <a:spcAft>
                <a:spcPts val="0"/>
              </a:spcAft>
              <a:buNone/>
            </a:pPr>
            <a:r>
              <a:rPr lang="en-GB" sz="1000">
                <a:solidFill>
                  <a:srgbClr val="E06666"/>
                </a:solidFill>
                <a:latin typeface="Lato"/>
                <a:ea typeface="Lato"/>
                <a:cs typeface="Lato"/>
                <a:sym typeface="Lato"/>
              </a:rPr>
              <a:t>Même granularité des entités-relations</a:t>
            </a:r>
            <a:endParaRPr sz="1000">
              <a:solidFill>
                <a:srgbClr val="E06666"/>
              </a:solidFill>
              <a:latin typeface="Lato"/>
              <a:ea typeface="Lato"/>
              <a:cs typeface="Lato"/>
              <a:sym typeface="Lato"/>
            </a:endParaRPr>
          </a:p>
          <a:p>
            <a:pPr indent="0" lvl="0" marL="0" rtl="0" algn="ctr">
              <a:spcBef>
                <a:spcPts val="0"/>
              </a:spcBef>
              <a:spcAft>
                <a:spcPts val="0"/>
              </a:spcAft>
              <a:buNone/>
            </a:pPr>
            <a:r>
              <a:rPr lang="en-GB" sz="1000">
                <a:solidFill>
                  <a:srgbClr val="E06666"/>
                </a:solidFill>
                <a:latin typeface="Lato"/>
                <a:ea typeface="Lato"/>
                <a:cs typeface="Lato"/>
                <a:sym typeface="Lato"/>
              </a:rPr>
              <a:t>(difficile pour les requêtes vastes)</a:t>
            </a:r>
            <a:endParaRPr sz="1000">
              <a:solidFill>
                <a:srgbClr val="E06666"/>
              </a:solidFill>
              <a:latin typeface="Lato"/>
              <a:ea typeface="Lato"/>
              <a:cs typeface="Lato"/>
              <a:sym typeface="Lato"/>
            </a:endParaRPr>
          </a:p>
        </p:txBody>
      </p:sp>
      <p:sp>
        <p:nvSpPr>
          <p:cNvPr id="268" name="Google Shape;268;p33"/>
          <p:cNvSpPr/>
          <p:nvPr/>
        </p:nvSpPr>
        <p:spPr>
          <a:xfrm>
            <a:off x="6905625" y="1714500"/>
            <a:ext cx="952500" cy="381000"/>
          </a:xfrm>
          <a:prstGeom prst="roundRect">
            <a:avLst>
              <a:gd fmla="val 20000" name="adj"/>
            </a:avLst>
          </a:prstGeom>
          <a:solidFill>
            <a:srgbClr val="FFFFFF"/>
          </a:solidFill>
          <a:ln cap="flat" cmpd="sng" w="9525">
            <a:solidFill>
              <a:srgbClr val="1A9988"/>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100">
                <a:solidFill>
                  <a:srgbClr val="000000"/>
                </a:solidFill>
                <a:latin typeface="Lato"/>
                <a:ea typeface="Lato"/>
                <a:cs typeface="Lato"/>
                <a:sym typeface="Lato"/>
              </a:rPr>
              <a:t>Requête</a:t>
            </a:r>
            <a:endParaRPr sz="1100">
              <a:solidFill>
                <a:srgbClr val="000000"/>
              </a:solidFill>
              <a:latin typeface="Lato"/>
              <a:ea typeface="Lato"/>
              <a:cs typeface="Lato"/>
              <a:sym typeface="Lato"/>
            </a:endParaRPr>
          </a:p>
        </p:txBody>
      </p:sp>
      <p:pic>
        <p:nvPicPr>
          <p:cNvPr id="269" name="Google Shape;269;p33"/>
          <p:cNvPicPr preferRelativeResize="0"/>
          <p:nvPr/>
        </p:nvPicPr>
        <p:blipFill rotWithShape="1">
          <a:blip r:embed="rId5">
            <a:alphaModFix/>
          </a:blip>
          <a:srcRect b="0" l="0" r="0" t="0"/>
          <a:stretch/>
        </p:blipFill>
        <p:spPr>
          <a:xfrm>
            <a:off x="6757988" y="2090738"/>
            <a:ext cx="1247700" cy="200100"/>
          </a:xfrm>
          <a:prstGeom prst="rect">
            <a:avLst/>
          </a:prstGeom>
          <a:noFill/>
          <a:ln>
            <a:noFill/>
          </a:ln>
        </p:spPr>
      </p:pic>
      <p:sp>
        <p:nvSpPr>
          <p:cNvPr id="270" name="Google Shape;270;p33"/>
          <p:cNvSpPr/>
          <p:nvPr/>
        </p:nvSpPr>
        <p:spPr>
          <a:xfrm>
            <a:off x="6238875" y="2286000"/>
            <a:ext cx="1047900" cy="333300"/>
          </a:xfrm>
          <a:prstGeom prst="roundRect">
            <a:avLst>
              <a:gd fmla="val 17142" name="adj"/>
            </a:avLst>
          </a:prstGeom>
          <a:solidFill>
            <a:srgbClr val="F0FDF4"/>
          </a:solidFill>
          <a:ln cap="flat" cmpd="sng" w="9525">
            <a:solidFill>
              <a:srgbClr val="1A9988"/>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900">
                <a:solidFill>
                  <a:srgbClr val="166534"/>
                </a:solidFill>
                <a:latin typeface="Lato"/>
                <a:ea typeface="Lato"/>
                <a:cs typeface="Lato"/>
                <a:sym typeface="Lato"/>
              </a:rPr>
              <a:t>Global Knowledge</a:t>
            </a:r>
            <a:endParaRPr sz="900">
              <a:solidFill>
                <a:srgbClr val="166534"/>
              </a:solidFill>
              <a:latin typeface="Lato"/>
              <a:ea typeface="Lato"/>
              <a:cs typeface="Lato"/>
              <a:sym typeface="Lato"/>
            </a:endParaRPr>
          </a:p>
        </p:txBody>
      </p:sp>
      <p:sp>
        <p:nvSpPr>
          <p:cNvPr id="271" name="Google Shape;271;p33"/>
          <p:cNvSpPr/>
          <p:nvPr/>
        </p:nvSpPr>
        <p:spPr>
          <a:xfrm>
            <a:off x="7477125" y="2286000"/>
            <a:ext cx="1047900" cy="333300"/>
          </a:xfrm>
          <a:prstGeom prst="roundRect">
            <a:avLst>
              <a:gd fmla="val 17142" name="adj"/>
            </a:avLst>
          </a:prstGeom>
          <a:solidFill>
            <a:srgbClr val="F0FDF4"/>
          </a:solidFill>
          <a:ln cap="flat" cmpd="sng" w="9525">
            <a:solidFill>
              <a:srgbClr val="1A9988"/>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900">
                <a:solidFill>
                  <a:srgbClr val="166534"/>
                </a:solidFill>
                <a:latin typeface="Lato"/>
                <a:ea typeface="Lato"/>
                <a:cs typeface="Lato"/>
                <a:sym typeface="Lato"/>
              </a:rPr>
              <a:t>Local Knowledge</a:t>
            </a:r>
            <a:endParaRPr sz="900">
              <a:solidFill>
                <a:srgbClr val="166534"/>
              </a:solidFill>
              <a:latin typeface="Lato"/>
              <a:ea typeface="Lato"/>
              <a:cs typeface="Lato"/>
              <a:sym typeface="Lato"/>
            </a:endParaRPr>
          </a:p>
        </p:txBody>
      </p:sp>
      <p:sp>
        <p:nvSpPr>
          <p:cNvPr id="272" name="Google Shape;272;p33"/>
          <p:cNvSpPr/>
          <p:nvPr/>
        </p:nvSpPr>
        <p:spPr>
          <a:xfrm>
            <a:off x="6810375" y="2667000"/>
            <a:ext cx="1143000" cy="285900"/>
          </a:xfrm>
          <a:prstGeom prst="roundRect">
            <a:avLst>
              <a:gd fmla="val 13333" name="adj"/>
            </a:avLst>
          </a:prstGeom>
          <a:solidFill>
            <a:srgbClr val="1A9988"/>
          </a:solidFill>
          <a:ln cap="flat" cmpd="sng" w="9525">
            <a:solidFill>
              <a:srgbClr val="1A9988"/>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GB" sz="900">
                <a:solidFill>
                  <a:srgbClr val="FFFFFF"/>
                </a:solidFill>
                <a:latin typeface="Lato"/>
                <a:ea typeface="Lato"/>
                <a:cs typeface="Lato"/>
                <a:sym typeface="Lato"/>
              </a:rPr>
              <a:t>Knowledge Bridge</a:t>
            </a:r>
            <a:endParaRPr b="1" sz="900">
              <a:solidFill>
                <a:srgbClr val="FFFFFF"/>
              </a:solidFill>
              <a:latin typeface="Lato"/>
              <a:ea typeface="Lato"/>
              <a:cs typeface="Lato"/>
              <a:sym typeface="Lato"/>
            </a:endParaRPr>
          </a:p>
        </p:txBody>
      </p:sp>
      <p:pic>
        <p:nvPicPr>
          <p:cNvPr id="273" name="Google Shape;273;p33"/>
          <p:cNvPicPr preferRelativeResize="0"/>
          <p:nvPr/>
        </p:nvPicPr>
        <p:blipFill rotWithShape="1">
          <a:blip r:embed="rId6">
            <a:alphaModFix/>
          </a:blip>
          <a:srcRect b="0" l="0" r="0" t="0"/>
          <a:stretch/>
        </p:blipFill>
        <p:spPr>
          <a:xfrm>
            <a:off x="6762750" y="2614613"/>
            <a:ext cx="1238400" cy="57300"/>
          </a:xfrm>
          <a:prstGeom prst="rect">
            <a:avLst/>
          </a:prstGeom>
          <a:noFill/>
          <a:ln>
            <a:noFill/>
          </a:ln>
        </p:spPr>
      </p:pic>
      <p:pic>
        <p:nvPicPr>
          <p:cNvPr id="274" name="Google Shape;274;p33"/>
          <p:cNvPicPr preferRelativeResize="0"/>
          <p:nvPr/>
        </p:nvPicPr>
        <p:blipFill rotWithShape="1">
          <a:blip r:embed="rId7">
            <a:alphaModFix/>
          </a:blip>
          <a:srcRect b="0" l="0" r="0" t="0"/>
          <a:stretch/>
        </p:blipFill>
        <p:spPr>
          <a:xfrm>
            <a:off x="7377113" y="2952750"/>
            <a:ext cx="9600" cy="190500"/>
          </a:xfrm>
          <a:prstGeom prst="rect">
            <a:avLst/>
          </a:prstGeom>
          <a:noFill/>
          <a:ln>
            <a:noFill/>
          </a:ln>
        </p:spPr>
      </p:pic>
      <p:sp>
        <p:nvSpPr>
          <p:cNvPr id="275" name="Google Shape;275;p33"/>
          <p:cNvSpPr/>
          <p:nvPr/>
        </p:nvSpPr>
        <p:spPr>
          <a:xfrm>
            <a:off x="6905625" y="3143250"/>
            <a:ext cx="952500" cy="381000"/>
          </a:xfrm>
          <a:prstGeom prst="roundRect">
            <a:avLst>
              <a:gd fmla="val 20000" name="adj"/>
            </a:avLst>
          </a:prstGeom>
          <a:solidFill>
            <a:srgbClr val="FFFFFF"/>
          </a:solidFill>
          <a:ln cap="flat" cmpd="sng" w="9525">
            <a:solidFill>
              <a:srgbClr val="1A9988"/>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100">
                <a:solidFill>
                  <a:srgbClr val="000000"/>
                </a:solidFill>
                <a:latin typeface="Lato"/>
                <a:ea typeface="Lato"/>
                <a:cs typeface="Lato"/>
                <a:sym typeface="Lato"/>
              </a:rPr>
              <a:t>LLM</a:t>
            </a:r>
            <a:endParaRPr sz="1100">
              <a:solidFill>
                <a:srgbClr val="000000"/>
              </a:solidFill>
              <a:latin typeface="Lato"/>
              <a:ea typeface="Lato"/>
              <a:cs typeface="Lato"/>
              <a:sym typeface="Lato"/>
            </a:endParaRPr>
          </a:p>
        </p:txBody>
      </p:sp>
      <p:pic>
        <p:nvPicPr>
          <p:cNvPr id="276" name="Google Shape;276;p33"/>
          <p:cNvPicPr preferRelativeResize="0"/>
          <p:nvPr/>
        </p:nvPicPr>
        <p:blipFill rotWithShape="1">
          <a:blip r:embed="rId7">
            <a:alphaModFix/>
          </a:blip>
          <a:srcRect b="0" l="0" r="0" t="0"/>
          <a:stretch/>
        </p:blipFill>
        <p:spPr>
          <a:xfrm>
            <a:off x="7377113" y="3524250"/>
            <a:ext cx="9600" cy="190500"/>
          </a:xfrm>
          <a:prstGeom prst="rect">
            <a:avLst/>
          </a:prstGeom>
          <a:noFill/>
          <a:ln>
            <a:noFill/>
          </a:ln>
        </p:spPr>
      </p:pic>
      <p:sp>
        <p:nvSpPr>
          <p:cNvPr id="277" name="Google Shape;277;p33"/>
          <p:cNvSpPr/>
          <p:nvPr/>
        </p:nvSpPr>
        <p:spPr>
          <a:xfrm>
            <a:off x="6905625" y="3714750"/>
            <a:ext cx="952500" cy="381000"/>
          </a:xfrm>
          <a:prstGeom prst="roundRect">
            <a:avLst>
              <a:gd fmla="val 20000" name="adj"/>
            </a:avLst>
          </a:prstGeom>
          <a:solidFill>
            <a:srgbClr val="DCFCE7"/>
          </a:solidFill>
          <a:ln cap="flat" cmpd="sng" w="9525">
            <a:solidFill>
              <a:srgbClr val="1A9988"/>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100">
                <a:solidFill>
                  <a:srgbClr val="000000"/>
                </a:solidFill>
                <a:latin typeface="Lato"/>
                <a:ea typeface="Lato"/>
                <a:cs typeface="Lato"/>
                <a:sym typeface="Lato"/>
              </a:rPr>
              <a:t>Réponse</a:t>
            </a:r>
            <a:endParaRPr sz="1100">
              <a:solidFill>
                <a:srgbClr val="000000"/>
              </a:solidFill>
              <a:latin typeface="Lato"/>
              <a:ea typeface="Lato"/>
              <a:cs typeface="Lato"/>
              <a:sym typeface="Lato"/>
            </a:endParaRPr>
          </a:p>
        </p:txBody>
      </p:sp>
      <p:sp>
        <p:nvSpPr>
          <p:cNvPr id="278" name="Google Shape;278;p33"/>
          <p:cNvSpPr txBox="1"/>
          <p:nvPr/>
        </p:nvSpPr>
        <p:spPr>
          <a:xfrm>
            <a:off x="6191250" y="4238625"/>
            <a:ext cx="2381400" cy="381000"/>
          </a:xfrm>
          <a:prstGeom prst="rect">
            <a:avLst/>
          </a:prstGeom>
          <a:solidFill>
            <a:srgbClr val="000000">
              <a:alpha val="0"/>
            </a:srgbClr>
          </a:solidFill>
          <a:ln>
            <a:noFill/>
          </a:ln>
        </p:spPr>
        <p:txBody>
          <a:bodyPr anchorCtr="0" anchor="ctr" bIns="47625" lIns="47625" spcFirstLastPara="1" rIns="47625" wrap="square" tIns="47625">
            <a:noAutofit/>
          </a:bodyPr>
          <a:lstStyle/>
          <a:p>
            <a:pPr indent="0" lvl="0" marL="0" rtl="0" algn="ctr">
              <a:spcBef>
                <a:spcPts val="0"/>
              </a:spcBef>
              <a:spcAft>
                <a:spcPts val="0"/>
              </a:spcAft>
              <a:buNone/>
            </a:pPr>
            <a:r>
              <a:rPr b="1" lang="en-GB" sz="1200">
                <a:solidFill>
                  <a:srgbClr val="1A9988"/>
                </a:solidFill>
                <a:latin typeface="Lato"/>
                <a:ea typeface="Lato"/>
                <a:cs typeface="Lato"/>
                <a:sym typeface="Lato"/>
              </a:rPr>
              <a:t>Nouveauté de HiRAG</a:t>
            </a:r>
            <a:endParaRPr b="1" sz="1200">
              <a:solidFill>
                <a:srgbClr val="1A9988"/>
              </a:solidFill>
              <a:latin typeface="Lato"/>
              <a:ea typeface="Lato"/>
              <a:cs typeface="Lato"/>
              <a:sym typeface="Lato"/>
            </a:endParaRPr>
          </a:p>
        </p:txBody>
      </p:sp>
      <p:cxnSp>
        <p:nvCxnSpPr>
          <p:cNvPr id="279" name="Google Shape;279;p33"/>
          <p:cNvCxnSpPr>
            <a:stCxn id="273" idx="1"/>
            <a:endCxn id="275" idx="1"/>
          </p:cNvCxnSpPr>
          <p:nvPr/>
        </p:nvCxnSpPr>
        <p:spPr>
          <a:xfrm>
            <a:off x="6762750" y="2643263"/>
            <a:ext cx="142800" cy="690600"/>
          </a:xfrm>
          <a:prstGeom prst="curvedConnector3">
            <a:avLst>
              <a:gd fmla="val -184384" name="adj1"/>
            </a:avLst>
          </a:prstGeom>
          <a:noFill/>
          <a:ln cap="flat" cmpd="sng" w="9525">
            <a:solidFill>
              <a:schemeClr val="dk1"/>
            </a:solidFill>
            <a:prstDash val="dash"/>
            <a:round/>
            <a:headEnd len="med" w="med" type="none"/>
            <a:tailEnd len="med" w="med" type="stealth"/>
          </a:ln>
        </p:spPr>
      </p:cxnSp>
      <p:cxnSp>
        <p:nvCxnSpPr>
          <p:cNvPr id="280" name="Google Shape;280;p33"/>
          <p:cNvCxnSpPr>
            <a:stCxn id="273" idx="3"/>
            <a:endCxn id="275" idx="3"/>
          </p:cNvCxnSpPr>
          <p:nvPr/>
        </p:nvCxnSpPr>
        <p:spPr>
          <a:xfrm flipH="1">
            <a:off x="7858050" y="2643263"/>
            <a:ext cx="143100" cy="690600"/>
          </a:xfrm>
          <a:prstGeom prst="curvedConnector3">
            <a:avLst>
              <a:gd fmla="val -166405" name="adj1"/>
            </a:avLst>
          </a:prstGeom>
          <a:noFill/>
          <a:ln cap="flat" cmpd="sng" w="9525">
            <a:solidFill>
              <a:schemeClr val="dk1"/>
            </a:solidFill>
            <a:prstDash val="dash"/>
            <a:round/>
            <a:headEnd len="med" w="med" type="none"/>
            <a:tailEnd len="med" w="med" type="stealth"/>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4"/>
          <p:cNvSpPr txBox="1"/>
          <p:nvPr>
            <p:ph type="title"/>
          </p:nvPr>
        </p:nvSpPr>
        <p:spPr>
          <a:xfrm>
            <a:off x="727650" y="66960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Problèmes de HiRAG</a:t>
            </a:r>
            <a:endParaRPr/>
          </a:p>
        </p:txBody>
      </p:sp>
      <p:sp>
        <p:nvSpPr>
          <p:cNvPr id="286" name="Google Shape;286;p34"/>
          <p:cNvSpPr txBox="1"/>
          <p:nvPr>
            <p:ph idx="1" type="body"/>
          </p:nvPr>
        </p:nvSpPr>
        <p:spPr>
          <a:xfrm>
            <a:off x="1271350" y="1738950"/>
            <a:ext cx="5020800" cy="442800"/>
          </a:xfrm>
          <a:prstGeom prst="rect">
            <a:avLst/>
          </a:prstGeom>
        </p:spPr>
        <p:txBody>
          <a:bodyPr anchorCtr="0" anchor="ctr" bIns="91425" lIns="91425" spcFirstLastPara="1" rIns="91425" wrap="square" tIns="91425">
            <a:noAutofit/>
          </a:bodyPr>
          <a:lstStyle/>
          <a:p>
            <a:pPr indent="0" lvl="0" marL="0" rtl="0" algn="l">
              <a:spcBef>
                <a:spcPts val="0"/>
              </a:spcBef>
              <a:spcAft>
                <a:spcPts val="1600"/>
              </a:spcAft>
              <a:buNone/>
            </a:pPr>
            <a:r>
              <a:rPr lang="en-GB" sz="1200"/>
              <a:t>Les chunks pertinents </a:t>
            </a:r>
            <a:r>
              <a:rPr b="1" lang="en-GB" sz="1200"/>
              <a:t>entiers</a:t>
            </a:r>
            <a:r>
              <a:rPr lang="en-GB" sz="1200"/>
              <a:t> sont passés à LLM </a:t>
            </a:r>
            <a:endParaRPr sz="1200"/>
          </a:p>
        </p:txBody>
      </p:sp>
      <p:sp>
        <p:nvSpPr>
          <p:cNvPr id="287" name="Google Shape;287;p34"/>
          <p:cNvSpPr txBox="1"/>
          <p:nvPr>
            <p:ph idx="1" type="body"/>
          </p:nvPr>
        </p:nvSpPr>
        <p:spPr>
          <a:xfrm>
            <a:off x="1271809" y="2788225"/>
            <a:ext cx="6477000" cy="446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GB" sz="1200"/>
              <a:t>Trouver des entités locales pertinentes avec la </a:t>
            </a:r>
            <a:r>
              <a:rPr b="1" lang="en-GB" sz="1200"/>
              <a:t>recherche dense </a:t>
            </a:r>
            <a:r>
              <a:rPr lang="en-GB" sz="1200"/>
              <a:t>seulement, pas de </a:t>
            </a:r>
            <a:r>
              <a:rPr b="1" lang="en-GB" sz="1200"/>
              <a:t>reranker</a:t>
            </a:r>
            <a:endParaRPr b="1" sz="1200"/>
          </a:p>
        </p:txBody>
      </p:sp>
      <p:sp>
        <p:nvSpPr>
          <p:cNvPr id="288" name="Google Shape;288;p34"/>
          <p:cNvSpPr/>
          <p:nvPr/>
        </p:nvSpPr>
        <p:spPr>
          <a:xfrm>
            <a:off x="807850" y="1718175"/>
            <a:ext cx="463500" cy="463500"/>
          </a:xfrm>
          <a:prstGeom prst="rect">
            <a:avLst/>
          </a:prstGeom>
          <a:solidFill>
            <a:schemeClr val="dk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solidFill>
                  <a:schemeClr val="lt1"/>
                </a:solidFill>
                <a:latin typeface="Lato"/>
                <a:ea typeface="Lato"/>
                <a:cs typeface="Lato"/>
                <a:sym typeface="Lato"/>
              </a:rPr>
              <a:t>1</a:t>
            </a:r>
            <a:endParaRPr b="1" sz="1600">
              <a:solidFill>
                <a:schemeClr val="lt1"/>
              </a:solidFill>
              <a:latin typeface="Lato"/>
              <a:ea typeface="Lato"/>
              <a:cs typeface="Lato"/>
              <a:sym typeface="Lato"/>
            </a:endParaRPr>
          </a:p>
        </p:txBody>
      </p:sp>
      <p:sp>
        <p:nvSpPr>
          <p:cNvPr id="289" name="Google Shape;289;p34"/>
          <p:cNvSpPr/>
          <p:nvPr/>
        </p:nvSpPr>
        <p:spPr>
          <a:xfrm>
            <a:off x="807850" y="2756275"/>
            <a:ext cx="463500" cy="463500"/>
          </a:xfrm>
          <a:prstGeom prst="rect">
            <a:avLst/>
          </a:prstGeom>
          <a:solidFill>
            <a:schemeClr val="dk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solidFill>
                  <a:schemeClr val="lt1"/>
                </a:solidFill>
                <a:latin typeface="Lato"/>
                <a:ea typeface="Lato"/>
                <a:cs typeface="Lato"/>
                <a:sym typeface="Lato"/>
              </a:rPr>
              <a:t>2</a:t>
            </a:r>
            <a:endParaRPr b="1" sz="1600">
              <a:solidFill>
                <a:schemeClr val="lt1"/>
              </a:solidFill>
              <a:latin typeface="Lato"/>
              <a:ea typeface="Lato"/>
              <a:cs typeface="Lato"/>
              <a:sym typeface="Lato"/>
            </a:endParaRPr>
          </a:p>
        </p:txBody>
      </p:sp>
      <p:sp>
        <p:nvSpPr>
          <p:cNvPr id="290" name="Google Shape;290;p34"/>
          <p:cNvSpPr/>
          <p:nvPr/>
        </p:nvSpPr>
        <p:spPr>
          <a:xfrm>
            <a:off x="807850" y="3794300"/>
            <a:ext cx="463500" cy="463500"/>
          </a:xfrm>
          <a:prstGeom prst="rect">
            <a:avLst/>
          </a:prstGeom>
          <a:solidFill>
            <a:schemeClr val="dk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solidFill>
                  <a:schemeClr val="lt1"/>
                </a:solidFill>
                <a:latin typeface="Lato"/>
                <a:ea typeface="Lato"/>
                <a:cs typeface="Lato"/>
                <a:sym typeface="Lato"/>
              </a:rPr>
              <a:t>3</a:t>
            </a:r>
            <a:endParaRPr b="1" sz="1600">
              <a:solidFill>
                <a:schemeClr val="lt1"/>
              </a:solidFill>
              <a:latin typeface="Lato"/>
              <a:ea typeface="Lato"/>
              <a:cs typeface="Lato"/>
              <a:sym typeface="Lato"/>
            </a:endParaRPr>
          </a:p>
        </p:txBody>
      </p:sp>
      <p:sp>
        <p:nvSpPr>
          <p:cNvPr id="291" name="Google Shape;291;p34"/>
          <p:cNvSpPr txBox="1"/>
          <p:nvPr/>
        </p:nvSpPr>
        <p:spPr>
          <a:xfrm>
            <a:off x="1671170" y="1964611"/>
            <a:ext cx="3246600" cy="523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GB" sz="1100">
                <a:solidFill>
                  <a:srgbClr val="E06666"/>
                </a:solidFill>
                <a:latin typeface="Lato"/>
                <a:ea typeface="Lato"/>
                <a:cs typeface="Lato"/>
                <a:sym typeface="Lato"/>
              </a:rPr>
              <a:t>Non mentionné dans l'article comme faisant partie de l’implémentation</a:t>
            </a:r>
            <a:endParaRPr sz="1100">
              <a:solidFill>
                <a:srgbClr val="E06666"/>
              </a:solidFill>
              <a:latin typeface="Lato"/>
              <a:ea typeface="Lato"/>
              <a:cs typeface="Lato"/>
              <a:sym typeface="Lato"/>
            </a:endParaRPr>
          </a:p>
        </p:txBody>
      </p:sp>
      <p:pic>
        <p:nvPicPr>
          <p:cNvPr id="292" name="Google Shape;292;p34"/>
          <p:cNvPicPr preferRelativeResize="0"/>
          <p:nvPr/>
        </p:nvPicPr>
        <p:blipFill>
          <a:blip r:embed="rId3">
            <a:alphaModFix/>
          </a:blip>
          <a:stretch>
            <a:fillRect/>
          </a:stretch>
        </p:blipFill>
        <p:spPr>
          <a:xfrm>
            <a:off x="5242475" y="1443175"/>
            <a:ext cx="2253224" cy="1128576"/>
          </a:xfrm>
          <a:prstGeom prst="rect">
            <a:avLst/>
          </a:prstGeom>
          <a:noFill/>
          <a:ln>
            <a:noFill/>
          </a:ln>
        </p:spPr>
      </p:pic>
      <p:pic>
        <p:nvPicPr>
          <p:cNvPr id="293" name="Google Shape;293;p34"/>
          <p:cNvPicPr preferRelativeResize="0"/>
          <p:nvPr/>
        </p:nvPicPr>
        <p:blipFill>
          <a:blip r:embed="rId4">
            <a:alphaModFix/>
          </a:blip>
          <a:stretch>
            <a:fillRect/>
          </a:stretch>
        </p:blipFill>
        <p:spPr>
          <a:xfrm>
            <a:off x="1325173" y="2003175"/>
            <a:ext cx="369280" cy="369300"/>
          </a:xfrm>
          <a:prstGeom prst="rect">
            <a:avLst/>
          </a:prstGeom>
          <a:noFill/>
          <a:ln>
            <a:noFill/>
          </a:ln>
        </p:spPr>
      </p:pic>
      <p:sp>
        <p:nvSpPr>
          <p:cNvPr id="294" name="Google Shape;294;p34"/>
          <p:cNvSpPr txBox="1"/>
          <p:nvPr/>
        </p:nvSpPr>
        <p:spPr>
          <a:xfrm>
            <a:off x="1271350" y="3841400"/>
            <a:ext cx="6330900" cy="369300"/>
          </a:xfrm>
          <a:prstGeom prst="rect">
            <a:avLst/>
          </a:prstGeom>
          <a:noFill/>
          <a:ln>
            <a:noFill/>
          </a:ln>
        </p:spPr>
        <p:txBody>
          <a:bodyPr anchorCtr="0" anchor="ctr" bIns="91425" lIns="91425" spcFirstLastPara="1" rIns="91425" wrap="square" tIns="91425">
            <a:spAutoFit/>
          </a:bodyPr>
          <a:lstStyle/>
          <a:p>
            <a:pPr indent="0" lvl="0" marL="0" rtl="0" algn="l">
              <a:lnSpc>
                <a:spcPct val="115000"/>
              </a:lnSpc>
              <a:spcBef>
                <a:spcPts val="0"/>
              </a:spcBef>
              <a:spcAft>
                <a:spcPts val="1600"/>
              </a:spcAft>
              <a:buNone/>
            </a:pPr>
            <a:r>
              <a:rPr lang="en-GB" sz="1200">
                <a:solidFill>
                  <a:schemeClr val="accent1"/>
                </a:solidFill>
                <a:latin typeface="Lato"/>
                <a:ea typeface="Lato"/>
                <a:cs typeface="Lato"/>
                <a:sym typeface="Lato"/>
              </a:rPr>
              <a:t>Bridge entre les entités locales et les communautés globales n’est pas </a:t>
            </a:r>
            <a:r>
              <a:rPr b="1" lang="en-GB" sz="1200">
                <a:solidFill>
                  <a:schemeClr val="accent1"/>
                </a:solidFill>
                <a:latin typeface="Lato"/>
                <a:ea typeface="Lato"/>
                <a:cs typeface="Lato"/>
                <a:sym typeface="Lato"/>
              </a:rPr>
              <a:t>query-aware</a:t>
            </a:r>
            <a:endParaRPr b="1" sz="1200">
              <a:solidFill>
                <a:schemeClr val="accent1"/>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5"/>
          <p:cNvSpPr txBox="1"/>
          <p:nvPr>
            <p:ph type="title"/>
          </p:nvPr>
        </p:nvSpPr>
        <p:spPr>
          <a:xfrm>
            <a:off x="727800" y="688650"/>
            <a:ext cx="76884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Saturation du contexte du LLM</a:t>
            </a:r>
            <a:endParaRPr/>
          </a:p>
        </p:txBody>
      </p:sp>
      <p:sp>
        <p:nvSpPr>
          <p:cNvPr id="300" name="Google Shape;300;p35"/>
          <p:cNvSpPr txBox="1"/>
          <p:nvPr/>
        </p:nvSpPr>
        <p:spPr>
          <a:xfrm>
            <a:off x="424450" y="1316275"/>
            <a:ext cx="22500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t/>
            </a:r>
            <a:endParaRPr b="1" sz="1300">
              <a:solidFill>
                <a:srgbClr val="E06666"/>
              </a:solidFill>
              <a:latin typeface="Lato"/>
              <a:ea typeface="Lato"/>
              <a:cs typeface="Lato"/>
              <a:sym typeface="Lato"/>
            </a:endParaRPr>
          </a:p>
        </p:txBody>
      </p:sp>
      <p:sp>
        <p:nvSpPr>
          <p:cNvPr id="301" name="Google Shape;301;p35"/>
          <p:cNvSpPr txBox="1"/>
          <p:nvPr/>
        </p:nvSpPr>
        <p:spPr>
          <a:xfrm>
            <a:off x="727800" y="1245938"/>
            <a:ext cx="81123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300">
                <a:solidFill>
                  <a:schemeClr val="accent1"/>
                </a:solidFill>
                <a:latin typeface="Lato"/>
                <a:ea typeface="Lato"/>
                <a:cs typeface="Lato"/>
                <a:sym typeface="Lato"/>
              </a:rPr>
              <a:t>Solution</a:t>
            </a:r>
            <a:r>
              <a:rPr lang="en-GB" sz="1300">
                <a:solidFill>
                  <a:schemeClr val="accent1"/>
                </a:solidFill>
                <a:latin typeface="Lato"/>
                <a:ea typeface="Lato"/>
                <a:cs typeface="Lato"/>
                <a:sym typeface="Lato"/>
              </a:rPr>
              <a:t> : séparer le chunk en phrases/fenêtres (selon la punctuation and </a:t>
            </a:r>
            <a:r>
              <a:rPr b="1" lang="en-GB" sz="1300">
                <a:solidFill>
                  <a:schemeClr val="accent1"/>
                </a:solidFill>
                <a:latin typeface="Courier New"/>
                <a:ea typeface="Courier New"/>
                <a:cs typeface="Courier New"/>
                <a:sym typeface="Courier New"/>
              </a:rPr>
              <a:t>\n</a:t>
            </a:r>
            <a:r>
              <a:rPr lang="en-GB" sz="1300">
                <a:solidFill>
                  <a:schemeClr val="accent1"/>
                </a:solidFill>
                <a:latin typeface="Lato"/>
                <a:ea typeface="Lato"/>
                <a:cs typeface="Lato"/>
                <a:sym typeface="Lato"/>
              </a:rPr>
              <a:t>), calculer le score pour chaque phrase, choisir une fenêtre par chunk</a:t>
            </a:r>
            <a:endParaRPr sz="1300">
              <a:solidFill>
                <a:schemeClr val="accent1"/>
              </a:solidFill>
              <a:latin typeface="Lato"/>
              <a:ea typeface="Lato"/>
              <a:cs typeface="Lato"/>
              <a:sym typeface="Lato"/>
            </a:endParaRPr>
          </a:p>
        </p:txBody>
      </p:sp>
      <p:sp>
        <p:nvSpPr>
          <p:cNvPr id="302" name="Google Shape;302;p35"/>
          <p:cNvSpPr txBox="1"/>
          <p:nvPr/>
        </p:nvSpPr>
        <p:spPr>
          <a:xfrm>
            <a:off x="2231475" y="1769125"/>
            <a:ext cx="4441800" cy="3849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1200"/>
              </a:spcBef>
              <a:spcAft>
                <a:spcPts val="1200"/>
              </a:spcAft>
              <a:buNone/>
            </a:pPr>
            <a:r>
              <a:rPr b="1" lang="en-GB" sz="1300">
                <a:solidFill>
                  <a:schemeClr val="accent1"/>
                </a:solidFill>
                <a:latin typeface="Lato"/>
                <a:ea typeface="Lato"/>
                <a:cs typeface="Lato"/>
                <a:sym typeface="Lato"/>
              </a:rPr>
              <a:t>Stratégie de chevauchement avec la requête</a:t>
            </a:r>
            <a:endParaRPr b="1" sz="1300">
              <a:solidFill>
                <a:schemeClr val="accent1"/>
              </a:solidFill>
              <a:latin typeface="Lato"/>
              <a:ea typeface="Lato"/>
              <a:cs typeface="Lato"/>
              <a:sym typeface="Lato"/>
            </a:endParaRPr>
          </a:p>
        </p:txBody>
      </p:sp>
      <p:pic>
        <p:nvPicPr>
          <p:cNvPr descr="{&quot;font&quot;:{&quot;size&quot;:28.5,&quot;color&quot;:&quot;#000000&quot;,&quot;family&quot;:&quot;Arial&quot;},&quot;code&quot;:&quot;$$Q$$&quot;,&quot;aid&quot;:null,&quot;backgroundColorModified&quot;:false,&quot;type&quot;:&quot;$$&quot;,&quot;backgroundColor&quot;:&quot;#FFFFFF&quot;,&quot;id&quot;:&quot;1&quot;,&quot;ts&quot;:1779528155140,&quot;cs&quot;:&quot;77uMgOvRl4TFx0SukTHpPQ==&quot;,&quot;size&quot;:{&quot;width&quot;:31.92638818897636,&quot;height&quot;:40.40944881889764}}" id="303" name="Google Shape;303;p35"/>
          <p:cNvPicPr preferRelativeResize="0"/>
          <p:nvPr/>
        </p:nvPicPr>
        <p:blipFill>
          <a:blip r:embed="rId3">
            <a:alphaModFix/>
          </a:blip>
          <a:stretch>
            <a:fillRect/>
          </a:stretch>
        </p:blipFill>
        <p:spPr>
          <a:xfrm>
            <a:off x="2986074" y="3897412"/>
            <a:ext cx="142975" cy="180975"/>
          </a:xfrm>
          <a:prstGeom prst="rect">
            <a:avLst/>
          </a:prstGeom>
          <a:noFill/>
          <a:ln>
            <a:noFill/>
          </a:ln>
        </p:spPr>
      </p:pic>
      <p:pic>
        <p:nvPicPr>
          <p:cNvPr descr="{&quot;backgroundColor&quot;:&quot;#FFFFFF&quot;,&quot;type&quot;:&quot;$$&quot;,&quot;backgroundColorModified&quot;:false,&quot;id&quot;:&quot;2&quot;,&quot;code&quot;:&quot;$$T\\left(W\\right)$$&quot;,&quot;aid&quot;:null,&quot;font&quot;:{&quot;color&quot;:&quot;#000000&quot;,&quot;family&quot;:&quot;Arial&quot;,&quot;size&quot;:28.5},&quot;ts&quot;:1779528170082,&quot;cs&quot;:&quot;wxe8g7cc9TmWi/O28WTBZQ==&quot;,&quot;size&quot;:{&quot;width&quot;:113.83333333333333,&quot;height&quot;:44.666666666666664}}" id="304" name="Google Shape;304;p35"/>
          <p:cNvPicPr preferRelativeResize="0"/>
          <p:nvPr/>
        </p:nvPicPr>
        <p:blipFill>
          <a:blip r:embed="rId4">
            <a:alphaModFix/>
          </a:blip>
          <a:stretch>
            <a:fillRect/>
          </a:stretch>
        </p:blipFill>
        <p:spPr>
          <a:xfrm>
            <a:off x="2674450" y="4106512"/>
            <a:ext cx="460286" cy="180000"/>
          </a:xfrm>
          <a:prstGeom prst="rect">
            <a:avLst/>
          </a:prstGeom>
          <a:noFill/>
          <a:ln>
            <a:noFill/>
          </a:ln>
        </p:spPr>
      </p:pic>
      <p:pic>
        <p:nvPicPr>
          <p:cNvPr descr="{&quot;aid&quot;:null,&quot;code&quot;:&quot;$$W$$&quot;,&quot;id&quot;:&quot;3&quot;,&quot;backgroundColorModified&quot;:false,&quot;font&quot;:{&quot;family&quot;:&quot;Arial&quot;,&quot;size&quot;:57.5,&quot;color&quot;:&quot;#000000&quot;},&quot;backgroundColor&quot;:&quot;#FFFFFF&quot;,&quot;type&quot;:&quot;$$&quot;,&quot;ts&quot;:1779528194346,&quot;cs&quot;:&quot;ZBAg0X5YVMoke6viRGfJNg==&quot;,&quot;size&quot;:{&quot;width&quot;:89.82945196850397,&quot;height&quot;:63.58793385826772}}" id="305" name="Google Shape;305;p35"/>
          <p:cNvPicPr preferRelativeResize="0"/>
          <p:nvPr/>
        </p:nvPicPr>
        <p:blipFill>
          <a:blip r:embed="rId5">
            <a:alphaModFix/>
          </a:blip>
          <a:stretch>
            <a:fillRect/>
          </a:stretch>
        </p:blipFill>
        <p:spPr>
          <a:xfrm>
            <a:off x="2932016" y="4328250"/>
            <a:ext cx="204480" cy="144000"/>
          </a:xfrm>
          <a:prstGeom prst="rect">
            <a:avLst/>
          </a:prstGeom>
          <a:noFill/>
          <a:ln>
            <a:noFill/>
          </a:ln>
        </p:spPr>
      </p:pic>
      <p:pic>
        <p:nvPicPr>
          <p:cNvPr descr="{&quot;font&quot;:{&quot;color&quot;:&quot;#000000&quot;,&quot;family&quot;:&quot;Arial&quot;,&quot;size&quot;:12},&quot;aid&quot;:null,&quot;backgroundColorModified&quot;:false,&quot;id&quot;:&quot;4&quot;,&quot;code&quot;:&quot;$$\\mathrm{overlap}(Q, W) = |Q \\cap T(W)|\n$$&quot;,&quot;backgroundColor&quot;:&quot;#FFFFFF&quot;,&quot;type&quot;:&quot;$$&quot;,&quot;ts&quot;:1779528212211,&quot;cs&quot;:&quot;aVswwYZ4T3h5mtFugwByMg==&quot;,&quot;size&quot;:{&quot;width&quot;:225.40000000000006,&quot;height&quot;:19}}" id="306" name="Google Shape;306;p35"/>
          <p:cNvPicPr preferRelativeResize="0"/>
          <p:nvPr/>
        </p:nvPicPr>
        <p:blipFill>
          <a:blip r:embed="rId6">
            <a:alphaModFix/>
          </a:blip>
          <a:stretch>
            <a:fillRect/>
          </a:stretch>
        </p:blipFill>
        <p:spPr>
          <a:xfrm>
            <a:off x="3207929" y="2221963"/>
            <a:ext cx="2146935" cy="180975"/>
          </a:xfrm>
          <a:prstGeom prst="rect">
            <a:avLst/>
          </a:prstGeom>
          <a:noFill/>
          <a:ln>
            <a:noFill/>
          </a:ln>
        </p:spPr>
      </p:pic>
      <p:pic>
        <p:nvPicPr>
          <p:cNvPr descr="{&quot;type&quot;:&quot;$$&quot;,&quot;backgroundColor&quot;:&quot;#FFFFFF&quot;,&quot;aid&quot;:null,&quot;font&quot;:{&quot;family&quot;:&quot;Arial&quot;,&quot;color&quot;:&quot;#000000&quot;,&quot;size&quot;:12},&quot;id&quot;:&quot;5&quot;,&quot;code&quot;:&quot;$$\\mathrm{density}(Q, W) = \\frac{|Q \\cap T(W)|}{\\max(1, |T(W)|)}\n$$&quot;,&quot;backgroundColorModified&quot;:false,&quot;ts&quot;:1779528228989,&quot;cs&quot;:&quot;JfNnpmz0Sa+HBdCN9XAruA==&quot;,&quot;size&quot;:{&quot;width&quot;:270.75,&quot;height&quot;:45.25}}" id="307" name="Google Shape;307;p35"/>
          <p:cNvPicPr preferRelativeResize="0"/>
          <p:nvPr/>
        </p:nvPicPr>
        <p:blipFill>
          <a:blip r:embed="rId7">
            <a:alphaModFix/>
          </a:blip>
          <a:stretch>
            <a:fillRect/>
          </a:stretch>
        </p:blipFill>
        <p:spPr>
          <a:xfrm>
            <a:off x="3207917" y="2465075"/>
            <a:ext cx="2578894" cy="431006"/>
          </a:xfrm>
          <a:prstGeom prst="rect">
            <a:avLst/>
          </a:prstGeom>
          <a:noFill/>
          <a:ln>
            <a:noFill/>
          </a:ln>
        </p:spPr>
      </p:pic>
      <p:pic>
        <p:nvPicPr>
          <p:cNvPr descr="{&quot;type&quot;:&quot;$$&quot;,&quot;backgroundColor&quot;:&quot;#FFFFFF&quot;,&quot;id&quot;:&quot;6&quot;,&quot;aid&quot;:null,&quot;code&quot;:&quot;$$\\mathrm{score}(W) =\n\\Big(\n\\mathrm{overlap}(Q, W),\n\\mathrm{density}(Q, W),\n-|W|\n\\Big)$$&quot;,&quot;font&quot;:{&quot;size&quot;:12,&quot;family&quot;:&quot;Arial&quot;,&quot;color&quot;:&quot;#000000&quot;},&quot;backgroundColorModified&quot;:false,&quot;ts&quot;:1779528289939,&quot;cs&quot;:&quot;b8O4NW0MS8daWukEfaPMmA==&quot;,&quot;size&quot;:{&quot;width&quot;:405.6666666666667,&quot;height&quot;:33.666666666666664}}" id="308" name="Google Shape;308;p35"/>
          <p:cNvPicPr preferRelativeResize="0"/>
          <p:nvPr/>
        </p:nvPicPr>
        <p:blipFill>
          <a:blip r:embed="rId8">
            <a:alphaModFix/>
          </a:blip>
          <a:stretch>
            <a:fillRect/>
          </a:stretch>
        </p:blipFill>
        <p:spPr>
          <a:xfrm>
            <a:off x="2520379" y="3011875"/>
            <a:ext cx="3863975" cy="320675"/>
          </a:xfrm>
          <a:prstGeom prst="rect">
            <a:avLst/>
          </a:prstGeom>
          <a:noFill/>
          <a:ln>
            <a:noFill/>
          </a:ln>
        </p:spPr>
      </p:pic>
      <p:pic>
        <p:nvPicPr>
          <p:cNvPr descr="{&quot;backgroundColorModified&quot;:false,&quot;font&quot;:{&quot;size&quot;:12,&quot;color&quot;:&quot;#000000&quot;,&quot;family&quot;:&quot;Arial&quot;},&quot;code&quot;:&quot;$$W^{*} = \\arg\\max_{W} \\mathrm{score}(W)\n$$&quot;,&quot;id&quot;:&quot;7&quot;,&quot;type&quot;:&quot;$$&quot;,&quot;aid&quot;:null,&quot;backgroundColor&quot;:&quot;#FFFFFF&quot;,&quot;ts&quot;:1779528311691,&quot;cs&quot;:&quot;4GXSBk+9A1OxhWqvkXSeTw==&quot;,&quot;size&quot;:{&quot;width&quot;:189.5,&quot;height&quot;:27}}" id="309" name="Google Shape;309;p35"/>
          <p:cNvPicPr preferRelativeResize="0"/>
          <p:nvPr/>
        </p:nvPicPr>
        <p:blipFill>
          <a:blip r:embed="rId9">
            <a:alphaModFix/>
          </a:blip>
          <a:stretch>
            <a:fillRect/>
          </a:stretch>
        </p:blipFill>
        <p:spPr>
          <a:xfrm>
            <a:off x="3549879" y="3448350"/>
            <a:ext cx="1804988" cy="257175"/>
          </a:xfrm>
          <a:prstGeom prst="rect">
            <a:avLst/>
          </a:prstGeom>
          <a:noFill/>
          <a:ln>
            <a:noFill/>
          </a:ln>
        </p:spPr>
      </p:pic>
      <p:sp>
        <p:nvSpPr>
          <p:cNvPr id="310" name="Google Shape;310;p35"/>
          <p:cNvSpPr txBox="1"/>
          <p:nvPr/>
        </p:nvSpPr>
        <p:spPr>
          <a:xfrm>
            <a:off x="3072700" y="3818550"/>
            <a:ext cx="30525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GB" sz="1000">
                <a:latin typeface="Lato"/>
                <a:ea typeface="Lato"/>
                <a:cs typeface="Lato"/>
                <a:sym typeface="Lato"/>
              </a:rPr>
              <a:t>= </a:t>
            </a:r>
            <a:r>
              <a:rPr lang="en-GB" sz="1000">
                <a:latin typeface="Lato"/>
                <a:ea typeface="Lato"/>
                <a:cs typeface="Lato"/>
                <a:sym typeface="Lato"/>
              </a:rPr>
              <a:t>ensemble des tokens normalisés de la requête</a:t>
            </a:r>
            <a:endParaRPr sz="1000">
              <a:latin typeface="Lato"/>
              <a:ea typeface="Lato"/>
              <a:cs typeface="Lato"/>
              <a:sym typeface="Lato"/>
            </a:endParaRPr>
          </a:p>
        </p:txBody>
      </p:sp>
      <p:sp>
        <p:nvSpPr>
          <p:cNvPr id="311" name="Google Shape;311;p35"/>
          <p:cNvSpPr txBox="1"/>
          <p:nvPr/>
        </p:nvSpPr>
        <p:spPr>
          <a:xfrm>
            <a:off x="3075904" y="4027163"/>
            <a:ext cx="27063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GB" sz="1000">
                <a:latin typeface="Lato"/>
                <a:ea typeface="Lato"/>
                <a:cs typeface="Lato"/>
                <a:sym typeface="Lato"/>
              </a:rPr>
              <a:t>=</a:t>
            </a:r>
            <a:r>
              <a:rPr lang="en-GB" sz="1000">
                <a:latin typeface="Lato"/>
                <a:ea typeface="Lato"/>
                <a:cs typeface="Lato"/>
                <a:sym typeface="Lato"/>
              </a:rPr>
              <a:t> fenêtre candidate de texte</a:t>
            </a:r>
            <a:endParaRPr sz="1000">
              <a:latin typeface="Lato"/>
              <a:ea typeface="Lato"/>
              <a:cs typeface="Lato"/>
              <a:sym typeface="Lato"/>
            </a:endParaRPr>
          </a:p>
        </p:txBody>
      </p:sp>
      <p:sp>
        <p:nvSpPr>
          <p:cNvPr id="312" name="Google Shape;312;p35"/>
          <p:cNvSpPr txBox="1"/>
          <p:nvPr/>
        </p:nvSpPr>
        <p:spPr>
          <a:xfrm>
            <a:off x="3079903" y="4239200"/>
            <a:ext cx="3552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a:latin typeface="Lato"/>
                <a:ea typeface="Lato"/>
                <a:cs typeface="Lato"/>
                <a:sym typeface="Lato"/>
              </a:rPr>
              <a:t>= ensemble de tokens normalisés dans la fenêtre </a:t>
            </a:r>
            <a:endParaRPr sz="1000">
              <a:latin typeface="Lato"/>
              <a:ea typeface="Lato"/>
              <a:cs typeface="Lato"/>
              <a:sym typeface="Lato"/>
            </a:endParaRPr>
          </a:p>
        </p:txBody>
      </p:sp>
      <p:sp>
        <p:nvSpPr>
          <p:cNvPr id="313" name="Google Shape;313;p35"/>
          <p:cNvSpPr txBox="1"/>
          <p:nvPr/>
        </p:nvSpPr>
        <p:spPr>
          <a:xfrm>
            <a:off x="727800" y="4643254"/>
            <a:ext cx="79668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GB" sz="1000">
                <a:latin typeface="Lato"/>
                <a:ea typeface="Lato"/>
                <a:cs typeface="Lato"/>
                <a:sym typeface="Lato"/>
              </a:rPr>
              <a:t>Normalisation = mise en minuscules, </a:t>
            </a:r>
            <a:r>
              <a:rPr lang="en-GB" sz="1000">
                <a:latin typeface="Lato"/>
                <a:ea typeface="Lato"/>
                <a:cs typeface="Lato"/>
                <a:sym typeface="Lato"/>
              </a:rPr>
              <a:t>tokenization</a:t>
            </a:r>
            <a:r>
              <a:rPr lang="en-GB" sz="1000">
                <a:latin typeface="Lato"/>
                <a:ea typeface="Lato"/>
                <a:cs typeface="Lato"/>
                <a:sym typeface="Lato"/>
              </a:rPr>
              <a:t>, suppression des tokens d’un seul caractère, suppression des stopwords</a:t>
            </a:r>
            <a:endParaRPr sz="1000">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36"/>
          <p:cNvSpPr txBox="1"/>
          <p:nvPr>
            <p:ph type="title"/>
          </p:nvPr>
        </p:nvSpPr>
        <p:spPr>
          <a:xfrm>
            <a:off x="727650" y="669600"/>
            <a:ext cx="8177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Reranker. </a:t>
            </a:r>
            <a:r>
              <a:rPr b="0" lang="en-GB"/>
              <a:t>Méchanisme l</a:t>
            </a:r>
            <a:r>
              <a:rPr b="0" lang="en-GB"/>
              <a:t>ate-interaction ColBERT</a:t>
            </a:r>
            <a:endParaRPr b="0"/>
          </a:p>
          <a:p>
            <a:pPr indent="0" lvl="0" marL="0" rtl="0" algn="l">
              <a:spcBef>
                <a:spcPts val="0"/>
              </a:spcBef>
              <a:spcAft>
                <a:spcPts val="0"/>
              </a:spcAft>
              <a:buNone/>
            </a:pPr>
            <a:r>
              <a:t/>
            </a:r>
            <a:endParaRPr/>
          </a:p>
        </p:txBody>
      </p:sp>
      <p:sp>
        <p:nvSpPr>
          <p:cNvPr id="319" name="Google Shape;319;p36"/>
          <p:cNvSpPr txBox="1"/>
          <p:nvPr/>
        </p:nvSpPr>
        <p:spPr>
          <a:xfrm>
            <a:off x="825125" y="1326750"/>
            <a:ext cx="81123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300">
                <a:solidFill>
                  <a:schemeClr val="accent1"/>
                </a:solidFill>
                <a:latin typeface="Lato"/>
                <a:ea typeface="Lato"/>
                <a:cs typeface="Lato"/>
                <a:sym typeface="Lato"/>
              </a:rPr>
              <a:t>Solution</a:t>
            </a:r>
            <a:r>
              <a:rPr lang="en-GB" sz="1300">
                <a:solidFill>
                  <a:schemeClr val="accent1"/>
                </a:solidFill>
                <a:latin typeface="Lato"/>
                <a:ea typeface="Lato"/>
                <a:cs typeface="Lato"/>
                <a:sym typeface="Lato"/>
              </a:rPr>
              <a:t> : recherche dense sur les entités locales (</a:t>
            </a:r>
            <a:r>
              <a:rPr b="1" lang="en-GB" sz="1300">
                <a:solidFill>
                  <a:schemeClr val="accent1"/>
                </a:solidFill>
                <a:latin typeface="Lato"/>
                <a:ea typeface="Lato"/>
                <a:cs typeface="Lato"/>
                <a:sym typeface="Lato"/>
              </a:rPr>
              <a:t>top-100</a:t>
            </a:r>
            <a:r>
              <a:rPr lang="en-GB" sz="1300">
                <a:solidFill>
                  <a:schemeClr val="accent1"/>
                </a:solidFill>
                <a:latin typeface="Lato"/>
                <a:ea typeface="Lato"/>
                <a:cs typeface="Lato"/>
                <a:sym typeface="Lato"/>
              </a:rPr>
              <a:t>), ensuite applique le reranker ColBERT et prendre </a:t>
            </a:r>
            <a:r>
              <a:rPr b="1" lang="en-GB" sz="1300">
                <a:solidFill>
                  <a:schemeClr val="accent1"/>
                </a:solidFill>
                <a:latin typeface="Lato"/>
                <a:ea typeface="Lato"/>
                <a:cs typeface="Lato"/>
                <a:sym typeface="Lato"/>
              </a:rPr>
              <a:t>top-20</a:t>
            </a:r>
            <a:endParaRPr b="1" sz="1300">
              <a:solidFill>
                <a:schemeClr val="accent1"/>
              </a:solidFill>
              <a:latin typeface="Lato"/>
              <a:ea typeface="Lato"/>
              <a:cs typeface="Lato"/>
              <a:sym typeface="Lato"/>
            </a:endParaRPr>
          </a:p>
        </p:txBody>
      </p:sp>
      <p:sp>
        <p:nvSpPr>
          <p:cNvPr id="320" name="Google Shape;320;p36"/>
          <p:cNvSpPr txBox="1"/>
          <p:nvPr/>
        </p:nvSpPr>
        <p:spPr>
          <a:xfrm>
            <a:off x="2351100" y="1911750"/>
            <a:ext cx="44418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300">
                <a:solidFill>
                  <a:schemeClr val="accent1"/>
                </a:solidFill>
                <a:latin typeface="Lato"/>
                <a:ea typeface="Lato"/>
                <a:cs typeface="Lato"/>
                <a:sym typeface="Lato"/>
              </a:rPr>
              <a:t>Modèle : </a:t>
            </a:r>
            <a:r>
              <a:rPr lang="en-GB" sz="1300">
                <a:solidFill>
                  <a:schemeClr val="accent1"/>
                </a:solidFill>
                <a:latin typeface="Lato"/>
                <a:ea typeface="Lato"/>
                <a:cs typeface="Lato"/>
                <a:sym typeface="Lato"/>
              </a:rPr>
              <a:t>answerdotai/answerai-colbert-small-v1</a:t>
            </a:r>
            <a:endParaRPr sz="1300">
              <a:solidFill>
                <a:schemeClr val="accent1"/>
              </a:solidFill>
              <a:latin typeface="Lato"/>
              <a:ea typeface="Lato"/>
              <a:cs typeface="Lato"/>
              <a:sym typeface="Lato"/>
            </a:endParaRPr>
          </a:p>
        </p:txBody>
      </p:sp>
      <p:pic>
        <p:nvPicPr>
          <p:cNvPr id="321" name="Google Shape;321;p36"/>
          <p:cNvPicPr preferRelativeResize="0"/>
          <p:nvPr/>
        </p:nvPicPr>
        <p:blipFill rotWithShape="1">
          <a:blip r:embed="rId3">
            <a:alphaModFix/>
          </a:blip>
          <a:srcRect b="0" l="0" r="50923" t="0"/>
          <a:stretch/>
        </p:blipFill>
        <p:spPr>
          <a:xfrm>
            <a:off x="3291284" y="2274033"/>
            <a:ext cx="2607702" cy="26567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37"/>
          <p:cNvSpPr txBox="1"/>
          <p:nvPr>
            <p:ph type="title"/>
          </p:nvPr>
        </p:nvSpPr>
        <p:spPr>
          <a:xfrm>
            <a:off x="727800" y="688650"/>
            <a:ext cx="76884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Query-aware bridge</a:t>
            </a:r>
            <a:endParaRPr/>
          </a:p>
        </p:txBody>
      </p:sp>
      <p:pic>
        <p:nvPicPr>
          <p:cNvPr id="327" name="Google Shape;327;p37"/>
          <p:cNvPicPr preferRelativeResize="0"/>
          <p:nvPr/>
        </p:nvPicPr>
        <p:blipFill>
          <a:blip r:embed="rId3">
            <a:alphaModFix/>
          </a:blip>
          <a:stretch>
            <a:fillRect/>
          </a:stretch>
        </p:blipFill>
        <p:spPr>
          <a:xfrm>
            <a:off x="197400" y="2483250"/>
            <a:ext cx="8839204" cy="2339281"/>
          </a:xfrm>
          <a:prstGeom prst="rect">
            <a:avLst/>
          </a:prstGeom>
          <a:noFill/>
          <a:ln>
            <a:noFill/>
          </a:ln>
        </p:spPr>
      </p:pic>
      <p:sp>
        <p:nvSpPr>
          <p:cNvPr id="328" name="Google Shape;328;p37"/>
          <p:cNvSpPr txBox="1"/>
          <p:nvPr/>
        </p:nvSpPr>
        <p:spPr>
          <a:xfrm>
            <a:off x="3453450" y="1561050"/>
            <a:ext cx="22500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300">
                <a:solidFill>
                  <a:srgbClr val="E06666"/>
                </a:solidFill>
                <a:latin typeface="Lato"/>
                <a:ea typeface="Lato"/>
                <a:cs typeface="Lato"/>
                <a:sym typeface="Lato"/>
              </a:rPr>
              <a:t>Conditionner la recherche</a:t>
            </a:r>
            <a:endParaRPr b="1" sz="1300">
              <a:solidFill>
                <a:srgbClr val="E06666"/>
              </a:solidFill>
              <a:latin typeface="Lato"/>
              <a:ea typeface="Lato"/>
              <a:cs typeface="Lato"/>
              <a:sym typeface="Lato"/>
            </a:endParaRPr>
          </a:p>
          <a:p>
            <a:pPr indent="0" lvl="0" marL="0" rtl="0" algn="ctr">
              <a:spcBef>
                <a:spcPts val="0"/>
              </a:spcBef>
              <a:spcAft>
                <a:spcPts val="0"/>
              </a:spcAft>
              <a:buNone/>
            </a:pPr>
            <a:r>
              <a:rPr lang="en-GB" sz="1300">
                <a:solidFill>
                  <a:srgbClr val="E06666"/>
                </a:solidFill>
                <a:latin typeface="Lato"/>
                <a:ea typeface="Lato"/>
                <a:cs typeface="Lato"/>
                <a:sym typeface="Lato"/>
              </a:rPr>
              <a:t>du chemin par la requête</a:t>
            </a:r>
            <a:endParaRPr sz="1300">
              <a:solidFill>
                <a:srgbClr val="E06666"/>
              </a:solidFill>
              <a:latin typeface="Lato"/>
              <a:ea typeface="Lato"/>
              <a:cs typeface="Lato"/>
              <a:sym typeface="Lato"/>
            </a:endParaRPr>
          </a:p>
        </p:txBody>
      </p:sp>
      <p:sp>
        <p:nvSpPr>
          <p:cNvPr id="329" name="Google Shape;329;p37"/>
          <p:cNvSpPr txBox="1"/>
          <p:nvPr/>
        </p:nvSpPr>
        <p:spPr>
          <a:xfrm>
            <a:off x="1143959" y="4019873"/>
            <a:ext cx="5547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2000">
                <a:solidFill>
                  <a:schemeClr val="dk1"/>
                </a:solidFill>
                <a:latin typeface="Lato"/>
                <a:ea typeface="Lato"/>
                <a:cs typeface="Lato"/>
                <a:sym typeface="Lato"/>
              </a:rPr>
              <a:t>(1)</a:t>
            </a:r>
            <a:endParaRPr b="1" sz="2000">
              <a:solidFill>
                <a:schemeClr val="dk1"/>
              </a:solidFill>
              <a:latin typeface="Lato"/>
              <a:ea typeface="Lato"/>
              <a:cs typeface="Lato"/>
              <a:sym typeface="Lato"/>
            </a:endParaRPr>
          </a:p>
        </p:txBody>
      </p:sp>
      <p:sp>
        <p:nvSpPr>
          <p:cNvPr id="330" name="Google Shape;330;p37"/>
          <p:cNvSpPr txBox="1"/>
          <p:nvPr/>
        </p:nvSpPr>
        <p:spPr>
          <a:xfrm>
            <a:off x="1530075" y="2460124"/>
            <a:ext cx="5547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2000">
                <a:solidFill>
                  <a:schemeClr val="dk1"/>
                </a:solidFill>
                <a:latin typeface="Lato"/>
                <a:ea typeface="Lato"/>
                <a:cs typeface="Lato"/>
                <a:sym typeface="Lato"/>
              </a:rPr>
              <a:t>(2)</a:t>
            </a:r>
            <a:endParaRPr b="1" sz="2000">
              <a:solidFill>
                <a:schemeClr val="dk1"/>
              </a:solidFill>
              <a:latin typeface="Lato"/>
              <a:ea typeface="Lato"/>
              <a:cs typeface="Lato"/>
              <a:sym typeface="Lato"/>
            </a:endParaRPr>
          </a:p>
        </p:txBody>
      </p:sp>
      <p:sp>
        <p:nvSpPr>
          <p:cNvPr id="331" name="Google Shape;331;p37"/>
          <p:cNvSpPr txBox="1"/>
          <p:nvPr/>
        </p:nvSpPr>
        <p:spPr>
          <a:xfrm>
            <a:off x="1144904" y="3321763"/>
            <a:ext cx="5547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2000">
                <a:solidFill>
                  <a:schemeClr val="dk1"/>
                </a:solidFill>
                <a:latin typeface="Lato"/>
                <a:ea typeface="Lato"/>
                <a:cs typeface="Lato"/>
                <a:sym typeface="Lato"/>
              </a:rPr>
              <a:t>(3)</a:t>
            </a:r>
            <a:endParaRPr b="1" sz="2000">
              <a:solidFill>
                <a:schemeClr val="dk1"/>
              </a:solidFill>
              <a:latin typeface="Lato"/>
              <a:ea typeface="Lato"/>
              <a:cs typeface="Lato"/>
              <a:sym typeface="Lato"/>
            </a:endParaRPr>
          </a:p>
        </p:txBody>
      </p:sp>
      <p:cxnSp>
        <p:nvCxnSpPr>
          <p:cNvPr id="332" name="Google Shape;332;p37"/>
          <p:cNvCxnSpPr>
            <a:stCxn id="333" idx="2"/>
          </p:cNvCxnSpPr>
          <p:nvPr/>
        </p:nvCxnSpPr>
        <p:spPr>
          <a:xfrm rot="5400000">
            <a:off x="896650" y="2814051"/>
            <a:ext cx="1051200" cy="254400"/>
          </a:xfrm>
          <a:prstGeom prst="curvedConnector3">
            <a:avLst>
              <a:gd fmla="val 50000" name="adj1"/>
            </a:avLst>
          </a:prstGeom>
          <a:noFill/>
          <a:ln cap="flat" cmpd="sng" w="28575">
            <a:solidFill>
              <a:schemeClr val="dk1"/>
            </a:solidFill>
            <a:prstDash val="solid"/>
            <a:round/>
            <a:headEnd len="med" w="med" type="none"/>
            <a:tailEnd len="med" w="med" type="stealth"/>
          </a:ln>
        </p:spPr>
      </p:cxnSp>
      <p:sp>
        <p:nvSpPr>
          <p:cNvPr id="334" name="Google Shape;334;p37"/>
          <p:cNvSpPr txBox="1"/>
          <p:nvPr/>
        </p:nvSpPr>
        <p:spPr>
          <a:xfrm>
            <a:off x="424450" y="1316275"/>
            <a:ext cx="22500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t/>
            </a:r>
            <a:endParaRPr b="1" sz="1300">
              <a:solidFill>
                <a:srgbClr val="E06666"/>
              </a:solidFill>
              <a:latin typeface="Lato"/>
              <a:ea typeface="Lato"/>
              <a:cs typeface="Lato"/>
              <a:sym typeface="Lato"/>
            </a:endParaRPr>
          </a:p>
        </p:txBody>
      </p:sp>
      <p:sp>
        <p:nvSpPr>
          <p:cNvPr id="333" name="Google Shape;333;p37"/>
          <p:cNvSpPr txBox="1"/>
          <p:nvPr/>
        </p:nvSpPr>
        <p:spPr>
          <a:xfrm>
            <a:off x="424450" y="1282851"/>
            <a:ext cx="2250000" cy="1132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lang="en-GB" sz="1100">
                <a:solidFill>
                  <a:schemeClr val="dk1"/>
                </a:solidFill>
                <a:latin typeface="Lato"/>
                <a:ea typeface="Lato"/>
                <a:cs typeface="Lato"/>
                <a:sym typeface="Lato"/>
              </a:rPr>
              <a:t>Idée de HiRAG :</a:t>
            </a:r>
            <a:br>
              <a:rPr b="1" lang="en-GB" sz="1100">
                <a:solidFill>
                  <a:schemeClr val="dk1"/>
                </a:solidFill>
                <a:latin typeface="Lato"/>
                <a:ea typeface="Lato"/>
                <a:cs typeface="Lato"/>
                <a:sym typeface="Lato"/>
              </a:rPr>
            </a:br>
            <a:r>
              <a:rPr b="1" lang="en-GB" sz="1100">
                <a:solidFill>
                  <a:schemeClr val="dk1"/>
                </a:solidFill>
                <a:latin typeface="Lato"/>
                <a:ea typeface="Lato"/>
                <a:cs typeface="Lato"/>
                <a:sym typeface="Lato"/>
              </a:rPr>
              <a:t>knowledge bridge </a:t>
            </a:r>
            <a:r>
              <a:rPr lang="en-GB" sz="1100">
                <a:solidFill>
                  <a:schemeClr val="dk1"/>
                </a:solidFill>
                <a:latin typeface="Lato"/>
                <a:ea typeface="Lato"/>
                <a:cs typeface="Lato"/>
                <a:sym typeface="Lato"/>
              </a:rPr>
              <a:t>= le plus court chemin entre les </a:t>
            </a:r>
            <a:r>
              <a:rPr lang="en-GB" sz="1100">
                <a:solidFill>
                  <a:schemeClr val="dk1"/>
                </a:solidFill>
                <a:latin typeface="Lato"/>
                <a:ea typeface="Lato"/>
                <a:cs typeface="Lato"/>
                <a:sym typeface="Lato"/>
              </a:rPr>
              <a:t>entités locales</a:t>
            </a:r>
            <a:r>
              <a:rPr lang="en-GB" sz="1100">
                <a:solidFill>
                  <a:schemeClr val="dk1"/>
                </a:solidFill>
                <a:latin typeface="Lato"/>
                <a:ea typeface="Lato"/>
                <a:cs typeface="Lato"/>
                <a:sym typeface="Lato"/>
              </a:rPr>
              <a:t>, </a:t>
            </a:r>
            <a:r>
              <a:rPr lang="en-GB" sz="1100">
                <a:solidFill>
                  <a:schemeClr val="dk1"/>
                </a:solidFill>
                <a:latin typeface="Lato"/>
                <a:ea typeface="Lato"/>
                <a:cs typeface="Lato"/>
                <a:sym typeface="Lato"/>
              </a:rPr>
              <a:t>ordonnées par leurs communautés</a:t>
            </a:r>
            <a:endParaRPr sz="1100">
              <a:solidFill>
                <a:schemeClr val="dk1"/>
              </a:solidFill>
              <a:latin typeface="Lato"/>
              <a:ea typeface="Lato"/>
              <a:cs typeface="Lato"/>
              <a:sym typeface="Lato"/>
            </a:endParaRPr>
          </a:p>
        </p:txBody>
      </p:sp>
      <p:cxnSp>
        <p:nvCxnSpPr>
          <p:cNvPr id="335" name="Google Shape;335;p37"/>
          <p:cNvCxnSpPr>
            <a:stCxn id="333" idx="3"/>
            <a:endCxn id="328" idx="1"/>
          </p:cNvCxnSpPr>
          <p:nvPr/>
        </p:nvCxnSpPr>
        <p:spPr>
          <a:xfrm>
            <a:off x="2674450" y="1849251"/>
            <a:ext cx="779100" cy="4200"/>
          </a:xfrm>
          <a:prstGeom prst="straightConnector1">
            <a:avLst/>
          </a:prstGeom>
          <a:noFill/>
          <a:ln cap="flat" cmpd="sng" w="28575">
            <a:solidFill>
              <a:schemeClr val="accent1"/>
            </a:solidFill>
            <a:prstDash val="solid"/>
            <a:round/>
            <a:headEnd len="med" w="med" type="none"/>
            <a:tailEnd len="med" w="med" type="stealth"/>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38"/>
          <p:cNvSpPr txBox="1"/>
          <p:nvPr>
            <p:ph type="title"/>
          </p:nvPr>
        </p:nvSpPr>
        <p:spPr>
          <a:xfrm>
            <a:off x="727650" y="66960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Query-aware bridge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41" name="Google Shape;341;p38"/>
          <p:cNvSpPr txBox="1"/>
          <p:nvPr>
            <p:ph idx="1" type="body"/>
          </p:nvPr>
        </p:nvSpPr>
        <p:spPr>
          <a:xfrm>
            <a:off x="1325814" y="1749039"/>
            <a:ext cx="5907300" cy="583200"/>
          </a:xfrm>
          <a:prstGeom prst="rect">
            <a:avLst/>
          </a:prstGeom>
        </p:spPr>
        <p:txBody>
          <a:bodyPr anchorCtr="0" anchor="ctr" bIns="91425" lIns="91425" spcFirstLastPara="1" rIns="91425" wrap="square" tIns="91425">
            <a:noAutofit/>
          </a:bodyPr>
          <a:lstStyle/>
          <a:p>
            <a:pPr indent="0" lvl="0" marL="0" rtl="0" algn="l">
              <a:spcBef>
                <a:spcPts val="0"/>
              </a:spcBef>
              <a:spcAft>
                <a:spcPts val="1600"/>
              </a:spcAft>
              <a:buNone/>
            </a:pPr>
            <a:r>
              <a:rPr b="1" lang="en-GB">
                <a:solidFill>
                  <a:srgbClr val="E06666"/>
                </a:solidFill>
              </a:rPr>
              <a:t>Dijkstra</a:t>
            </a:r>
            <a:r>
              <a:rPr b="1" lang="en-GB">
                <a:solidFill>
                  <a:srgbClr val="E06666"/>
                </a:solidFill>
              </a:rPr>
              <a:t> pondéré</a:t>
            </a:r>
            <a:r>
              <a:rPr lang="en-GB">
                <a:solidFill>
                  <a:srgbClr val="E06666"/>
                </a:solidFill>
              </a:rPr>
              <a:t> </a:t>
            </a:r>
            <a:r>
              <a:rPr lang="en-GB"/>
              <a:t> : Parmis les chemins </a:t>
            </a:r>
            <a:r>
              <a:rPr b="1" lang="en-GB"/>
              <a:t>complets</a:t>
            </a:r>
            <a:r>
              <a:rPr lang="en-GB"/>
              <a:t>, lequel a le coût total minimal ?</a:t>
            </a:r>
            <a:endParaRPr/>
          </a:p>
        </p:txBody>
      </p:sp>
      <p:sp>
        <p:nvSpPr>
          <p:cNvPr id="342" name="Google Shape;342;p38"/>
          <p:cNvSpPr txBox="1"/>
          <p:nvPr>
            <p:ph idx="1" type="body"/>
          </p:nvPr>
        </p:nvSpPr>
        <p:spPr>
          <a:xfrm>
            <a:off x="1333525" y="3761675"/>
            <a:ext cx="6823800" cy="639900"/>
          </a:xfrm>
          <a:prstGeom prst="rect">
            <a:avLst/>
          </a:prstGeom>
        </p:spPr>
        <p:txBody>
          <a:bodyPr anchorCtr="0" anchor="ctr" bIns="91425" lIns="91425" spcFirstLastPara="1" rIns="91425" wrap="square" tIns="91425">
            <a:noAutofit/>
          </a:bodyPr>
          <a:lstStyle/>
          <a:p>
            <a:pPr indent="0" lvl="0" marL="0" rtl="0" algn="l">
              <a:spcBef>
                <a:spcPts val="0"/>
              </a:spcBef>
              <a:spcAft>
                <a:spcPts val="1600"/>
              </a:spcAft>
              <a:buNone/>
            </a:pPr>
            <a:r>
              <a:rPr b="1" lang="en-GB">
                <a:solidFill>
                  <a:srgbClr val="E06666"/>
                </a:solidFill>
              </a:rPr>
              <a:t>Monte Carlo Tree Search</a:t>
            </a:r>
            <a:r>
              <a:rPr lang="en-GB"/>
              <a:t> : En construisant un bridge, quel est le meilleur choix garantissant une récompense long terme ? </a:t>
            </a:r>
            <a:endParaRPr/>
          </a:p>
        </p:txBody>
      </p:sp>
      <p:sp>
        <p:nvSpPr>
          <p:cNvPr id="343" name="Google Shape;343;p38"/>
          <p:cNvSpPr txBox="1"/>
          <p:nvPr>
            <p:ph idx="1" type="body"/>
          </p:nvPr>
        </p:nvSpPr>
        <p:spPr>
          <a:xfrm>
            <a:off x="1333525" y="2506188"/>
            <a:ext cx="5559300" cy="44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rgbClr val="E06666"/>
                </a:solidFill>
              </a:rPr>
              <a:t>Minimax</a:t>
            </a:r>
            <a:r>
              <a:rPr lang="en-GB">
                <a:solidFill>
                  <a:srgbClr val="E06666"/>
                </a:solidFill>
              </a:rPr>
              <a:t> </a:t>
            </a:r>
            <a:r>
              <a:rPr lang="en-GB"/>
              <a:t>: Parmis les chemins </a:t>
            </a:r>
            <a:r>
              <a:rPr b="1" lang="en-GB"/>
              <a:t>complets</a:t>
            </a:r>
            <a:r>
              <a:rPr lang="en-GB"/>
              <a:t>, lequel a </a:t>
            </a:r>
            <a:r>
              <a:rPr lang="en-GB"/>
              <a:t>la meilleur pire arête?</a:t>
            </a:r>
            <a:r>
              <a:rPr lang="en-GB"/>
              <a:t> </a:t>
            </a:r>
            <a:endParaRPr/>
          </a:p>
          <a:p>
            <a:pPr indent="0" lvl="0" marL="0" rtl="0" algn="l">
              <a:spcBef>
                <a:spcPts val="1600"/>
              </a:spcBef>
              <a:spcAft>
                <a:spcPts val="1600"/>
              </a:spcAft>
              <a:buNone/>
            </a:pPr>
            <a:r>
              <a:t/>
            </a:r>
            <a:endParaRPr sz="1100"/>
          </a:p>
        </p:txBody>
      </p:sp>
      <p:sp>
        <p:nvSpPr>
          <p:cNvPr id="344" name="Google Shape;344;p38"/>
          <p:cNvSpPr/>
          <p:nvPr/>
        </p:nvSpPr>
        <p:spPr>
          <a:xfrm>
            <a:off x="807850" y="1718175"/>
            <a:ext cx="463500" cy="463500"/>
          </a:xfrm>
          <a:prstGeom prst="rect">
            <a:avLst/>
          </a:prstGeom>
          <a:solidFill>
            <a:schemeClr val="dk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solidFill>
                  <a:schemeClr val="lt1"/>
                </a:solidFill>
                <a:latin typeface="Lato"/>
                <a:ea typeface="Lato"/>
                <a:cs typeface="Lato"/>
                <a:sym typeface="Lato"/>
              </a:rPr>
              <a:t>1</a:t>
            </a:r>
            <a:endParaRPr b="1" sz="1600">
              <a:solidFill>
                <a:schemeClr val="lt1"/>
              </a:solidFill>
              <a:latin typeface="Lato"/>
              <a:ea typeface="Lato"/>
              <a:cs typeface="Lato"/>
              <a:sym typeface="Lato"/>
            </a:endParaRPr>
          </a:p>
        </p:txBody>
      </p:sp>
      <p:sp>
        <p:nvSpPr>
          <p:cNvPr id="345" name="Google Shape;345;p38"/>
          <p:cNvSpPr/>
          <p:nvPr/>
        </p:nvSpPr>
        <p:spPr>
          <a:xfrm>
            <a:off x="807850" y="2471500"/>
            <a:ext cx="463500" cy="463500"/>
          </a:xfrm>
          <a:prstGeom prst="rect">
            <a:avLst/>
          </a:prstGeom>
          <a:solidFill>
            <a:schemeClr val="dk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solidFill>
                  <a:schemeClr val="lt1"/>
                </a:solidFill>
                <a:latin typeface="Lato"/>
                <a:ea typeface="Lato"/>
                <a:cs typeface="Lato"/>
                <a:sym typeface="Lato"/>
              </a:rPr>
              <a:t>2</a:t>
            </a:r>
            <a:endParaRPr b="1" sz="1600">
              <a:solidFill>
                <a:schemeClr val="lt1"/>
              </a:solidFill>
              <a:latin typeface="Lato"/>
              <a:ea typeface="Lato"/>
              <a:cs typeface="Lato"/>
              <a:sym typeface="Lato"/>
            </a:endParaRPr>
          </a:p>
        </p:txBody>
      </p:sp>
      <p:sp>
        <p:nvSpPr>
          <p:cNvPr id="346" name="Google Shape;346;p38"/>
          <p:cNvSpPr/>
          <p:nvPr/>
        </p:nvSpPr>
        <p:spPr>
          <a:xfrm>
            <a:off x="807850" y="3730814"/>
            <a:ext cx="463500" cy="463500"/>
          </a:xfrm>
          <a:prstGeom prst="rect">
            <a:avLst/>
          </a:prstGeom>
          <a:solidFill>
            <a:schemeClr val="dk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solidFill>
                  <a:schemeClr val="lt1"/>
                </a:solidFill>
                <a:latin typeface="Lato"/>
                <a:ea typeface="Lato"/>
                <a:cs typeface="Lato"/>
                <a:sym typeface="Lato"/>
              </a:rPr>
              <a:t>3</a:t>
            </a:r>
            <a:endParaRPr b="1" sz="1600">
              <a:solidFill>
                <a:schemeClr val="lt1"/>
              </a:solidFill>
              <a:latin typeface="Lato"/>
              <a:ea typeface="Lato"/>
              <a:cs typeface="Lato"/>
              <a:sym typeface="Lato"/>
            </a:endParaRPr>
          </a:p>
        </p:txBody>
      </p:sp>
      <p:sp>
        <p:nvSpPr>
          <p:cNvPr id="347" name="Google Shape;347;p38"/>
          <p:cNvSpPr/>
          <p:nvPr/>
        </p:nvSpPr>
        <p:spPr>
          <a:xfrm>
            <a:off x="1271350" y="3148263"/>
            <a:ext cx="369300" cy="369300"/>
          </a:xfrm>
          <a:prstGeom prst="rect">
            <a:avLst/>
          </a:prstGeom>
          <a:solidFill>
            <a:schemeClr val="dk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000">
                <a:solidFill>
                  <a:schemeClr val="lt1"/>
                </a:solidFill>
                <a:latin typeface="Lato"/>
                <a:ea typeface="Lato"/>
                <a:cs typeface="Lato"/>
                <a:sym typeface="Lato"/>
              </a:rPr>
              <a:t>2.1</a:t>
            </a:r>
            <a:endParaRPr b="1" sz="1000">
              <a:solidFill>
                <a:schemeClr val="lt1"/>
              </a:solidFill>
              <a:latin typeface="Lato"/>
              <a:ea typeface="Lato"/>
              <a:cs typeface="Lato"/>
              <a:sym typeface="Lato"/>
            </a:endParaRPr>
          </a:p>
        </p:txBody>
      </p:sp>
      <p:sp>
        <p:nvSpPr>
          <p:cNvPr id="348" name="Google Shape;348;p38"/>
          <p:cNvSpPr txBox="1"/>
          <p:nvPr>
            <p:ph idx="1" type="body"/>
          </p:nvPr>
        </p:nvSpPr>
        <p:spPr>
          <a:xfrm>
            <a:off x="1640650" y="3126825"/>
            <a:ext cx="7308900" cy="583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lang="en-GB">
                <a:solidFill>
                  <a:srgbClr val="E06666"/>
                </a:solidFill>
              </a:rPr>
              <a:t>Minimax avec le budget</a:t>
            </a:r>
            <a:r>
              <a:rPr lang="en-GB"/>
              <a:t> : Parmis tous les </a:t>
            </a:r>
            <a:r>
              <a:rPr b="1" lang="en-GB"/>
              <a:t>petits</a:t>
            </a:r>
            <a:r>
              <a:rPr lang="en-GB"/>
              <a:t> chemins </a:t>
            </a:r>
            <a:r>
              <a:rPr b="1" lang="en-GB"/>
              <a:t>complets</a:t>
            </a:r>
            <a:r>
              <a:rPr lang="en-GB"/>
              <a:t>, lequel a la meilleur pire arête? </a:t>
            </a:r>
            <a:endParaRPr sz="11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39"/>
          <p:cNvSpPr txBox="1"/>
          <p:nvPr>
            <p:ph type="title"/>
          </p:nvPr>
        </p:nvSpPr>
        <p:spPr>
          <a:xfrm>
            <a:off x="727650" y="66962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Co</a:t>
            </a:r>
            <a:r>
              <a:rPr lang="en-GB"/>
              <a:t>ût d’une arête</a:t>
            </a:r>
            <a:endParaRPr/>
          </a:p>
        </p:txBody>
      </p:sp>
      <p:pic>
        <p:nvPicPr>
          <p:cNvPr descr="{&quot;backgroundColorModified&quot;:false,&quot;id&quot;:&quot;9&quot;,&quot;backgroundColor&quot;:&quot;#FFFFFF&quot;,&quot;aid&quot;:null,&quot;code&quot;:&quot;$$\\mathrm{similarity}\\text{\\_}\\text{score}(q,e) = \\cos(\\mathbf{q}, \\mathbf{e})\n$$&quot;,&quot;type&quot;:&quot;$$&quot;,&quot;font&quot;:{&quot;color&quot;:&quot;#000000&quot;,&quot;size&quot;:14,&quot;family&quot;:&quot;Arial&quot;},&quot;ts&quot;:1779536356116,&quot;cs&quot;:&quot;gPyjqnH6KwMqEJrvbP8YLQ==&quot;,&quot;size&quot;:{&quot;width&quot;:299.75,&quot;height&quot;:22.25}}" id="354" name="Google Shape;354;p39"/>
          <p:cNvPicPr preferRelativeResize="0"/>
          <p:nvPr/>
        </p:nvPicPr>
        <p:blipFill>
          <a:blip r:embed="rId3">
            <a:alphaModFix/>
          </a:blip>
          <a:stretch>
            <a:fillRect/>
          </a:stretch>
        </p:blipFill>
        <p:spPr>
          <a:xfrm>
            <a:off x="1442550" y="2926660"/>
            <a:ext cx="2855119" cy="211931"/>
          </a:xfrm>
          <a:prstGeom prst="rect">
            <a:avLst/>
          </a:prstGeom>
          <a:noFill/>
          <a:ln>
            <a:noFill/>
          </a:ln>
        </p:spPr>
      </p:pic>
      <p:pic>
        <p:nvPicPr>
          <p:cNvPr descr="{&quot;code&quot;:&quot;$$\\mathrm{bounded\\text{\\_distance}}(q,e) = \\max\\big(0,\\ 1 - \\mathrm{similarity\\text{\\_}score}(q,e)\\big)$$&quot;,&quot;font&quot;:{&quot;size&quot;:14,&quot;color&quot;:&quot;#000000&quot;,&quot;family&quot;:&quot;Arial&quot;},&quot;type&quot;:&quot;$$&quot;,&quot;backgroundColorModified&quot;:false,&quot;backgroundColor&quot;:&quot;#FFFFFF&quot;,&quot;aid&quot;:null,&quot;id&quot;:&quot;11&quot;,&quot;ts&quot;:1779536435015,&quot;cs&quot;:&quot;wnpKUlUFquFgfNojxygFAg==&quot;,&quot;size&quot;:{&quot;width&quot;:558.5000000000001,&quot;height&quot;:26}}" id="355" name="Google Shape;355;p39"/>
          <p:cNvPicPr preferRelativeResize="0"/>
          <p:nvPr/>
        </p:nvPicPr>
        <p:blipFill>
          <a:blip r:embed="rId4">
            <a:alphaModFix/>
          </a:blip>
          <a:stretch>
            <a:fillRect/>
          </a:stretch>
        </p:blipFill>
        <p:spPr>
          <a:xfrm>
            <a:off x="1424055" y="3192504"/>
            <a:ext cx="5319713" cy="247650"/>
          </a:xfrm>
          <a:prstGeom prst="rect">
            <a:avLst/>
          </a:prstGeom>
          <a:noFill/>
          <a:ln>
            <a:noFill/>
          </a:ln>
        </p:spPr>
      </p:pic>
      <p:pic>
        <p:nvPicPr>
          <p:cNvPr descr="{&quot;backgroundColorModified&quot;:false,&quot;id&quot;:&quot;12&quot;,&quot;font&quot;:{&quot;color&quot;:&quot;#000000&quot;,&quot;family&quot;:&quot;Arial&quot;,&quot;size&quot;:12},&quot;aid&quot;:null,&quot;backgroundColor&quot;:&quot;#FFFFFF&quot;,&quot;code&quot;:&quot;$$\\mathrm{hub\\text{\\_}penalty}(e)\n=\n\\frac{\\deg(u)+\\deg(v)}\n{\\max_{(i,j)\\in E}\\big(\\deg(i)+\\deg(j)\\big)}$$&quot;,&quot;type&quot;:&quot;$$&quot;,&quot;ts&quot;:1779529104000,&quot;cs&quot;:&quot;FJVTEezM1x/+3gwWp/k2vg==&quot;,&quot;size&quot;:{&quot;width&quot;:379.6666666666667,&quot;height&quot;:49}}" id="356" name="Google Shape;356;p39"/>
          <p:cNvPicPr preferRelativeResize="0"/>
          <p:nvPr/>
        </p:nvPicPr>
        <p:blipFill>
          <a:blip r:embed="rId5">
            <a:alphaModFix/>
          </a:blip>
          <a:stretch>
            <a:fillRect/>
          </a:stretch>
        </p:blipFill>
        <p:spPr>
          <a:xfrm>
            <a:off x="500938" y="4445600"/>
            <a:ext cx="3616325" cy="466725"/>
          </a:xfrm>
          <a:prstGeom prst="rect">
            <a:avLst/>
          </a:prstGeom>
          <a:noFill/>
          <a:ln>
            <a:noFill/>
          </a:ln>
        </p:spPr>
      </p:pic>
      <p:pic>
        <p:nvPicPr>
          <p:cNvPr descr="{&quot;backgroundColor&quot;:&quot;#FFFFFF&quot;,&quot;font&quot;:{&quot;size&quot;:12,&quot;color&quot;:&quot;#000000&quot;,&quot;family&quot;:&quot;Arial&quot;},&quot;id&quot;:&quot;13&quot;,&quot;type&quot;:&quot;$$&quot;,&quot;code&quot;:&quot;$$\\mathrm{inverse\\text{\\_}weight\\text{\\_}penalty}(e) = \\frac{1}{1+w_{e}}\n$$&quot;,&quot;backgroundColorModified&quot;:false,&quot;aid&quot;:null,&quot;ts&quot;:1779529291350,&quot;cs&quot;:&quot;f42oX0LZZW+qzejp2/xLmA==&quot;,&quot;size&quot;:{&quot;width&quot;:298.5,&quot;height&quot;:41}}" id="357" name="Google Shape;357;p39"/>
          <p:cNvPicPr preferRelativeResize="0"/>
          <p:nvPr/>
        </p:nvPicPr>
        <p:blipFill>
          <a:blip r:embed="rId6">
            <a:alphaModFix/>
          </a:blip>
          <a:stretch>
            <a:fillRect/>
          </a:stretch>
        </p:blipFill>
        <p:spPr>
          <a:xfrm>
            <a:off x="4773313" y="4445600"/>
            <a:ext cx="2843213" cy="390525"/>
          </a:xfrm>
          <a:prstGeom prst="rect">
            <a:avLst/>
          </a:prstGeom>
          <a:noFill/>
          <a:ln>
            <a:noFill/>
          </a:ln>
        </p:spPr>
      </p:pic>
      <p:sp>
        <p:nvSpPr>
          <p:cNvPr id="358" name="Google Shape;358;p39"/>
          <p:cNvSpPr txBox="1"/>
          <p:nvPr/>
        </p:nvSpPr>
        <p:spPr>
          <a:xfrm>
            <a:off x="4332363" y="4048798"/>
            <a:ext cx="37251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1200">
                <a:solidFill>
                  <a:srgbClr val="E06666"/>
                </a:solidFill>
                <a:latin typeface="Lato"/>
                <a:ea typeface="Lato"/>
                <a:cs typeface="Lato"/>
                <a:sym typeface="Lato"/>
              </a:rPr>
              <a:t>Pénaliser les relations </a:t>
            </a:r>
            <a:r>
              <a:rPr b="1" lang="en-GB" sz="1200">
                <a:solidFill>
                  <a:srgbClr val="E06666"/>
                </a:solidFill>
                <a:latin typeface="Lato"/>
                <a:ea typeface="Lato"/>
                <a:cs typeface="Lato"/>
                <a:sym typeface="Lato"/>
              </a:rPr>
              <a:t>faibles</a:t>
            </a:r>
            <a:r>
              <a:rPr b="1" lang="en-GB" sz="1200">
                <a:solidFill>
                  <a:srgbClr val="E06666"/>
                </a:solidFill>
                <a:latin typeface="Lato"/>
                <a:ea typeface="Lato"/>
                <a:cs typeface="Lato"/>
                <a:sym typeface="Lato"/>
              </a:rPr>
              <a:t> plus que les fortes</a:t>
            </a:r>
            <a:endParaRPr b="1" sz="1200">
              <a:solidFill>
                <a:srgbClr val="E06666"/>
              </a:solidFill>
              <a:latin typeface="Lato"/>
              <a:ea typeface="Lato"/>
              <a:cs typeface="Lato"/>
              <a:sym typeface="Lato"/>
            </a:endParaRPr>
          </a:p>
        </p:txBody>
      </p:sp>
      <p:pic>
        <p:nvPicPr>
          <p:cNvPr descr="{&quot;backgroundColor&quot;:&quot;#FFFFFF&quot;,&quot;code&quot;:&quot;$$c(e \\mid q)\n=\n\\mathrm{bounded\\text{\\_}distance}(q,e)\n+\n0.15\\cdot \\mathrm{hub\\text{\\_}penalty}(e)\n+\n0.05\\cdot \\mathrm{inverse\\text{\\_}weight\\text{\\_}penalty}(e)$$&quot;,&quot;backgroundColorModified&quot;:false,&quot;font&quot;:{&quot;color&quot;:&quot;#000000&quot;,&quot;size&quot;:13,&quot;family&quot;:&quot;Arial&quot;},&quot;id&quot;:&quot;14&quot;,&quot;aid&quot;:null,&quot;type&quot;:&quot;$$&quot;,&quot;ts&quot;:1779536538053,&quot;cs&quot;:&quot;sj2MYZsJ80Mc0MgvPnrPqg==&quot;,&quot;size&quot;:{&quot;width&quot;:787,&quot;height&quot;:21}}" id="359" name="Google Shape;359;p39"/>
          <p:cNvPicPr preferRelativeResize="0"/>
          <p:nvPr/>
        </p:nvPicPr>
        <p:blipFill>
          <a:blip r:embed="rId7">
            <a:alphaModFix/>
          </a:blip>
          <a:stretch>
            <a:fillRect/>
          </a:stretch>
        </p:blipFill>
        <p:spPr>
          <a:xfrm>
            <a:off x="1442556" y="3515272"/>
            <a:ext cx="7496175" cy="200025"/>
          </a:xfrm>
          <a:prstGeom prst="rect">
            <a:avLst/>
          </a:prstGeom>
          <a:noFill/>
          <a:ln>
            <a:noFill/>
          </a:ln>
        </p:spPr>
      </p:pic>
      <p:sp>
        <p:nvSpPr>
          <p:cNvPr id="360" name="Google Shape;360;p39"/>
          <p:cNvSpPr txBox="1"/>
          <p:nvPr/>
        </p:nvSpPr>
        <p:spPr>
          <a:xfrm>
            <a:off x="3956725" y="858004"/>
            <a:ext cx="3809700" cy="1369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100">
                <a:latin typeface="Lato"/>
                <a:ea typeface="Lato"/>
                <a:cs typeface="Lato"/>
                <a:sym typeface="Lato"/>
              </a:rPr>
              <a:t>Calculer embedding sur</a:t>
            </a:r>
            <a:endParaRPr b="1" sz="1100">
              <a:latin typeface="Lato"/>
              <a:ea typeface="Lato"/>
              <a:cs typeface="Lato"/>
              <a:sym typeface="Lato"/>
            </a:endParaRPr>
          </a:p>
          <a:p>
            <a:pPr indent="0" lvl="0" marL="0" rtl="0" algn="l">
              <a:spcBef>
                <a:spcPts val="0"/>
              </a:spcBef>
              <a:spcAft>
                <a:spcPts val="0"/>
              </a:spcAft>
              <a:buNone/>
            </a:pPr>
            <a:r>
              <a:t/>
            </a:r>
            <a:endParaRPr b="1" sz="1100">
              <a:latin typeface="Lato"/>
              <a:ea typeface="Lato"/>
              <a:cs typeface="Lato"/>
              <a:sym typeface="Lato"/>
            </a:endParaRPr>
          </a:p>
          <a:p>
            <a:pPr indent="0" lvl="0" marL="0" rtl="0" algn="l">
              <a:spcBef>
                <a:spcPts val="0"/>
              </a:spcBef>
              <a:spcAft>
                <a:spcPts val="0"/>
              </a:spcAft>
              <a:buNone/>
            </a:pPr>
            <a:r>
              <a:rPr lang="en-GB" sz="1100">
                <a:latin typeface="Courier New"/>
                <a:ea typeface="Courier New"/>
                <a:cs typeface="Courier New"/>
                <a:sym typeface="Courier New"/>
              </a:rPr>
              <a:t>source: &lt;source entity name&gt;</a:t>
            </a:r>
            <a:endParaRPr sz="1100">
              <a:latin typeface="Courier New"/>
              <a:ea typeface="Courier New"/>
              <a:cs typeface="Courier New"/>
              <a:sym typeface="Courier New"/>
            </a:endParaRPr>
          </a:p>
          <a:p>
            <a:pPr indent="0" lvl="0" marL="0" rtl="0" algn="l">
              <a:spcBef>
                <a:spcPts val="0"/>
              </a:spcBef>
              <a:spcAft>
                <a:spcPts val="0"/>
              </a:spcAft>
              <a:buNone/>
            </a:pPr>
            <a:r>
              <a:rPr lang="en-GB" sz="1100">
                <a:latin typeface="Courier New"/>
                <a:ea typeface="Courier New"/>
                <a:cs typeface="Courier New"/>
                <a:sym typeface="Courier New"/>
              </a:rPr>
              <a:t>&lt;source entity description&gt;</a:t>
            </a:r>
            <a:endParaRPr sz="1100">
              <a:latin typeface="Courier New"/>
              <a:ea typeface="Courier New"/>
              <a:cs typeface="Courier New"/>
              <a:sym typeface="Courier New"/>
            </a:endParaRPr>
          </a:p>
          <a:p>
            <a:pPr indent="0" lvl="0" marL="0" rtl="0" algn="l">
              <a:spcBef>
                <a:spcPts val="0"/>
              </a:spcBef>
              <a:spcAft>
                <a:spcPts val="0"/>
              </a:spcAft>
              <a:buNone/>
            </a:pPr>
            <a:r>
              <a:rPr lang="en-GB" sz="1100">
                <a:latin typeface="Courier New"/>
                <a:ea typeface="Courier New"/>
                <a:cs typeface="Courier New"/>
                <a:sym typeface="Courier New"/>
              </a:rPr>
              <a:t>relation: &lt;relation description&gt;</a:t>
            </a:r>
            <a:endParaRPr sz="1100">
              <a:latin typeface="Courier New"/>
              <a:ea typeface="Courier New"/>
              <a:cs typeface="Courier New"/>
              <a:sym typeface="Courier New"/>
            </a:endParaRPr>
          </a:p>
          <a:p>
            <a:pPr indent="0" lvl="0" marL="0" rtl="0" algn="l">
              <a:spcBef>
                <a:spcPts val="0"/>
              </a:spcBef>
              <a:spcAft>
                <a:spcPts val="0"/>
              </a:spcAft>
              <a:buNone/>
            </a:pPr>
            <a:r>
              <a:rPr lang="en-GB" sz="1100">
                <a:latin typeface="Courier New"/>
                <a:ea typeface="Courier New"/>
                <a:cs typeface="Courier New"/>
                <a:sym typeface="Courier New"/>
              </a:rPr>
              <a:t>target: &lt;target entity name&gt;</a:t>
            </a:r>
            <a:endParaRPr sz="1100">
              <a:latin typeface="Courier New"/>
              <a:ea typeface="Courier New"/>
              <a:cs typeface="Courier New"/>
              <a:sym typeface="Courier New"/>
            </a:endParaRPr>
          </a:p>
          <a:p>
            <a:pPr indent="0" lvl="0" marL="0" rtl="0" algn="l">
              <a:spcBef>
                <a:spcPts val="0"/>
              </a:spcBef>
              <a:spcAft>
                <a:spcPts val="0"/>
              </a:spcAft>
              <a:buNone/>
            </a:pPr>
            <a:r>
              <a:rPr lang="en-GB" sz="1100">
                <a:latin typeface="Courier New"/>
                <a:ea typeface="Courier New"/>
                <a:cs typeface="Courier New"/>
                <a:sym typeface="Courier New"/>
              </a:rPr>
              <a:t>&lt;target entity description&gt;</a:t>
            </a:r>
            <a:endParaRPr sz="1100">
              <a:latin typeface="Courier New"/>
              <a:ea typeface="Courier New"/>
              <a:cs typeface="Courier New"/>
              <a:sym typeface="Courier New"/>
            </a:endParaRPr>
          </a:p>
        </p:txBody>
      </p:sp>
      <p:sp>
        <p:nvSpPr>
          <p:cNvPr id="361" name="Google Shape;361;p39"/>
          <p:cNvSpPr txBox="1"/>
          <p:nvPr/>
        </p:nvSpPr>
        <p:spPr>
          <a:xfrm>
            <a:off x="1354575" y="1466375"/>
            <a:ext cx="21687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500">
                <a:solidFill>
                  <a:schemeClr val="accent1"/>
                </a:solidFill>
                <a:latin typeface="Lato"/>
                <a:ea typeface="Lato"/>
                <a:cs typeface="Lato"/>
                <a:sym typeface="Lato"/>
              </a:rPr>
              <a:t>Embedding d’une arête </a:t>
            </a:r>
            <a:endParaRPr b="1" sz="1500">
              <a:solidFill>
                <a:schemeClr val="accent1"/>
              </a:solidFill>
              <a:latin typeface="Lato"/>
              <a:ea typeface="Lato"/>
              <a:cs typeface="Lato"/>
              <a:sym typeface="Lato"/>
            </a:endParaRPr>
          </a:p>
        </p:txBody>
      </p:sp>
      <p:sp>
        <p:nvSpPr>
          <p:cNvPr id="362" name="Google Shape;362;p39"/>
          <p:cNvSpPr/>
          <p:nvPr/>
        </p:nvSpPr>
        <p:spPr>
          <a:xfrm>
            <a:off x="887775" y="1436475"/>
            <a:ext cx="466800" cy="466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100">
                <a:solidFill>
                  <a:schemeClr val="lt1"/>
                </a:solidFill>
                <a:latin typeface="Lato"/>
                <a:ea typeface="Lato"/>
                <a:cs typeface="Lato"/>
                <a:sym typeface="Lato"/>
              </a:rPr>
              <a:t>1</a:t>
            </a:r>
            <a:endParaRPr sz="2100">
              <a:solidFill>
                <a:schemeClr val="lt1"/>
              </a:solidFill>
              <a:latin typeface="Lato"/>
              <a:ea typeface="Lato"/>
              <a:cs typeface="Lato"/>
              <a:sym typeface="Lato"/>
            </a:endParaRPr>
          </a:p>
        </p:txBody>
      </p:sp>
      <p:sp>
        <p:nvSpPr>
          <p:cNvPr id="363" name="Google Shape;363;p39"/>
          <p:cNvSpPr/>
          <p:nvPr/>
        </p:nvSpPr>
        <p:spPr>
          <a:xfrm>
            <a:off x="887775" y="2334563"/>
            <a:ext cx="466800" cy="466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100">
                <a:solidFill>
                  <a:schemeClr val="lt1"/>
                </a:solidFill>
                <a:latin typeface="Lato"/>
                <a:ea typeface="Lato"/>
                <a:cs typeface="Lato"/>
                <a:sym typeface="Lato"/>
              </a:rPr>
              <a:t>2</a:t>
            </a:r>
            <a:endParaRPr sz="2100">
              <a:solidFill>
                <a:schemeClr val="lt1"/>
              </a:solidFill>
              <a:latin typeface="Lato"/>
              <a:ea typeface="Lato"/>
              <a:cs typeface="Lato"/>
              <a:sym typeface="Lato"/>
            </a:endParaRPr>
          </a:p>
        </p:txBody>
      </p:sp>
      <p:sp>
        <p:nvSpPr>
          <p:cNvPr id="364" name="Google Shape;364;p39"/>
          <p:cNvSpPr txBox="1"/>
          <p:nvPr/>
        </p:nvSpPr>
        <p:spPr>
          <a:xfrm>
            <a:off x="1354576" y="2369463"/>
            <a:ext cx="67029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chemeClr val="accent1"/>
                </a:solidFill>
                <a:latin typeface="Lato"/>
                <a:ea typeface="Lato"/>
                <a:cs typeface="Lato"/>
                <a:sym typeface="Lato"/>
              </a:rPr>
              <a:t>Définir le</a:t>
            </a:r>
            <a:r>
              <a:rPr b="1" lang="en-GB" sz="1500">
                <a:solidFill>
                  <a:schemeClr val="accent1"/>
                </a:solidFill>
                <a:latin typeface="Lato"/>
                <a:ea typeface="Lato"/>
                <a:cs typeface="Lato"/>
                <a:sym typeface="Lato"/>
              </a:rPr>
              <a:t> coût d’une arête</a:t>
            </a:r>
            <a:r>
              <a:rPr lang="en-GB" sz="1500">
                <a:solidFill>
                  <a:schemeClr val="accent1"/>
                </a:solidFill>
                <a:latin typeface="Lato"/>
                <a:ea typeface="Lato"/>
                <a:cs typeface="Lato"/>
                <a:sym typeface="Lato"/>
              </a:rPr>
              <a:t> </a:t>
            </a:r>
            <a:r>
              <a:rPr b="1" lang="en-GB" sz="1500">
                <a:solidFill>
                  <a:schemeClr val="accent1"/>
                </a:solidFill>
                <a:latin typeface="Lato"/>
                <a:ea typeface="Lato"/>
                <a:cs typeface="Lato"/>
                <a:sym typeface="Lato"/>
              </a:rPr>
              <a:t>e = (u, v)</a:t>
            </a:r>
            <a:r>
              <a:rPr lang="en-GB" sz="1500">
                <a:solidFill>
                  <a:schemeClr val="accent1"/>
                </a:solidFill>
                <a:latin typeface="Lato"/>
                <a:ea typeface="Lato"/>
                <a:cs typeface="Lato"/>
                <a:sym typeface="Lato"/>
              </a:rPr>
              <a:t> par rapport à la requête </a:t>
            </a:r>
            <a:r>
              <a:rPr b="1" lang="en-GB" sz="1500">
                <a:solidFill>
                  <a:schemeClr val="accent1"/>
                </a:solidFill>
                <a:latin typeface="Lato"/>
                <a:ea typeface="Lato"/>
                <a:cs typeface="Lato"/>
                <a:sym typeface="Lato"/>
              </a:rPr>
              <a:t>q</a:t>
            </a:r>
            <a:endParaRPr b="1" sz="1500">
              <a:solidFill>
                <a:schemeClr val="accent1"/>
              </a:solidFill>
              <a:latin typeface="Lato"/>
              <a:ea typeface="Lato"/>
              <a:cs typeface="Lato"/>
              <a:sym typeface="Lato"/>
            </a:endParaRPr>
          </a:p>
        </p:txBody>
      </p:sp>
      <p:sp>
        <p:nvSpPr>
          <p:cNvPr id="365" name="Google Shape;365;p39"/>
          <p:cNvSpPr txBox="1"/>
          <p:nvPr/>
        </p:nvSpPr>
        <p:spPr>
          <a:xfrm>
            <a:off x="8057475" y="3900774"/>
            <a:ext cx="1099200" cy="1108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GB" sz="1000">
                <a:solidFill>
                  <a:schemeClr val="dk1"/>
                </a:solidFill>
                <a:latin typeface="Lato"/>
                <a:ea typeface="Lato"/>
                <a:cs typeface="Lato"/>
                <a:sym typeface="Lato"/>
              </a:rPr>
              <a:t>Relationship strength (définie</a:t>
            </a:r>
            <a:endParaRPr sz="1000">
              <a:solidFill>
                <a:schemeClr val="dk1"/>
              </a:solidFill>
              <a:latin typeface="Lato"/>
              <a:ea typeface="Lato"/>
              <a:cs typeface="Lato"/>
              <a:sym typeface="Lato"/>
            </a:endParaRPr>
          </a:p>
          <a:p>
            <a:pPr indent="0" lvl="0" marL="0" rtl="0" algn="l">
              <a:spcBef>
                <a:spcPts val="0"/>
              </a:spcBef>
              <a:spcAft>
                <a:spcPts val="0"/>
              </a:spcAft>
              <a:buNone/>
            </a:pPr>
            <a:r>
              <a:rPr lang="en-GB" sz="1000">
                <a:solidFill>
                  <a:schemeClr val="dk1"/>
                </a:solidFill>
                <a:latin typeface="Lato"/>
                <a:ea typeface="Lato"/>
                <a:cs typeface="Lato"/>
                <a:sym typeface="Lato"/>
              </a:rPr>
              <a:t>pendant la construction</a:t>
            </a:r>
            <a:endParaRPr sz="1000">
              <a:solidFill>
                <a:schemeClr val="dk1"/>
              </a:solidFill>
              <a:latin typeface="Lato"/>
              <a:ea typeface="Lato"/>
              <a:cs typeface="Lato"/>
              <a:sym typeface="Lato"/>
            </a:endParaRPr>
          </a:p>
          <a:p>
            <a:pPr indent="0" lvl="0" marL="0" rtl="0" algn="just">
              <a:spcBef>
                <a:spcPts val="0"/>
              </a:spcBef>
              <a:spcAft>
                <a:spcPts val="0"/>
              </a:spcAft>
              <a:buNone/>
            </a:pPr>
            <a:r>
              <a:rPr lang="en-GB" sz="1000">
                <a:solidFill>
                  <a:schemeClr val="dk1"/>
                </a:solidFill>
                <a:latin typeface="Lato"/>
                <a:ea typeface="Lato"/>
                <a:cs typeface="Lato"/>
                <a:sym typeface="Lato"/>
              </a:rPr>
              <a:t>du graphe)</a:t>
            </a:r>
            <a:endParaRPr sz="1000">
              <a:solidFill>
                <a:schemeClr val="dk1"/>
              </a:solidFill>
              <a:latin typeface="Lato"/>
              <a:ea typeface="Lato"/>
              <a:cs typeface="Lato"/>
              <a:sym typeface="Lato"/>
            </a:endParaRPr>
          </a:p>
        </p:txBody>
      </p:sp>
      <p:sp>
        <p:nvSpPr>
          <p:cNvPr id="366" name="Google Shape;366;p39"/>
          <p:cNvSpPr txBox="1"/>
          <p:nvPr/>
        </p:nvSpPr>
        <p:spPr>
          <a:xfrm>
            <a:off x="392163" y="4033375"/>
            <a:ext cx="37251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1200">
                <a:solidFill>
                  <a:srgbClr val="E06666"/>
                </a:solidFill>
                <a:latin typeface="Lato"/>
                <a:ea typeface="Lato"/>
                <a:cs typeface="Lato"/>
                <a:sym typeface="Lato"/>
              </a:rPr>
              <a:t>Pénaliser des noeuds génériques</a:t>
            </a:r>
            <a:endParaRPr b="1" sz="1200">
              <a:solidFill>
                <a:srgbClr val="E06666"/>
              </a:solidFill>
              <a:latin typeface="Lato"/>
              <a:ea typeface="Lato"/>
              <a:cs typeface="Lato"/>
              <a:sym typeface="Lato"/>
            </a:endParaRPr>
          </a:p>
        </p:txBody>
      </p:sp>
      <p:cxnSp>
        <p:nvCxnSpPr>
          <p:cNvPr id="367" name="Google Shape;367;p39"/>
          <p:cNvCxnSpPr/>
          <p:nvPr/>
        </p:nvCxnSpPr>
        <p:spPr>
          <a:xfrm flipH="1">
            <a:off x="7687575" y="4553250"/>
            <a:ext cx="369900" cy="204600"/>
          </a:xfrm>
          <a:prstGeom prst="straightConnector1">
            <a:avLst/>
          </a:prstGeom>
          <a:noFill/>
          <a:ln cap="flat" cmpd="sng" w="19050">
            <a:solidFill>
              <a:schemeClr val="dk1"/>
            </a:solidFill>
            <a:prstDash val="solid"/>
            <a:round/>
            <a:headEnd len="med" w="med" type="none"/>
            <a:tailEnd len="med" w="med" type="stealth"/>
          </a:ln>
        </p:spPr>
      </p:cxnSp>
      <p:sp>
        <p:nvSpPr>
          <p:cNvPr id="368" name="Google Shape;368;p39"/>
          <p:cNvSpPr/>
          <p:nvPr/>
        </p:nvSpPr>
        <p:spPr>
          <a:xfrm>
            <a:off x="3968750" y="1245575"/>
            <a:ext cx="2843100" cy="982200"/>
          </a:xfrm>
          <a:prstGeom prst="rect">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descr="{&quot;id&quot;:&quot;31&quot;,&quot;type&quot;:&quot;$$&quot;,&quot;code&quot;:&quot;$$u(e \\mid q)=\\max(0, 1-c(e \\mid q))$$&quot;,&quot;font&quot;:{&quot;size&quot;:13,&quot;family&quot;:&quot;Arial&quot;,&quot;color&quot;:&quot;#000000&quot;},&quot;backgroundColorModified&quot;:false,&quot;aid&quot;:null,&quot;backgroundColor&quot;:&quot;#FFFFFF&quot;,&quot;ts&quot;:1779544424986,&quot;cs&quot;:&quot;2dpX1gfKPE35L7IlxBacWw==&quot;,&quot;size&quot;:{&quot;width&quot;:251.2047401574803,&quot;height&quot;:21.000002099737557}}" id="369" name="Google Shape;369;p39"/>
          <p:cNvPicPr preferRelativeResize="0"/>
          <p:nvPr/>
        </p:nvPicPr>
        <p:blipFill>
          <a:blip r:embed="rId8">
            <a:alphaModFix/>
          </a:blip>
          <a:stretch>
            <a:fillRect/>
          </a:stretch>
        </p:blipFill>
        <p:spPr>
          <a:xfrm>
            <a:off x="1424050" y="3790425"/>
            <a:ext cx="2392725" cy="200025"/>
          </a:xfrm>
          <a:prstGeom prst="rect">
            <a:avLst/>
          </a:prstGeom>
          <a:noFill/>
          <a:ln>
            <a:noFill/>
          </a:ln>
        </p:spPr>
      </p:pic>
      <p:sp>
        <p:nvSpPr>
          <p:cNvPr id="370" name="Google Shape;370;p39"/>
          <p:cNvSpPr txBox="1"/>
          <p:nvPr/>
        </p:nvSpPr>
        <p:spPr>
          <a:xfrm>
            <a:off x="3863450" y="3697975"/>
            <a:ext cx="44418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300">
                <a:solidFill>
                  <a:schemeClr val="accent1"/>
                </a:solidFill>
                <a:latin typeface="Lato"/>
                <a:ea typeface="Lato"/>
                <a:cs typeface="Lato"/>
                <a:sym typeface="Lato"/>
              </a:rPr>
              <a:t>utilité (utilisée en MCTS)</a:t>
            </a:r>
            <a:endParaRPr b="1" sz="1300">
              <a:solidFill>
                <a:schemeClr val="accent1"/>
              </a:solidFill>
              <a:latin typeface="Lato"/>
              <a:ea typeface="Lato"/>
              <a:cs typeface="Lato"/>
              <a:sym typeface="Lato"/>
            </a:endParaRPr>
          </a:p>
        </p:txBody>
      </p:sp>
      <p:sp>
        <p:nvSpPr>
          <p:cNvPr id="371" name="Google Shape;371;p39"/>
          <p:cNvSpPr txBox="1"/>
          <p:nvPr/>
        </p:nvSpPr>
        <p:spPr>
          <a:xfrm>
            <a:off x="5482800" y="4012525"/>
            <a:ext cx="36783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300">
              <a:solidFill>
                <a:schemeClr val="accent1"/>
              </a:solidFill>
              <a:latin typeface="Lato"/>
              <a:ea typeface="Lato"/>
              <a:cs typeface="Lato"/>
              <a:sym typeface="Lato"/>
            </a:endParaRPr>
          </a:p>
        </p:txBody>
      </p:sp>
      <p:sp>
        <p:nvSpPr>
          <p:cNvPr id="372" name="Google Shape;372;p39"/>
          <p:cNvSpPr txBox="1"/>
          <p:nvPr/>
        </p:nvSpPr>
        <p:spPr>
          <a:xfrm>
            <a:off x="346993" y="3423326"/>
            <a:ext cx="1233900" cy="384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300">
                <a:solidFill>
                  <a:schemeClr val="dk1"/>
                </a:solidFill>
                <a:latin typeface="Lato"/>
                <a:ea typeface="Lato"/>
                <a:cs typeface="Lato"/>
                <a:sym typeface="Lato"/>
              </a:rPr>
              <a:t>minimiser </a:t>
            </a:r>
            <a:endParaRPr b="1" sz="1300">
              <a:solidFill>
                <a:schemeClr val="dk1"/>
              </a:solidFill>
              <a:latin typeface="Lato"/>
              <a:ea typeface="Lato"/>
              <a:cs typeface="Lato"/>
              <a:sym typeface="Lato"/>
            </a:endParaRPr>
          </a:p>
        </p:txBody>
      </p:sp>
      <p:sp>
        <p:nvSpPr>
          <p:cNvPr id="373" name="Google Shape;373;p39"/>
          <p:cNvSpPr txBox="1"/>
          <p:nvPr/>
        </p:nvSpPr>
        <p:spPr>
          <a:xfrm>
            <a:off x="353611" y="3697976"/>
            <a:ext cx="1233900" cy="384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300">
                <a:solidFill>
                  <a:schemeClr val="dk1"/>
                </a:solidFill>
                <a:latin typeface="Lato"/>
                <a:ea typeface="Lato"/>
                <a:cs typeface="Lato"/>
                <a:sym typeface="Lato"/>
              </a:rPr>
              <a:t>maxi</a:t>
            </a:r>
            <a:r>
              <a:rPr b="1" lang="en-GB" sz="1300">
                <a:solidFill>
                  <a:schemeClr val="dk1"/>
                </a:solidFill>
                <a:latin typeface="Lato"/>
                <a:ea typeface="Lato"/>
                <a:cs typeface="Lato"/>
                <a:sym typeface="Lato"/>
              </a:rPr>
              <a:t>miser </a:t>
            </a:r>
            <a:endParaRPr b="1" sz="1300">
              <a:solidFill>
                <a:schemeClr val="dk1"/>
              </a:solidFill>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77" name="Shape 377"/>
        <p:cNvGrpSpPr/>
        <p:nvPr/>
      </p:nvGrpSpPr>
      <p:grpSpPr>
        <a:xfrm>
          <a:off x="0" y="0"/>
          <a:ext cx="0" cy="0"/>
          <a:chOff x="0" y="0"/>
          <a:chExt cx="0" cy="0"/>
        </a:xfrm>
      </p:grpSpPr>
      <p:sp>
        <p:nvSpPr>
          <p:cNvPr id="378" name="Google Shape;378;p40"/>
          <p:cNvSpPr/>
          <p:nvPr/>
        </p:nvSpPr>
        <p:spPr>
          <a:xfrm>
            <a:off x="0" y="0"/>
            <a:ext cx="9144000" cy="487800"/>
          </a:xfrm>
          <a:prstGeom prst="rect">
            <a:avLst/>
          </a:prstGeom>
          <a:solidFill>
            <a:srgbClr val="E9ED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9" name="Google Shape;379;p40">
            <a:hlinkClick/>
          </p:cNvPr>
          <p:cNvSpPr/>
          <p:nvPr/>
        </p:nvSpPr>
        <p:spPr>
          <a:xfrm>
            <a:off x="8280450" y="0"/>
            <a:ext cx="863400" cy="454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0" name="Google Shape;380;p40"/>
          <p:cNvGrpSpPr/>
          <p:nvPr/>
        </p:nvGrpSpPr>
        <p:grpSpPr>
          <a:xfrm>
            <a:off x="-1796978" y="-1350690"/>
            <a:ext cx="3373133" cy="2587772"/>
            <a:chOff x="830390" y="1191178"/>
            <a:chExt cx="4814635" cy="1423025"/>
          </a:xfrm>
        </p:grpSpPr>
        <p:sp>
          <p:nvSpPr>
            <p:cNvPr id="381" name="Google Shape;381;p40"/>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40"/>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40"/>
            <p:cNvSpPr/>
            <p:nvPr/>
          </p:nvSpPr>
          <p:spPr>
            <a:xfrm rot="-5400000">
              <a:off x="1366793" y="1027688"/>
              <a:ext cx="45900" cy="372900"/>
            </a:xfrm>
            <a:prstGeom prst="rect">
              <a:avLst/>
            </a:prstGeom>
            <a:solidFill>
              <a:srgbClr val="EB5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4" name="Google Shape;384;p40"/>
            <p:cNvSpPr/>
            <p:nvPr/>
          </p:nvSpPr>
          <p:spPr>
            <a:xfrm rot="-5400000">
              <a:off x="995390" y="1026178"/>
              <a:ext cx="45900" cy="375900"/>
            </a:xfrm>
            <a:prstGeom prst="rect">
              <a:avLst/>
            </a:prstGeom>
            <a:solidFill>
              <a:srgbClr val="1A99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cxnSp>
        <p:nvCxnSpPr>
          <p:cNvPr id="385" name="Google Shape;385;p40">
            <a:hlinkClick/>
          </p:cNvPr>
          <p:cNvCxnSpPr/>
          <p:nvPr/>
        </p:nvCxnSpPr>
        <p:spPr>
          <a:xfrm>
            <a:off x="8598817" y="216350"/>
            <a:ext cx="216300" cy="0"/>
          </a:xfrm>
          <a:prstGeom prst="straightConnector1">
            <a:avLst/>
          </a:prstGeom>
          <a:noFill/>
          <a:ln cap="flat" cmpd="sng" w="9525">
            <a:solidFill>
              <a:srgbClr val="B7B7B7"/>
            </a:solidFill>
            <a:prstDash val="solid"/>
            <a:round/>
            <a:headEnd len="med" w="med" type="none"/>
            <a:tailEnd len="med" w="med" type="none"/>
          </a:ln>
        </p:spPr>
      </p:cxnSp>
      <p:sp>
        <p:nvSpPr>
          <p:cNvPr id="386" name="Google Shape;386;p40"/>
          <p:cNvSpPr txBox="1"/>
          <p:nvPr>
            <p:ph type="title"/>
          </p:nvPr>
        </p:nvSpPr>
        <p:spPr>
          <a:xfrm>
            <a:off x="727650" y="669600"/>
            <a:ext cx="7688700" cy="535200"/>
          </a:xfrm>
          <a:prstGeom prst="rect">
            <a:avLst/>
          </a:prstGeom>
          <a:solidFill>
            <a:srgbClr val="000000">
              <a:alpha val="0"/>
            </a:srgbClr>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210">
                <a:solidFill>
                  <a:srgbClr val="1A1A1A"/>
                </a:solidFill>
                <a:latin typeface="Raleway"/>
                <a:ea typeface="Raleway"/>
                <a:cs typeface="Raleway"/>
                <a:sym typeface="Raleway"/>
              </a:rPr>
              <a:t>Dijkstra pondéré</a:t>
            </a:r>
            <a:endParaRPr b="1" sz="2210">
              <a:solidFill>
                <a:srgbClr val="1A1A1A"/>
              </a:solidFill>
              <a:latin typeface="Raleway"/>
              <a:ea typeface="Raleway"/>
              <a:cs typeface="Raleway"/>
              <a:sym typeface="Raleway"/>
            </a:endParaRPr>
          </a:p>
        </p:txBody>
      </p:sp>
      <p:cxnSp>
        <p:nvCxnSpPr>
          <p:cNvPr id="387" name="Google Shape;387;p40">
            <a:hlinkClick/>
          </p:cNvPr>
          <p:cNvCxnSpPr/>
          <p:nvPr/>
        </p:nvCxnSpPr>
        <p:spPr>
          <a:xfrm>
            <a:off x="8598817" y="250138"/>
            <a:ext cx="216300" cy="0"/>
          </a:xfrm>
          <a:prstGeom prst="straightConnector1">
            <a:avLst/>
          </a:prstGeom>
          <a:noFill/>
          <a:ln cap="flat" cmpd="sng" w="9525">
            <a:solidFill>
              <a:srgbClr val="B7B7B7"/>
            </a:solidFill>
            <a:prstDash val="solid"/>
            <a:round/>
            <a:headEnd len="med" w="med" type="none"/>
            <a:tailEnd len="med" w="med" type="none"/>
          </a:ln>
        </p:spPr>
      </p:cxnSp>
      <p:sp>
        <p:nvSpPr>
          <p:cNvPr id="388" name="Google Shape;388;p40"/>
          <p:cNvSpPr/>
          <p:nvPr/>
        </p:nvSpPr>
        <p:spPr>
          <a:xfrm>
            <a:off x="723900" y="1428750"/>
            <a:ext cx="3952800" cy="1238400"/>
          </a:xfrm>
          <a:prstGeom prst="roundRect">
            <a:avLst>
              <a:gd fmla="val 6153" name="adj"/>
            </a:avLst>
          </a:prstGeom>
          <a:solidFill>
            <a:srgbClr val="F8FAFB"/>
          </a:solidFill>
          <a:ln cap="flat" cmpd="sng" w="9525">
            <a:solidFill>
              <a:srgbClr val="E9EDE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389" name="Google Shape;389;p40">
            <a:hlinkClick/>
          </p:cNvPr>
          <p:cNvCxnSpPr/>
          <p:nvPr/>
        </p:nvCxnSpPr>
        <p:spPr>
          <a:xfrm>
            <a:off x="8598817" y="283925"/>
            <a:ext cx="216300" cy="0"/>
          </a:xfrm>
          <a:prstGeom prst="straightConnector1">
            <a:avLst/>
          </a:prstGeom>
          <a:noFill/>
          <a:ln cap="flat" cmpd="sng" w="9525">
            <a:solidFill>
              <a:srgbClr val="B7B7B7"/>
            </a:solidFill>
            <a:prstDash val="solid"/>
            <a:round/>
            <a:headEnd len="med" w="med" type="none"/>
            <a:tailEnd len="med" w="med" type="none"/>
          </a:ln>
        </p:spPr>
      </p:cxnSp>
      <p:sp>
        <p:nvSpPr>
          <p:cNvPr id="390" name="Google Shape;390;p40"/>
          <p:cNvSpPr txBox="1"/>
          <p:nvPr/>
        </p:nvSpPr>
        <p:spPr>
          <a:xfrm>
            <a:off x="914400" y="1571625"/>
            <a:ext cx="35718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1100">
                <a:solidFill>
                  <a:srgbClr val="595959"/>
                </a:solidFill>
                <a:latin typeface="Lato"/>
                <a:ea typeface="Lato"/>
                <a:cs typeface="Lato"/>
                <a:sym typeface="Lato"/>
              </a:rPr>
              <a:t>Objective de HiRAG (par défaut)</a:t>
            </a:r>
            <a:endParaRPr b="1" sz="1100">
              <a:solidFill>
                <a:srgbClr val="595959"/>
              </a:solidFill>
              <a:latin typeface="Lato"/>
              <a:ea typeface="Lato"/>
              <a:cs typeface="Lato"/>
              <a:sym typeface="Lato"/>
            </a:endParaRPr>
          </a:p>
        </p:txBody>
      </p:sp>
      <p:pic>
        <p:nvPicPr>
          <p:cNvPr id="391" name="Google Shape;391;p40"/>
          <p:cNvPicPr preferRelativeResize="0"/>
          <p:nvPr/>
        </p:nvPicPr>
        <p:blipFill rotWithShape="1">
          <a:blip r:embed="rId4">
            <a:alphaModFix/>
          </a:blip>
          <a:srcRect b="0" l="0" r="0" t="0"/>
          <a:stretch/>
        </p:blipFill>
        <p:spPr>
          <a:xfrm>
            <a:off x="1855950" y="1993263"/>
            <a:ext cx="1428900" cy="442500"/>
          </a:xfrm>
          <a:prstGeom prst="rect">
            <a:avLst/>
          </a:prstGeom>
          <a:noFill/>
          <a:ln>
            <a:noFill/>
          </a:ln>
        </p:spPr>
      </p:pic>
      <p:pic>
        <p:nvPicPr>
          <p:cNvPr id="392" name="Google Shape;392;p40"/>
          <p:cNvPicPr preferRelativeResize="0"/>
          <p:nvPr/>
        </p:nvPicPr>
        <p:blipFill rotWithShape="1">
          <a:blip r:embed="rId5">
            <a:alphaModFix/>
          </a:blip>
          <a:srcRect b="10" l="0" r="0" t="10"/>
          <a:stretch/>
        </p:blipFill>
        <p:spPr>
          <a:xfrm>
            <a:off x="3095875" y="1626533"/>
            <a:ext cx="1428900" cy="176100"/>
          </a:xfrm>
          <a:prstGeom prst="rect">
            <a:avLst/>
          </a:prstGeom>
          <a:noFill/>
          <a:ln>
            <a:noFill/>
          </a:ln>
        </p:spPr>
      </p:pic>
      <p:pic>
        <p:nvPicPr>
          <p:cNvPr id="393" name="Google Shape;393;p40"/>
          <p:cNvPicPr preferRelativeResize="0"/>
          <p:nvPr/>
        </p:nvPicPr>
        <p:blipFill rotWithShape="1">
          <a:blip r:embed="rId6">
            <a:alphaModFix/>
          </a:blip>
          <a:srcRect b="0" l="0" r="0" t="0"/>
          <a:stretch/>
        </p:blipFill>
        <p:spPr>
          <a:xfrm>
            <a:off x="4862513" y="1423988"/>
            <a:ext cx="3962400" cy="1247700"/>
          </a:xfrm>
          <a:prstGeom prst="rect">
            <a:avLst/>
          </a:prstGeom>
          <a:noFill/>
          <a:ln>
            <a:noFill/>
          </a:ln>
        </p:spPr>
      </p:pic>
      <p:sp>
        <p:nvSpPr>
          <p:cNvPr id="394" name="Google Shape;394;p40"/>
          <p:cNvSpPr txBox="1"/>
          <p:nvPr/>
        </p:nvSpPr>
        <p:spPr>
          <a:xfrm>
            <a:off x="5057775" y="1571625"/>
            <a:ext cx="35718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1300">
                <a:solidFill>
                  <a:srgbClr val="1A9988"/>
                </a:solidFill>
                <a:latin typeface="Lato"/>
                <a:ea typeface="Lato"/>
                <a:cs typeface="Lato"/>
                <a:sym typeface="Lato"/>
              </a:rPr>
              <a:t>Dijkstra pondéré</a:t>
            </a:r>
            <a:endParaRPr b="1" sz="1300">
              <a:solidFill>
                <a:srgbClr val="1A9988"/>
              </a:solidFill>
              <a:latin typeface="Lato"/>
              <a:ea typeface="Lato"/>
              <a:cs typeface="Lato"/>
              <a:sym typeface="Lato"/>
            </a:endParaRPr>
          </a:p>
        </p:txBody>
      </p:sp>
      <p:pic>
        <p:nvPicPr>
          <p:cNvPr id="395" name="Google Shape;395;p40"/>
          <p:cNvPicPr preferRelativeResize="0"/>
          <p:nvPr/>
        </p:nvPicPr>
        <p:blipFill rotWithShape="1">
          <a:blip r:embed="rId7">
            <a:alphaModFix/>
          </a:blip>
          <a:srcRect b="0" l="0" r="0" t="0"/>
          <a:stretch/>
        </p:blipFill>
        <p:spPr>
          <a:xfrm>
            <a:off x="5293050" y="1857375"/>
            <a:ext cx="2987400" cy="714300"/>
          </a:xfrm>
          <a:prstGeom prst="rect">
            <a:avLst/>
          </a:prstGeom>
          <a:noFill/>
          <a:ln>
            <a:noFill/>
          </a:ln>
        </p:spPr>
      </p:pic>
      <p:pic>
        <p:nvPicPr>
          <p:cNvPr id="396" name="Google Shape;396;p40"/>
          <p:cNvPicPr preferRelativeResize="0"/>
          <p:nvPr/>
        </p:nvPicPr>
        <p:blipFill rotWithShape="1">
          <a:blip r:embed="rId8">
            <a:alphaModFix/>
          </a:blip>
          <a:srcRect b="0" l="0" r="0" t="0"/>
          <a:stretch/>
        </p:blipFill>
        <p:spPr>
          <a:xfrm>
            <a:off x="719138" y="2852738"/>
            <a:ext cx="8105700" cy="1152600"/>
          </a:xfrm>
          <a:prstGeom prst="rect">
            <a:avLst/>
          </a:prstGeom>
          <a:noFill/>
          <a:ln>
            <a:noFill/>
          </a:ln>
        </p:spPr>
      </p:pic>
      <p:grpSp>
        <p:nvGrpSpPr>
          <p:cNvPr id="397" name="Google Shape;397;p40"/>
          <p:cNvGrpSpPr/>
          <p:nvPr/>
        </p:nvGrpSpPr>
        <p:grpSpPr>
          <a:xfrm>
            <a:off x="914400" y="3048000"/>
            <a:ext cx="381000" cy="407289"/>
            <a:chOff x="914400" y="3048000"/>
            <a:chExt cx="381000" cy="407289"/>
          </a:xfrm>
        </p:grpSpPr>
        <p:sp>
          <p:nvSpPr>
            <p:cNvPr id="398" name="Google Shape;398;p40"/>
            <p:cNvSpPr/>
            <p:nvPr/>
          </p:nvSpPr>
          <p:spPr>
            <a:xfrm>
              <a:off x="914400" y="3048000"/>
              <a:ext cx="381000" cy="381000"/>
            </a:xfrm>
            <a:prstGeom prst="roundRect">
              <a:avLst>
                <a:gd fmla="val 50000" name="adj"/>
              </a:avLst>
            </a:prstGeom>
            <a:solidFill>
              <a:srgbClr val="E0666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9" name="Google Shape;399;p40"/>
            <p:cNvSpPr txBox="1"/>
            <p:nvPr/>
          </p:nvSpPr>
          <p:spPr>
            <a:xfrm>
              <a:off x="914400" y="3074289"/>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solidFill>
                    <a:srgbClr val="FFFFFF"/>
                  </a:solidFill>
                  <a:latin typeface="Material Icons"/>
                  <a:ea typeface="Material Icons"/>
                  <a:cs typeface="Material Icons"/>
                  <a:sym typeface="Material Icons"/>
                </a:rPr>
                <a:t>error_outline</a:t>
              </a:r>
              <a:endParaRPr sz="1800">
                <a:solidFill>
                  <a:srgbClr val="FFFFFF"/>
                </a:solidFill>
                <a:latin typeface="Material Icons"/>
                <a:ea typeface="Material Icons"/>
                <a:cs typeface="Material Icons"/>
                <a:sym typeface="Material Icons"/>
              </a:endParaRPr>
            </a:p>
          </p:txBody>
        </p:sp>
      </p:grpSp>
      <p:sp>
        <p:nvSpPr>
          <p:cNvPr id="400" name="Google Shape;400;p40"/>
          <p:cNvSpPr txBox="1"/>
          <p:nvPr/>
        </p:nvSpPr>
        <p:spPr>
          <a:xfrm>
            <a:off x="1428750" y="3000375"/>
            <a:ext cx="71439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1400">
                <a:solidFill>
                  <a:srgbClr val="E06666"/>
                </a:solidFill>
                <a:latin typeface="Arial"/>
                <a:ea typeface="Arial"/>
                <a:cs typeface="Arial"/>
                <a:sym typeface="Arial"/>
              </a:rPr>
              <a:t>Limitation connue</a:t>
            </a:r>
            <a:endParaRPr b="1" sz="1400">
              <a:solidFill>
                <a:srgbClr val="E06666"/>
              </a:solidFill>
              <a:latin typeface="Arial"/>
              <a:ea typeface="Arial"/>
              <a:cs typeface="Arial"/>
              <a:sym typeface="Arial"/>
            </a:endParaRPr>
          </a:p>
          <a:p>
            <a:pPr indent="0" lvl="0" marL="0" rtl="0" algn="l">
              <a:spcBef>
                <a:spcPts val="375"/>
              </a:spcBef>
              <a:spcAft>
                <a:spcPts val="0"/>
              </a:spcAft>
              <a:buNone/>
            </a:pPr>
            <a:r>
              <a:rPr b="0" lang="en-GB" sz="1400">
                <a:solidFill>
                  <a:srgbClr val="1A1A1A"/>
                </a:solidFill>
                <a:latin typeface="Arial"/>
                <a:ea typeface="Arial"/>
                <a:cs typeface="Arial"/>
                <a:sym typeface="Arial"/>
              </a:rPr>
              <a:t>Minimise la somme des coûts globale. Cela peut conduire à l'acceptation d'une arête à </a:t>
            </a:r>
            <a:r>
              <a:rPr b="1" lang="en-GB" sz="1400">
                <a:solidFill>
                  <a:srgbClr val="1A1A1A"/>
                </a:solidFill>
                <a:latin typeface="Arial"/>
                <a:ea typeface="Arial"/>
                <a:cs typeface="Arial"/>
                <a:sym typeface="Arial"/>
              </a:rPr>
              <a:t>coût conséquent</a:t>
            </a:r>
            <a:r>
              <a:rPr b="0" lang="en-GB" sz="1400">
                <a:solidFill>
                  <a:srgbClr val="1A1A1A"/>
                </a:solidFill>
                <a:latin typeface="Arial"/>
                <a:ea typeface="Arial"/>
                <a:cs typeface="Arial"/>
                <a:sym typeface="Arial"/>
              </a:rPr>
              <a:t> si la majorité des autres arêtes du chemin sont </a:t>
            </a:r>
            <a:r>
              <a:rPr lang="en-GB">
                <a:solidFill>
                  <a:srgbClr val="1A1A1A"/>
                </a:solidFill>
              </a:rPr>
              <a:t>de coût nul</a:t>
            </a:r>
            <a:r>
              <a:rPr b="0" lang="en-GB" sz="1400">
                <a:solidFill>
                  <a:srgbClr val="1A1A1A"/>
                </a:solidFill>
                <a:latin typeface="Arial"/>
                <a:ea typeface="Arial"/>
                <a:cs typeface="Arial"/>
                <a:sym typeface="Arial"/>
              </a:rPr>
              <a:t>.</a:t>
            </a:r>
            <a:endParaRPr b="0" sz="1400">
              <a:solidFill>
                <a:srgbClr val="1A1A1A"/>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04" name="Shape 404"/>
        <p:cNvGrpSpPr/>
        <p:nvPr/>
      </p:nvGrpSpPr>
      <p:grpSpPr>
        <a:xfrm>
          <a:off x="0" y="0"/>
          <a:ext cx="0" cy="0"/>
          <a:chOff x="0" y="0"/>
          <a:chExt cx="0" cy="0"/>
        </a:xfrm>
      </p:grpSpPr>
      <p:sp>
        <p:nvSpPr>
          <p:cNvPr id="405" name="Google Shape;405;p41"/>
          <p:cNvSpPr/>
          <p:nvPr/>
        </p:nvSpPr>
        <p:spPr>
          <a:xfrm>
            <a:off x="0" y="0"/>
            <a:ext cx="9144000" cy="487800"/>
          </a:xfrm>
          <a:prstGeom prst="rect">
            <a:avLst/>
          </a:prstGeom>
          <a:solidFill>
            <a:srgbClr val="F8FA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406" name="Google Shape;406;p41"/>
          <p:cNvGrpSpPr/>
          <p:nvPr/>
        </p:nvGrpSpPr>
        <p:grpSpPr>
          <a:xfrm>
            <a:off x="830392" y="1191256"/>
            <a:ext cx="745763" cy="45826"/>
            <a:chOff x="4580561" y="2589004"/>
            <a:chExt cx="1064464" cy="25200"/>
          </a:xfrm>
        </p:grpSpPr>
        <p:sp>
          <p:nvSpPr>
            <p:cNvPr id="407" name="Google Shape;407;p4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4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9" name="Google Shape;409;p41">
            <a:hlinkClick/>
          </p:cNvPr>
          <p:cNvSpPr/>
          <p:nvPr/>
        </p:nvSpPr>
        <p:spPr>
          <a:xfrm>
            <a:off x="8280450" y="0"/>
            <a:ext cx="863400" cy="454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0" name="Google Shape;410;p41">
            <a:hlinkClick/>
          </p:cNvPr>
          <p:cNvCxnSpPr/>
          <p:nvPr/>
        </p:nvCxnSpPr>
        <p:spPr>
          <a:xfrm>
            <a:off x="8598817" y="216350"/>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411" name="Google Shape;411;p41">
            <a:hlinkClick/>
          </p:cNvPr>
          <p:cNvCxnSpPr/>
          <p:nvPr/>
        </p:nvCxnSpPr>
        <p:spPr>
          <a:xfrm>
            <a:off x="8598817" y="250138"/>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412" name="Google Shape;412;p41">
            <a:hlinkClick/>
          </p:cNvPr>
          <p:cNvCxnSpPr/>
          <p:nvPr/>
        </p:nvCxnSpPr>
        <p:spPr>
          <a:xfrm>
            <a:off x="8598817" y="283925"/>
            <a:ext cx="216300" cy="0"/>
          </a:xfrm>
          <a:prstGeom prst="straightConnector1">
            <a:avLst/>
          </a:prstGeom>
          <a:noFill/>
          <a:ln cap="flat" cmpd="sng" w="9525">
            <a:solidFill>
              <a:srgbClr val="B7B7B7"/>
            </a:solidFill>
            <a:prstDash val="solid"/>
            <a:round/>
            <a:headEnd len="med" w="med" type="none"/>
            <a:tailEnd len="med" w="med" type="none"/>
          </a:ln>
        </p:spPr>
      </p:cxnSp>
      <p:sp>
        <p:nvSpPr>
          <p:cNvPr id="413" name="Google Shape;413;p41"/>
          <p:cNvSpPr txBox="1"/>
          <p:nvPr/>
        </p:nvSpPr>
        <p:spPr>
          <a:xfrm>
            <a:off x="723900" y="619125"/>
            <a:ext cx="7620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2800">
                <a:solidFill>
                  <a:srgbClr val="1A1A1A"/>
                </a:solidFill>
                <a:latin typeface="Raleway"/>
                <a:ea typeface="Raleway"/>
                <a:cs typeface="Raleway"/>
                <a:sym typeface="Raleway"/>
              </a:rPr>
              <a:t>Algorithme Minimax</a:t>
            </a:r>
            <a:endParaRPr b="1" sz="2800">
              <a:solidFill>
                <a:srgbClr val="1A1A1A"/>
              </a:solidFill>
              <a:latin typeface="Raleway"/>
              <a:ea typeface="Raleway"/>
              <a:cs typeface="Raleway"/>
              <a:sym typeface="Raleway"/>
            </a:endParaRPr>
          </a:p>
        </p:txBody>
      </p:sp>
      <p:sp>
        <p:nvSpPr>
          <p:cNvPr id="414" name="Google Shape;414;p41"/>
          <p:cNvSpPr/>
          <p:nvPr/>
        </p:nvSpPr>
        <p:spPr>
          <a:xfrm>
            <a:off x="571500" y="1461880"/>
            <a:ext cx="8001000" cy="1333500"/>
          </a:xfrm>
          <a:prstGeom prst="roundRect">
            <a:avLst>
              <a:gd fmla="val 6666" name="adj"/>
            </a:avLst>
          </a:prstGeom>
          <a:solidFill>
            <a:srgbClr val="F8FAFB"/>
          </a:solidFill>
          <a:ln cap="flat" cmpd="sng" w="9525">
            <a:solidFill>
              <a:srgbClr val="E9EDE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5" name="Google Shape;415;p41"/>
          <p:cNvSpPr txBox="1"/>
          <p:nvPr/>
        </p:nvSpPr>
        <p:spPr>
          <a:xfrm>
            <a:off x="762000" y="1604755"/>
            <a:ext cx="3810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1000">
                <a:solidFill>
                  <a:srgbClr val="595959"/>
                </a:solidFill>
                <a:latin typeface="Lato"/>
                <a:ea typeface="Lato"/>
                <a:cs typeface="Lato"/>
                <a:sym typeface="Lato"/>
              </a:rPr>
              <a:t>Version d’implémentation à seuil (pour la version à budget)</a:t>
            </a:r>
            <a:endParaRPr b="1" sz="1000">
              <a:solidFill>
                <a:srgbClr val="595959"/>
              </a:solidFill>
              <a:latin typeface="Lato"/>
              <a:ea typeface="Lato"/>
              <a:cs typeface="Lato"/>
              <a:sym typeface="Lato"/>
            </a:endParaRPr>
          </a:p>
        </p:txBody>
      </p:sp>
      <p:sp>
        <p:nvSpPr>
          <p:cNvPr id="416" name="Google Shape;416;p41"/>
          <p:cNvSpPr/>
          <p:nvPr/>
        </p:nvSpPr>
        <p:spPr>
          <a:xfrm>
            <a:off x="762000" y="1938130"/>
            <a:ext cx="1238400" cy="381000"/>
          </a:xfrm>
          <a:prstGeom prst="rect">
            <a:avLst/>
          </a:prstGeom>
          <a:solidFill>
            <a:srgbClr val="1A9988"/>
          </a:solidFill>
          <a:ln>
            <a:noFill/>
          </a:ln>
        </p:spPr>
        <p:txBody>
          <a:bodyPr anchorCtr="0" anchor="ctr" bIns="47625" lIns="47625" spcFirstLastPara="1" rIns="47625" wrap="square" tIns="47625">
            <a:noAutofit/>
          </a:bodyPr>
          <a:lstStyle/>
          <a:p>
            <a:pPr indent="0" lvl="0" marL="0" rtl="0" algn="ctr">
              <a:spcBef>
                <a:spcPts val="0"/>
              </a:spcBef>
              <a:spcAft>
                <a:spcPts val="0"/>
              </a:spcAft>
              <a:buNone/>
            </a:pPr>
            <a:r>
              <a:rPr b="0" lang="en-GB" sz="900">
                <a:solidFill>
                  <a:srgbClr val="FFFFFF"/>
                </a:solidFill>
                <a:latin typeface="Lato"/>
                <a:ea typeface="Lato"/>
                <a:cs typeface="Lato"/>
                <a:sym typeface="Lato"/>
              </a:rPr>
              <a:t>Calculer les coûts d</a:t>
            </a:r>
            <a:r>
              <a:rPr lang="en-GB" sz="900">
                <a:solidFill>
                  <a:srgbClr val="FFFFFF"/>
                </a:solidFill>
                <a:latin typeface="Lato"/>
                <a:ea typeface="Lato"/>
                <a:cs typeface="Lato"/>
                <a:sym typeface="Lato"/>
              </a:rPr>
              <a:t>’arêtes</a:t>
            </a:r>
            <a:endParaRPr b="0" sz="900">
              <a:solidFill>
                <a:srgbClr val="FFFFFF"/>
              </a:solidFill>
              <a:latin typeface="Lato"/>
              <a:ea typeface="Lato"/>
              <a:cs typeface="Lato"/>
              <a:sym typeface="Lato"/>
            </a:endParaRPr>
          </a:p>
        </p:txBody>
      </p:sp>
      <p:cxnSp>
        <p:nvCxnSpPr>
          <p:cNvPr id="417" name="Google Shape;417;p41"/>
          <p:cNvCxnSpPr/>
          <p:nvPr/>
        </p:nvCxnSpPr>
        <p:spPr>
          <a:xfrm>
            <a:off x="2000250" y="2128630"/>
            <a:ext cx="190500" cy="0"/>
          </a:xfrm>
          <a:prstGeom prst="straightConnector1">
            <a:avLst/>
          </a:prstGeom>
          <a:solidFill>
            <a:srgbClr val="FFFFFF"/>
          </a:solidFill>
          <a:ln cap="flat" cmpd="sng" w="9525">
            <a:solidFill>
              <a:srgbClr val="B7B7B7"/>
            </a:solidFill>
            <a:prstDash val="solid"/>
            <a:round/>
            <a:headEnd len="sm" w="sm" type="none"/>
            <a:tailEnd len="sm" w="sm" type="none"/>
          </a:ln>
        </p:spPr>
      </p:cxnSp>
      <p:sp>
        <p:nvSpPr>
          <p:cNvPr id="418" name="Google Shape;418;p41"/>
          <p:cNvSpPr/>
          <p:nvPr/>
        </p:nvSpPr>
        <p:spPr>
          <a:xfrm>
            <a:off x="2190750" y="1938130"/>
            <a:ext cx="1238400" cy="381000"/>
          </a:xfrm>
          <a:prstGeom prst="rect">
            <a:avLst/>
          </a:prstGeom>
          <a:solidFill>
            <a:srgbClr val="1A9988"/>
          </a:solidFill>
          <a:ln>
            <a:noFill/>
          </a:ln>
        </p:spPr>
        <p:txBody>
          <a:bodyPr anchorCtr="0" anchor="ctr" bIns="47625" lIns="47625" spcFirstLastPara="1" rIns="47625" wrap="square" tIns="47625">
            <a:noAutofit/>
          </a:bodyPr>
          <a:lstStyle/>
          <a:p>
            <a:pPr indent="0" lvl="0" marL="0" rtl="0" algn="ctr">
              <a:spcBef>
                <a:spcPts val="0"/>
              </a:spcBef>
              <a:spcAft>
                <a:spcPts val="0"/>
              </a:spcAft>
              <a:buNone/>
            </a:pPr>
            <a:r>
              <a:rPr b="0" lang="en-GB" sz="900">
                <a:solidFill>
                  <a:srgbClr val="FFFFFF"/>
                </a:solidFill>
                <a:latin typeface="Lato"/>
                <a:ea typeface="Lato"/>
                <a:cs typeface="Lato"/>
                <a:sym typeface="Lato"/>
              </a:rPr>
              <a:t>Filtrer les ar</a:t>
            </a:r>
            <a:r>
              <a:rPr lang="en-GB" sz="900">
                <a:solidFill>
                  <a:srgbClr val="FFFFFF"/>
                </a:solidFill>
                <a:latin typeface="Lato"/>
                <a:ea typeface="Lato"/>
                <a:cs typeface="Lato"/>
                <a:sym typeface="Lato"/>
              </a:rPr>
              <a:t>êtes </a:t>
            </a:r>
            <a:r>
              <a:rPr b="0" lang="en-GB" sz="900">
                <a:solidFill>
                  <a:srgbClr val="FFFFFF"/>
                </a:solidFill>
                <a:latin typeface="Lato"/>
                <a:ea typeface="Lato"/>
                <a:cs typeface="Lato"/>
                <a:sym typeface="Lato"/>
              </a:rPr>
              <a:t>par seuil</a:t>
            </a:r>
            <a:endParaRPr b="0" sz="900">
              <a:solidFill>
                <a:srgbClr val="FFFFFF"/>
              </a:solidFill>
              <a:latin typeface="Lato"/>
              <a:ea typeface="Lato"/>
              <a:cs typeface="Lato"/>
              <a:sym typeface="Lato"/>
            </a:endParaRPr>
          </a:p>
        </p:txBody>
      </p:sp>
      <p:cxnSp>
        <p:nvCxnSpPr>
          <p:cNvPr id="419" name="Google Shape;419;p41"/>
          <p:cNvCxnSpPr/>
          <p:nvPr/>
        </p:nvCxnSpPr>
        <p:spPr>
          <a:xfrm>
            <a:off x="3429000" y="2128630"/>
            <a:ext cx="190500" cy="0"/>
          </a:xfrm>
          <a:prstGeom prst="straightConnector1">
            <a:avLst/>
          </a:prstGeom>
          <a:solidFill>
            <a:srgbClr val="FFFFFF"/>
          </a:solidFill>
          <a:ln cap="flat" cmpd="sng" w="9525">
            <a:solidFill>
              <a:srgbClr val="B7B7B7"/>
            </a:solidFill>
            <a:prstDash val="solid"/>
            <a:round/>
            <a:headEnd len="sm" w="sm" type="none"/>
            <a:tailEnd len="sm" w="sm" type="none"/>
          </a:ln>
        </p:spPr>
      </p:cxnSp>
      <p:sp>
        <p:nvSpPr>
          <p:cNvPr id="420" name="Google Shape;420;p41"/>
          <p:cNvSpPr/>
          <p:nvPr/>
        </p:nvSpPr>
        <p:spPr>
          <a:xfrm>
            <a:off x="3619500" y="1938130"/>
            <a:ext cx="1333500" cy="381000"/>
          </a:xfrm>
          <a:prstGeom prst="rect">
            <a:avLst/>
          </a:prstGeom>
          <a:solidFill>
            <a:srgbClr val="1A9988"/>
          </a:solidFill>
          <a:ln>
            <a:noFill/>
          </a:ln>
        </p:spPr>
        <p:txBody>
          <a:bodyPr anchorCtr="0" anchor="ctr" bIns="47625" lIns="47625" spcFirstLastPara="1" rIns="47625" wrap="square" tIns="47625">
            <a:noAutofit/>
          </a:bodyPr>
          <a:lstStyle/>
          <a:p>
            <a:pPr indent="0" lvl="0" marL="0" rtl="0" algn="ctr">
              <a:lnSpc>
                <a:spcPct val="115000"/>
              </a:lnSpc>
              <a:spcBef>
                <a:spcPts val="1200"/>
              </a:spcBef>
              <a:spcAft>
                <a:spcPts val="1200"/>
              </a:spcAft>
              <a:buNone/>
            </a:pPr>
            <a:r>
              <a:rPr lang="en-GB" sz="900">
                <a:solidFill>
                  <a:srgbClr val="FFFFFF"/>
                </a:solidFill>
                <a:latin typeface="Lato"/>
                <a:ea typeface="Lato"/>
                <a:cs typeface="Lato"/>
                <a:sym typeface="Lato"/>
              </a:rPr>
              <a:t>Est-ce que la source et la cible sont connectées ?</a:t>
            </a:r>
            <a:endParaRPr sz="900">
              <a:solidFill>
                <a:srgbClr val="FFFFFF"/>
              </a:solidFill>
              <a:latin typeface="Lato"/>
              <a:ea typeface="Lato"/>
              <a:cs typeface="Lato"/>
              <a:sym typeface="Lato"/>
            </a:endParaRPr>
          </a:p>
        </p:txBody>
      </p:sp>
      <p:pic>
        <p:nvPicPr>
          <p:cNvPr id="421" name="Google Shape;421;p41"/>
          <p:cNvPicPr preferRelativeResize="0"/>
          <p:nvPr/>
        </p:nvPicPr>
        <p:blipFill rotWithShape="1">
          <a:blip r:embed="rId4">
            <a:alphaModFix/>
          </a:blip>
          <a:srcRect b="0" l="0" r="0" t="0"/>
          <a:stretch/>
        </p:blipFill>
        <p:spPr>
          <a:xfrm>
            <a:off x="4953000" y="1742868"/>
            <a:ext cx="381000" cy="390600"/>
          </a:xfrm>
          <a:prstGeom prst="rect">
            <a:avLst/>
          </a:prstGeom>
          <a:noFill/>
          <a:ln>
            <a:noFill/>
          </a:ln>
        </p:spPr>
      </p:pic>
      <p:pic>
        <p:nvPicPr>
          <p:cNvPr id="422" name="Google Shape;422;p41"/>
          <p:cNvPicPr preferRelativeResize="0"/>
          <p:nvPr/>
        </p:nvPicPr>
        <p:blipFill rotWithShape="1">
          <a:blip r:embed="rId5">
            <a:alphaModFix/>
          </a:blip>
          <a:srcRect b="0" l="0" r="0" t="0"/>
          <a:stretch/>
        </p:blipFill>
        <p:spPr>
          <a:xfrm>
            <a:off x="4953000" y="2123868"/>
            <a:ext cx="381000" cy="390600"/>
          </a:xfrm>
          <a:prstGeom prst="rect">
            <a:avLst/>
          </a:prstGeom>
          <a:noFill/>
          <a:ln>
            <a:noFill/>
          </a:ln>
        </p:spPr>
      </p:pic>
      <p:sp>
        <p:nvSpPr>
          <p:cNvPr id="423" name="Google Shape;423;p41"/>
          <p:cNvSpPr/>
          <p:nvPr/>
        </p:nvSpPr>
        <p:spPr>
          <a:xfrm>
            <a:off x="5334000" y="1585705"/>
            <a:ext cx="1143000" cy="324000"/>
          </a:xfrm>
          <a:prstGeom prst="rect">
            <a:avLst/>
          </a:prstGeom>
          <a:solidFill>
            <a:srgbClr val="FFFFFF"/>
          </a:solidFill>
          <a:ln cap="flat" cmpd="sng" w="9525">
            <a:solidFill>
              <a:srgbClr val="EB56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0" lang="en-GB" sz="800">
                <a:solidFill>
                  <a:srgbClr val="EB5600"/>
                </a:solidFill>
                <a:latin typeface="Lato"/>
                <a:ea typeface="Lato"/>
                <a:cs typeface="Lato"/>
                <a:sym typeface="Lato"/>
              </a:rPr>
              <a:t>Diminuer le seuil</a:t>
            </a:r>
            <a:endParaRPr b="0" sz="800">
              <a:solidFill>
                <a:srgbClr val="EB5600"/>
              </a:solidFill>
              <a:latin typeface="Lato"/>
              <a:ea typeface="Lato"/>
              <a:cs typeface="Lato"/>
              <a:sym typeface="Lato"/>
            </a:endParaRPr>
          </a:p>
        </p:txBody>
      </p:sp>
      <p:sp>
        <p:nvSpPr>
          <p:cNvPr id="424" name="Google Shape;424;p41"/>
          <p:cNvSpPr/>
          <p:nvPr/>
        </p:nvSpPr>
        <p:spPr>
          <a:xfrm>
            <a:off x="5334000" y="2347705"/>
            <a:ext cx="1143000" cy="324000"/>
          </a:xfrm>
          <a:prstGeom prst="rect">
            <a:avLst/>
          </a:prstGeom>
          <a:solidFill>
            <a:srgbClr val="FFFFFF"/>
          </a:solidFill>
          <a:ln cap="flat" cmpd="sng" w="9525">
            <a:solidFill>
              <a:srgbClr val="EB56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0" lang="en-GB" sz="800">
                <a:solidFill>
                  <a:srgbClr val="EB5600"/>
                </a:solidFill>
                <a:latin typeface="Lato"/>
                <a:ea typeface="Lato"/>
                <a:cs typeface="Lato"/>
                <a:sym typeface="Lato"/>
              </a:rPr>
              <a:t>Augmenter le seuil</a:t>
            </a:r>
            <a:endParaRPr b="0" sz="800">
              <a:solidFill>
                <a:srgbClr val="EB5600"/>
              </a:solidFill>
              <a:latin typeface="Lato"/>
              <a:ea typeface="Lato"/>
              <a:cs typeface="Lato"/>
              <a:sym typeface="Lato"/>
            </a:endParaRPr>
          </a:p>
        </p:txBody>
      </p:sp>
      <p:pic>
        <p:nvPicPr>
          <p:cNvPr id="425" name="Google Shape;425;p41"/>
          <p:cNvPicPr preferRelativeResize="0"/>
          <p:nvPr/>
        </p:nvPicPr>
        <p:blipFill rotWithShape="1">
          <a:blip r:embed="rId5">
            <a:alphaModFix/>
          </a:blip>
          <a:srcRect b="0" l="0" r="0" t="0"/>
          <a:stretch/>
        </p:blipFill>
        <p:spPr>
          <a:xfrm>
            <a:off x="6477000" y="1742868"/>
            <a:ext cx="381000" cy="390600"/>
          </a:xfrm>
          <a:prstGeom prst="rect">
            <a:avLst/>
          </a:prstGeom>
          <a:noFill/>
          <a:ln>
            <a:noFill/>
          </a:ln>
        </p:spPr>
      </p:pic>
      <p:pic>
        <p:nvPicPr>
          <p:cNvPr id="426" name="Google Shape;426;p41"/>
          <p:cNvPicPr preferRelativeResize="0"/>
          <p:nvPr/>
        </p:nvPicPr>
        <p:blipFill rotWithShape="1">
          <a:blip r:embed="rId4">
            <a:alphaModFix/>
          </a:blip>
          <a:srcRect b="0" l="0" r="0" t="0"/>
          <a:stretch/>
        </p:blipFill>
        <p:spPr>
          <a:xfrm>
            <a:off x="6477000" y="2123868"/>
            <a:ext cx="381000" cy="390600"/>
          </a:xfrm>
          <a:prstGeom prst="rect">
            <a:avLst/>
          </a:prstGeom>
          <a:noFill/>
          <a:ln>
            <a:noFill/>
          </a:ln>
        </p:spPr>
      </p:pic>
      <p:sp>
        <p:nvSpPr>
          <p:cNvPr id="427" name="Google Shape;427;p41"/>
          <p:cNvSpPr/>
          <p:nvPr/>
        </p:nvSpPr>
        <p:spPr>
          <a:xfrm>
            <a:off x="6858000" y="1842880"/>
            <a:ext cx="1524000" cy="571500"/>
          </a:xfrm>
          <a:prstGeom prst="rect">
            <a:avLst/>
          </a:prstGeom>
          <a:solidFill>
            <a:srgbClr val="1A1A1A"/>
          </a:solidFill>
          <a:ln>
            <a:noFill/>
          </a:ln>
        </p:spPr>
        <p:txBody>
          <a:bodyPr anchorCtr="0" anchor="ctr" bIns="47625" lIns="47625" spcFirstLastPara="1" rIns="47625" wrap="square" tIns="47625">
            <a:noAutofit/>
          </a:bodyPr>
          <a:lstStyle/>
          <a:p>
            <a:pPr indent="0" lvl="0" marL="0" rtl="0" algn="ctr">
              <a:spcBef>
                <a:spcPts val="0"/>
              </a:spcBef>
              <a:spcAft>
                <a:spcPts val="0"/>
              </a:spcAft>
              <a:buNone/>
            </a:pPr>
            <a:r>
              <a:rPr b="1" lang="en-GB" sz="900">
                <a:solidFill>
                  <a:srgbClr val="FFFFFF"/>
                </a:solidFill>
                <a:latin typeface="Lato"/>
                <a:ea typeface="Lato"/>
                <a:cs typeface="Lato"/>
                <a:sym typeface="Lato"/>
              </a:rPr>
              <a:t>Seuil minimal réalisable</a:t>
            </a:r>
            <a:endParaRPr b="1" sz="900">
              <a:solidFill>
                <a:srgbClr val="FFFFFF"/>
              </a:solidFill>
              <a:latin typeface="Lato"/>
              <a:ea typeface="Lato"/>
              <a:cs typeface="Lato"/>
              <a:sym typeface="Lato"/>
            </a:endParaRPr>
          </a:p>
          <a:p>
            <a:pPr indent="0" lvl="0" marL="0" rtl="0" algn="ctr">
              <a:spcBef>
                <a:spcPts val="300"/>
              </a:spcBef>
              <a:spcAft>
                <a:spcPts val="0"/>
              </a:spcAft>
              <a:buNone/>
            </a:pPr>
            <a:r>
              <a:rPr b="0" lang="en-GB" sz="800">
                <a:solidFill>
                  <a:srgbClr val="FFFFFF"/>
                </a:solidFill>
                <a:latin typeface="Lato"/>
                <a:ea typeface="Lato"/>
                <a:cs typeface="Lato"/>
                <a:sym typeface="Lato"/>
              </a:rPr>
              <a:t>= Chemin le plus court</a:t>
            </a:r>
            <a:endParaRPr b="0" sz="800">
              <a:solidFill>
                <a:srgbClr val="FFFFFF"/>
              </a:solidFill>
              <a:latin typeface="Lato"/>
              <a:ea typeface="Lato"/>
              <a:cs typeface="Lato"/>
              <a:sym typeface="Lato"/>
            </a:endParaRPr>
          </a:p>
        </p:txBody>
      </p:sp>
      <p:sp>
        <p:nvSpPr>
          <p:cNvPr id="428" name="Google Shape;428;p41"/>
          <p:cNvSpPr/>
          <p:nvPr/>
        </p:nvSpPr>
        <p:spPr>
          <a:xfrm>
            <a:off x="571500" y="3095625"/>
            <a:ext cx="3810000" cy="1809600"/>
          </a:xfrm>
          <a:prstGeom prst="roundRect">
            <a:avLst>
              <a:gd fmla="val 6315" name="adj"/>
            </a:avLst>
          </a:prstGeom>
          <a:solidFill>
            <a:srgbClr val="FFFFFF"/>
          </a:solidFill>
          <a:ln cap="flat" cmpd="sng" w="9525">
            <a:solidFill>
              <a:srgbClr val="E9EDE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9" name="Google Shape;429;p41"/>
          <p:cNvSpPr/>
          <p:nvPr/>
        </p:nvSpPr>
        <p:spPr>
          <a:xfrm>
            <a:off x="4572000" y="3095625"/>
            <a:ext cx="4000500" cy="1809600"/>
          </a:xfrm>
          <a:prstGeom prst="roundRect">
            <a:avLst>
              <a:gd fmla="val 6315" name="adj"/>
            </a:avLst>
          </a:prstGeom>
          <a:solidFill>
            <a:srgbClr val="FFFFFF"/>
          </a:solidFill>
          <a:ln cap="flat" cmpd="sng" w="9525">
            <a:solidFill>
              <a:srgbClr val="E9EDE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0" name="Google Shape;430;p41"/>
          <p:cNvSpPr txBox="1"/>
          <p:nvPr/>
        </p:nvSpPr>
        <p:spPr>
          <a:xfrm>
            <a:off x="762000" y="3238500"/>
            <a:ext cx="3429000" cy="1848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GB" sz="1200">
                <a:solidFill>
                  <a:srgbClr val="1A9988"/>
                </a:solidFill>
                <a:latin typeface="Lato"/>
                <a:ea typeface="Lato"/>
                <a:cs typeface="Lato"/>
                <a:sym typeface="Lato"/>
              </a:rPr>
              <a:t>Minimax Classique</a:t>
            </a:r>
            <a:endParaRPr b="1" sz="1200">
              <a:solidFill>
                <a:srgbClr val="1A9988"/>
              </a:solidFill>
              <a:latin typeface="Lato"/>
              <a:ea typeface="Lato"/>
              <a:cs typeface="Lato"/>
              <a:sym typeface="Lato"/>
            </a:endParaRPr>
          </a:p>
        </p:txBody>
      </p:sp>
      <p:pic>
        <p:nvPicPr>
          <p:cNvPr id="431" name="Google Shape;431;p41"/>
          <p:cNvPicPr preferRelativeResize="0"/>
          <p:nvPr/>
        </p:nvPicPr>
        <p:blipFill rotWithShape="1">
          <a:blip r:embed="rId6">
            <a:alphaModFix/>
          </a:blip>
          <a:srcRect b="0" l="0" r="0" t="0"/>
          <a:stretch/>
        </p:blipFill>
        <p:spPr>
          <a:xfrm>
            <a:off x="820800" y="3784425"/>
            <a:ext cx="3311400" cy="454200"/>
          </a:xfrm>
          <a:prstGeom prst="rect">
            <a:avLst/>
          </a:prstGeom>
          <a:noFill/>
          <a:ln>
            <a:noFill/>
          </a:ln>
        </p:spPr>
      </p:pic>
      <p:sp>
        <p:nvSpPr>
          <p:cNvPr id="432" name="Google Shape;432;p41"/>
          <p:cNvSpPr txBox="1"/>
          <p:nvPr/>
        </p:nvSpPr>
        <p:spPr>
          <a:xfrm>
            <a:off x="4762500" y="3238500"/>
            <a:ext cx="3429000" cy="1848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GB" sz="1200">
                <a:solidFill>
                  <a:srgbClr val="1A9988"/>
                </a:solidFill>
                <a:latin typeface="Lato"/>
                <a:ea typeface="Lato"/>
                <a:cs typeface="Lato"/>
                <a:sym typeface="Lato"/>
              </a:rPr>
              <a:t>Minimax avec Budget</a:t>
            </a:r>
            <a:endParaRPr b="1" sz="1200">
              <a:solidFill>
                <a:srgbClr val="1A9988"/>
              </a:solidFill>
              <a:latin typeface="Lato"/>
              <a:ea typeface="Lato"/>
              <a:cs typeface="Lato"/>
              <a:sym typeface="Lato"/>
            </a:endParaRPr>
          </a:p>
        </p:txBody>
      </p:sp>
      <p:sp>
        <p:nvSpPr>
          <p:cNvPr id="433" name="Google Shape;433;p41"/>
          <p:cNvSpPr txBox="1"/>
          <p:nvPr/>
        </p:nvSpPr>
        <p:spPr>
          <a:xfrm>
            <a:off x="4762500" y="3571875"/>
            <a:ext cx="952500" cy="123000"/>
          </a:xfrm>
          <a:prstGeom prst="rect">
            <a:avLst/>
          </a:prstGeom>
          <a:solidFill>
            <a:srgbClr val="EB5600"/>
          </a:solidFill>
          <a:ln>
            <a:noFill/>
          </a:ln>
        </p:spPr>
        <p:txBody>
          <a:bodyPr anchorCtr="0" anchor="ctr" bIns="0" lIns="0" spcFirstLastPara="1" rIns="0" wrap="square" tIns="0">
            <a:spAutoFit/>
          </a:bodyPr>
          <a:lstStyle/>
          <a:p>
            <a:pPr indent="0" lvl="0" marL="0" rtl="0" algn="ctr">
              <a:spcBef>
                <a:spcPts val="0"/>
              </a:spcBef>
              <a:spcAft>
                <a:spcPts val="0"/>
              </a:spcAft>
              <a:buNone/>
            </a:pPr>
            <a:r>
              <a:rPr b="1" lang="en-GB" sz="800">
                <a:solidFill>
                  <a:srgbClr val="FFFFFF"/>
                </a:solidFill>
                <a:latin typeface="Lato"/>
                <a:ea typeface="Lato"/>
                <a:cs typeface="Lato"/>
                <a:sym typeface="Lato"/>
              </a:rPr>
              <a:t>Budget Local</a:t>
            </a:r>
            <a:endParaRPr b="1" sz="800">
              <a:solidFill>
                <a:srgbClr val="FFFFFF"/>
              </a:solidFill>
              <a:latin typeface="Lato"/>
              <a:ea typeface="Lato"/>
              <a:cs typeface="Lato"/>
              <a:sym typeface="Lato"/>
            </a:endParaRPr>
          </a:p>
        </p:txBody>
      </p:sp>
      <p:pic>
        <p:nvPicPr>
          <p:cNvPr id="434" name="Google Shape;434;p41"/>
          <p:cNvPicPr preferRelativeResize="0"/>
          <p:nvPr/>
        </p:nvPicPr>
        <p:blipFill rotWithShape="1">
          <a:blip r:embed="rId7">
            <a:alphaModFix/>
          </a:blip>
          <a:srcRect b="0" l="0" r="0" t="0"/>
          <a:stretch/>
        </p:blipFill>
        <p:spPr>
          <a:xfrm>
            <a:off x="4762500" y="3857625"/>
            <a:ext cx="3029100" cy="238200"/>
          </a:xfrm>
          <a:prstGeom prst="rect">
            <a:avLst/>
          </a:prstGeom>
          <a:noFill/>
          <a:ln>
            <a:noFill/>
          </a:ln>
        </p:spPr>
      </p:pic>
      <p:sp>
        <p:nvSpPr>
          <p:cNvPr id="435" name="Google Shape;435;p41"/>
          <p:cNvSpPr txBox="1"/>
          <p:nvPr/>
        </p:nvSpPr>
        <p:spPr>
          <a:xfrm>
            <a:off x="4762500" y="4238625"/>
            <a:ext cx="952500" cy="123000"/>
          </a:xfrm>
          <a:prstGeom prst="rect">
            <a:avLst/>
          </a:prstGeom>
          <a:solidFill>
            <a:srgbClr val="EB5600"/>
          </a:solidFill>
          <a:ln>
            <a:noFill/>
          </a:ln>
        </p:spPr>
        <p:txBody>
          <a:bodyPr anchorCtr="0" anchor="ctr" bIns="0" lIns="0" spcFirstLastPara="1" rIns="0" wrap="square" tIns="0">
            <a:spAutoFit/>
          </a:bodyPr>
          <a:lstStyle/>
          <a:p>
            <a:pPr indent="0" lvl="0" marL="0" rtl="0" algn="ctr">
              <a:spcBef>
                <a:spcPts val="0"/>
              </a:spcBef>
              <a:spcAft>
                <a:spcPts val="0"/>
              </a:spcAft>
              <a:buNone/>
            </a:pPr>
            <a:r>
              <a:rPr b="1" lang="en-GB" sz="800">
                <a:solidFill>
                  <a:srgbClr val="FFFFFF"/>
                </a:solidFill>
                <a:latin typeface="Lato"/>
                <a:ea typeface="Lato"/>
                <a:cs typeface="Lato"/>
                <a:sym typeface="Lato"/>
              </a:rPr>
              <a:t>Budget Global</a:t>
            </a:r>
            <a:endParaRPr b="1" sz="800">
              <a:solidFill>
                <a:srgbClr val="FFFFFF"/>
              </a:solidFill>
              <a:latin typeface="Lato"/>
              <a:ea typeface="Lato"/>
              <a:cs typeface="Lato"/>
              <a:sym typeface="Lato"/>
            </a:endParaRPr>
          </a:p>
        </p:txBody>
      </p:sp>
      <p:pic>
        <p:nvPicPr>
          <p:cNvPr id="436" name="Google Shape;436;p41"/>
          <p:cNvPicPr preferRelativeResize="0"/>
          <p:nvPr/>
        </p:nvPicPr>
        <p:blipFill rotWithShape="1">
          <a:blip r:embed="rId8">
            <a:alphaModFix/>
          </a:blip>
          <a:srcRect b="0" l="0" r="0" t="0"/>
          <a:stretch/>
        </p:blipFill>
        <p:spPr>
          <a:xfrm>
            <a:off x="4762500" y="4524375"/>
            <a:ext cx="1322400" cy="333300"/>
          </a:xfrm>
          <a:prstGeom prst="rect">
            <a:avLst/>
          </a:prstGeom>
          <a:noFill/>
          <a:ln>
            <a:noFill/>
          </a:ln>
        </p:spPr>
      </p:pic>
      <p:pic>
        <p:nvPicPr>
          <p:cNvPr id="437" name="Google Shape;437;p41"/>
          <p:cNvPicPr preferRelativeResize="0"/>
          <p:nvPr/>
        </p:nvPicPr>
        <p:blipFill rotWithShape="1">
          <a:blip r:embed="rId9">
            <a:alphaModFix/>
          </a:blip>
          <a:srcRect b="0" l="0" r="0" t="0"/>
          <a:stretch/>
        </p:blipFill>
        <p:spPr>
          <a:xfrm>
            <a:off x="6216300" y="4568707"/>
            <a:ext cx="1975200" cy="122700"/>
          </a:xfrm>
          <a:prstGeom prst="rect">
            <a:avLst/>
          </a:prstGeom>
          <a:noFill/>
          <a:ln>
            <a:noFill/>
          </a:ln>
        </p:spPr>
      </p:pic>
      <p:sp>
        <p:nvSpPr>
          <p:cNvPr id="438" name="Google Shape;438;p41"/>
          <p:cNvSpPr txBox="1"/>
          <p:nvPr/>
        </p:nvSpPr>
        <p:spPr>
          <a:xfrm>
            <a:off x="4816480" y="1630652"/>
            <a:ext cx="455100" cy="323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900">
                <a:solidFill>
                  <a:srgbClr val="EB5600"/>
                </a:solidFill>
                <a:latin typeface="Lato"/>
                <a:ea typeface="Lato"/>
                <a:cs typeface="Lato"/>
                <a:sym typeface="Lato"/>
              </a:rPr>
              <a:t>oui</a:t>
            </a:r>
            <a:endParaRPr b="1" sz="900">
              <a:solidFill>
                <a:srgbClr val="EB5600"/>
              </a:solidFill>
              <a:latin typeface="Lato"/>
              <a:ea typeface="Lato"/>
              <a:cs typeface="Lato"/>
              <a:sym typeface="Lato"/>
            </a:endParaRPr>
          </a:p>
        </p:txBody>
      </p:sp>
      <p:sp>
        <p:nvSpPr>
          <p:cNvPr id="439" name="Google Shape;439;p41"/>
          <p:cNvSpPr txBox="1"/>
          <p:nvPr/>
        </p:nvSpPr>
        <p:spPr>
          <a:xfrm>
            <a:off x="4802642" y="2299498"/>
            <a:ext cx="455100" cy="323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900">
                <a:solidFill>
                  <a:srgbClr val="EB5600"/>
                </a:solidFill>
                <a:latin typeface="Lato"/>
                <a:ea typeface="Lato"/>
                <a:cs typeface="Lato"/>
                <a:sym typeface="Lato"/>
              </a:rPr>
              <a:t>non</a:t>
            </a:r>
            <a:endParaRPr b="1" sz="900">
              <a:solidFill>
                <a:srgbClr val="EB5600"/>
              </a:solidFill>
              <a:latin typeface="Lato"/>
              <a:ea typeface="Lato"/>
              <a:cs typeface="Lato"/>
              <a:sym typeface="Lato"/>
            </a:endParaRPr>
          </a:p>
        </p:txBody>
      </p:sp>
      <p:cxnSp>
        <p:nvCxnSpPr>
          <p:cNvPr id="440" name="Google Shape;440;p41"/>
          <p:cNvCxnSpPr/>
          <p:nvPr/>
        </p:nvCxnSpPr>
        <p:spPr>
          <a:xfrm>
            <a:off x="6099150" y="1221125"/>
            <a:ext cx="0" cy="433500"/>
          </a:xfrm>
          <a:prstGeom prst="straightConnector1">
            <a:avLst/>
          </a:prstGeom>
          <a:noFill/>
          <a:ln cap="flat" cmpd="sng" w="9525">
            <a:solidFill>
              <a:schemeClr val="dk2"/>
            </a:solidFill>
            <a:prstDash val="solid"/>
            <a:round/>
            <a:headEnd len="med" w="med" type="none"/>
            <a:tailEnd len="med" w="med" type="triangle"/>
          </a:ln>
        </p:spPr>
      </p:cxnSp>
      <p:sp>
        <p:nvSpPr>
          <p:cNvPr id="441" name="Google Shape;441;p41"/>
          <p:cNvSpPr txBox="1"/>
          <p:nvPr/>
        </p:nvSpPr>
        <p:spPr>
          <a:xfrm>
            <a:off x="5160900" y="797625"/>
            <a:ext cx="18765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100">
                <a:solidFill>
                  <a:schemeClr val="accent1"/>
                </a:solidFill>
                <a:latin typeface="Lato"/>
                <a:ea typeface="Lato"/>
                <a:cs typeface="Lato"/>
                <a:sym typeface="Lato"/>
              </a:rPr>
              <a:t>seuil = poids d’une des </a:t>
            </a:r>
            <a:r>
              <a:rPr lang="en-GB" sz="1100">
                <a:solidFill>
                  <a:schemeClr val="accent1"/>
                </a:solidFill>
                <a:latin typeface="Lato"/>
                <a:ea typeface="Lato"/>
                <a:cs typeface="Lato"/>
                <a:sym typeface="Lato"/>
              </a:rPr>
              <a:t>arêtes</a:t>
            </a:r>
            <a:endParaRPr sz="1100">
              <a:solidFill>
                <a:schemeClr val="accent1"/>
              </a:solidFill>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42"/>
          <p:cNvSpPr txBox="1"/>
          <p:nvPr>
            <p:ph type="title"/>
          </p:nvPr>
        </p:nvSpPr>
        <p:spPr>
          <a:xfrm>
            <a:off x="727650" y="66960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Monte Carlo Tree Search (MCTS)</a:t>
            </a:r>
            <a:endParaRPr/>
          </a:p>
        </p:txBody>
      </p:sp>
      <p:sp>
        <p:nvSpPr>
          <p:cNvPr id="447" name="Google Shape;447;p42"/>
          <p:cNvSpPr/>
          <p:nvPr/>
        </p:nvSpPr>
        <p:spPr>
          <a:xfrm>
            <a:off x="797600" y="1581357"/>
            <a:ext cx="400200" cy="4002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
                <a:solidFill>
                  <a:schemeClr val="lt1"/>
                </a:solidFill>
                <a:latin typeface="Lato"/>
                <a:ea typeface="Lato"/>
                <a:cs typeface="Lato"/>
                <a:sym typeface="Lato"/>
              </a:rPr>
              <a:t>1</a:t>
            </a:r>
            <a:endParaRPr sz="2000">
              <a:solidFill>
                <a:schemeClr val="lt1"/>
              </a:solidFill>
              <a:latin typeface="Lato"/>
              <a:ea typeface="Lato"/>
              <a:cs typeface="Lato"/>
              <a:sym typeface="Lato"/>
            </a:endParaRPr>
          </a:p>
        </p:txBody>
      </p:sp>
      <p:sp>
        <p:nvSpPr>
          <p:cNvPr id="448" name="Google Shape;448;p42"/>
          <p:cNvSpPr txBox="1"/>
          <p:nvPr/>
        </p:nvSpPr>
        <p:spPr>
          <a:xfrm>
            <a:off x="1304375" y="1589007"/>
            <a:ext cx="62109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chemeClr val="accent1"/>
                </a:solidFill>
                <a:latin typeface="Lato"/>
                <a:ea typeface="Lato"/>
                <a:cs typeface="Lato"/>
                <a:sym typeface="Lato"/>
              </a:rPr>
              <a:t>Calculer le </a:t>
            </a:r>
            <a:r>
              <a:rPr b="1" lang="en-GB" sz="1200">
                <a:solidFill>
                  <a:schemeClr val="accent1"/>
                </a:solidFill>
                <a:latin typeface="Lato"/>
                <a:ea typeface="Lato"/>
                <a:cs typeface="Lato"/>
                <a:sym typeface="Lato"/>
              </a:rPr>
              <a:t>coût des arêtes</a:t>
            </a:r>
            <a:endParaRPr b="1" sz="1200">
              <a:solidFill>
                <a:schemeClr val="accent1"/>
              </a:solidFill>
              <a:latin typeface="Lato"/>
              <a:ea typeface="Lato"/>
              <a:cs typeface="Lato"/>
              <a:sym typeface="Lato"/>
            </a:endParaRPr>
          </a:p>
        </p:txBody>
      </p:sp>
      <p:sp>
        <p:nvSpPr>
          <p:cNvPr id="449" name="Google Shape;449;p42"/>
          <p:cNvSpPr/>
          <p:nvPr/>
        </p:nvSpPr>
        <p:spPr>
          <a:xfrm>
            <a:off x="797600" y="2050003"/>
            <a:ext cx="400200" cy="4002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
                <a:solidFill>
                  <a:schemeClr val="lt1"/>
                </a:solidFill>
                <a:latin typeface="Lato"/>
                <a:ea typeface="Lato"/>
                <a:cs typeface="Lato"/>
                <a:sym typeface="Lato"/>
              </a:rPr>
              <a:t>2</a:t>
            </a:r>
            <a:endParaRPr sz="2000">
              <a:solidFill>
                <a:schemeClr val="lt1"/>
              </a:solidFill>
              <a:latin typeface="Lato"/>
              <a:ea typeface="Lato"/>
              <a:cs typeface="Lato"/>
              <a:sym typeface="Lato"/>
            </a:endParaRPr>
          </a:p>
        </p:txBody>
      </p:sp>
      <p:sp>
        <p:nvSpPr>
          <p:cNvPr id="450" name="Google Shape;450;p42"/>
          <p:cNvSpPr txBox="1"/>
          <p:nvPr/>
        </p:nvSpPr>
        <p:spPr>
          <a:xfrm>
            <a:off x="1304375" y="1981553"/>
            <a:ext cx="62109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chemeClr val="accent1"/>
                </a:solidFill>
                <a:latin typeface="Lato"/>
                <a:ea typeface="Lato"/>
                <a:cs typeface="Lato"/>
                <a:sym typeface="Lato"/>
              </a:rPr>
              <a:t>Restreindre</a:t>
            </a:r>
            <a:r>
              <a:rPr lang="en-GB" sz="1200">
                <a:solidFill>
                  <a:schemeClr val="accent1"/>
                </a:solidFill>
                <a:latin typeface="Lato"/>
                <a:ea typeface="Lato"/>
                <a:cs typeface="Lato"/>
                <a:sym typeface="Lato"/>
              </a:rPr>
              <a:t> l’espace de recherche à un </a:t>
            </a:r>
            <a:r>
              <a:rPr b="1" lang="en-GB" sz="1200">
                <a:solidFill>
                  <a:schemeClr val="accent1"/>
                </a:solidFill>
                <a:latin typeface="Lato"/>
                <a:ea typeface="Lato"/>
                <a:cs typeface="Lato"/>
                <a:sym typeface="Lato"/>
              </a:rPr>
              <a:t>sous graphe candidat autour de la source et target</a:t>
            </a:r>
            <a:r>
              <a:rPr lang="en-GB" sz="1200">
                <a:solidFill>
                  <a:schemeClr val="accent1"/>
                </a:solidFill>
                <a:latin typeface="Lato"/>
                <a:ea typeface="Lato"/>
                <a:cs typeface="Lato"/>
                <a:sym typeface="Lato"/>
              </a:rPr>
              <a:t>.</a:t>
            </a:r>
            <a:r>
              <a:rPr b="1" lang="en-GB" sz="1200">
                <a:solidFill>
                  <a:schemeClr val="accent1"/>
                </a:solidFill>
                <a:latin typeface="Lato"/>
                <a:ea typeface="Lato"/>
                <a:cs typeface="Lato"/>
                <a:sym typeface="Lato"/>
              </a:rPr>
              <a:t> </a:t>
            </a:r>
            <a:r>
              <a:rPr lang="en-GB" sz="1200">
                <a:solidFill>
                  <a:schemeClr val="accent1"/>
                </a:solidFill>
                <a:latin typeface="Lato"/>
                <a:ea typeface="Lato"/>
                <a:cs typeface="Lato"/>
                <a:sym typeface="Lato"/>
              </a:rPr>
              <a:t>Permet d’a</a:t>
            </a:r>
            <a:r>
              <a:rPr lang="en-GB" sz="1200">
                <a:solidFill>
                  <a:schemeClr val="accent1"/>
                </a:solidFill>
                <a:latin typeface="Lato"/>
                <a:ea typeface="Lato"/>
                <a:cs typeface="Lato"/>
                <a:sym typeface="Lato"/>
              </a:rPr>
              <a:t>ccélérer la convergence et limiter le branching factor </a:t>
            </a:r>
            <a:endParaRPr sz="1200">
              <a:solidFill>
                <a:schemeClr val="accent1"/>
              </a:solidFill>
              <a:latin typeface="Lato"/>
              <a:ea typeface="Lato"/>
              <a:cs typeface="Lato"/>
              <a:sym typeface="Lato"/>
            </a:endParaRPr>
          </a:p>
        </p:txBody>
      </p:sp>
      <p:sp>
        <p:nvSpPr>
          <p:cNvPr id="451" name="Google Shape;451;p42"/>
          <p:cNvSpPr/>
          <p:nvPr/>
        </p:nvSpPr>
        <p:spPr>
          <a:xfrm>
            <a:off x="797600" y="2518650"/>
            <a:ext cx="400200" cy="4002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
                <a:solidFill>
                  <a:schemeClr val="lt1"/>
                </a:solidFill>
                <a:latin typeface="Lato"/>
                <a:ea typeface="Lato"/>
                <a:cs typeface="Lato"/>
                <a:sym typeface="Lato"/>
              </a:rPr>
              <a:t>3</a:t>
            </a:r>
            <a:endParaRPr sz="2000">
              <a:solidFill>
                <a:schemeClr val="lt1"/>
              </a:solidFill>
              <a:latin typeface="Lato"/>
              <a:ea typeface="Lato"/>
              <a:cs typeface="Lato"/>
              <a:sym typeface="Lato"/>
            </a:endParaRPr>
          </a:p>
        </p:txBody>
      </p:sp>
      <p:sp>
        <p:nvSpPr>
          <p:cNvPr id="452" name="Google Shape;452;p42"/>
          <p:cNvSpPr txBox="1"/>
          <p:nvPr/>
        </p:nvSpPr>
        <p:spPr>
          <a:xfrm>
            <a:off x="1304375" y="2526300"/>
            <a:ext cx="62109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200">
                <a:solidFill>
                  <a:schemeClr val="accent1"/>
                </a:solidFill>
                <a:latin typeface="Lato"/>
                <a:ea typeface="Lato"/>
                <a:cs typeface="Lato"/>
                <a:sym typeface="Lato"/>
              </a:rPr>
              <a:t>Appliquer MCTS</a:t>
            </a:r>
            <a:endParaRPr b="1" sz="1200">
              <a:solidFill>
                <a:schemeClr val="accent1"/>
              </a:solidFill>
              <a:latin typeface="Lato"/>
              <a:ea typeface="Lato"/>
              <a:cs typeface="Lato"/>
              <a:sym typeface="Lato"/>
            </a:endParaRPr>
          </a:p>
        </p:txBody>
      </p:sp>
      <p:sp>
        <p:nvSpPr>
          <p:cNvPr id="453" name="Google Shape;453;p42"/>
          <p:cNvSpPr/>
          <p:nvPr/>
        </p:nvSpPr>
        <p:spPr>
          <a:xfrm>
            <a:off x="797600" y="4559825"/>
            <a:ext cx="400200" cy="4002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
                <a:solidFill>
                  <a:schemeClr val="lt1"/>
                </a:solidFill>
                <a:latin typeface="Lato"/>
                <a:ea typeface="Lato"/>
                <a:cs typeface="Lato"/>
                <a:sym typeface="Lato"/>
              </a:rPr>
              <a:t>4</a:t>
            </a:r>
            <a:endParaRPr sz="2000">
              <a:solidFill>
                <a:schemeClr val="lt1"/>
              </a:solidFill>
              <a:latin typeface="Lato"/>
              <a:ea typeface="Lato"/>
              <a:cs typeface="Lato"/>
              <a:sym typeface="Lato"/>
            </a:endParaRPr>
          </a:p>
        </p:txBody>
      </p:sp>
      <p:sp>
        <p:nvSpPr>
          <p:cNvPr id="454" name="Google Shape;454;p42"/>
          <p:cNvSpPr txBox="1"/>
          <p:nvPr/>
        </p:nvSpPr>
        <p:spPr>
          <a:xfrm>
            <a:off x="1304375" y="4575275"/>
            <a:ext cx="72693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GB" sz="1200">
                <a:solidFill>
                  <a:schemeClr val="accent1"/>
                </a:solidFill>
                <a:latin typeface="Lato"/>
                <a:ea typeface="Lato"/>
                <a:cs typeface="Lato"/>
                <a:sym typeface="Lato"/>
              </a:rPr>
              <a:t>Si le chemin trouvé par MCTS est meilleur que Dijkstra, on arrête l’exploration (</a:t>
            </a:r>
            <a:r>
              <a:rPr b="1" lang="en-GB" sz="1200">
                <a:solidFill>
                  <a:schemeClr val="accent1"/>
                </a:solidFill>
                <a:latin typeface="Lato"/>
                <a:ea typeface="Lato"/>
                <a:cs typeface="Lato"/>
                <a:sym typeface="Lato"/>
              </a:rPr>
              <a:t>early stopping</a:t>
            </a:r>
            <a:r>
              <a:rPr lang="en-GB" sz="1200">
                <a:solidFill>
                  <a:schemeClr val="accent1"/>
                </a:solidFill>
                <a:latin typeface="Lato"/>
                <a:ea typeface="Lato"/>
                <a:cs typeface="Lato"/>
                <a:sym typeface="Lato"/>
              </a:rPr>
              <a:t>).</a:t>
            </a:r>
            <a:endParaRPr sz="1200">
              <a:solidFill>
                <a:schemeClr val="accent1"/>
              </a:solidFill>
              <a:latin typeface="Lato"/>
              <a:ea typeface="Lato"/>
              <a:cs typeface="Lato"/>
              <a:sym typeface="Lato"/>
            </a:endParaRPr>
          </a:p>
        </p:txBody>
      </p:sp>
      <p:pic>
        <p:nvPicPr>
          <p:cNvPr descr="Beyond Playing Games: How Monte Carlo Tree Search Is Powering the Next  Generation of AI | by Edgar Bermudez | Data Science Collective | Medium" id="455" name="Google Shape;455;p42"/>
          <p:cNvPicPr preferRelativeResize="0"/>
          <p:nvPr/>
        </p:nvPicPr>
        <p:blipFill>
          <a:blip r:embed="rId3">
            <a:alphaModFix/>
          </a:blip>
          <a:stretch>
            <a:fillRect/>
          </a:stretch>
        </p:blipFill>
        <p:spPr>
          <a:xfrm>
            <a:off x="2319300" y="2787639"/>
            <a:ext cx="4337333" cy="1709525"/>
          </a:xfrm>
          <a:prstGeom prst="rect">
            <a:avLst/>
          </a:prstGeom>
          <a:noFill/>
          <a:ln>
            <a:noFill/>
          </a:ln>
        </p:spPr>
      </p:pic>
      <p:sp>
        <p:nvSpPr>
          <p:cNvPr id="456" name="Google Shape;456;p42"/>
          <p:cNvSpPr txBox="1"/>
          <p:nvPr/>
        </p:nvSpPr>
        <p:spPr>
          <a:xfrm>
            <a:off x="519975" y="1251075"/>
            <a:ext cx="85179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1200">
                <a:solidFill>
                  <a:schemeClr val="dk1"/>
                </a:solidFill>
                <a:latin typeface="Lato"/>
                <a:ea typeface="Lato"/>
                <a:cs typeface="Lato"/>
                <a:sym typeface="Lato"/>
              </a:rPr>
              <a:t>Trouver un bridge qui utilise des arêtes pertinentes, atteint la cible, reste court et ne consomme pas trop tokens.</a:t>
            </a:r>
            <a:endParaRPr b="1" sz="1200">
              <a:solidFill>
                <a:schemeClr val="dk1"/>
              </a:solidFill>
              <a:latin typeface="Lato"/>
              <a:ea typeface="Lato"/>
              <a:cs typeface="Lato"/>
              <a:sym typeface="Lato"/>
            </a:endParaRPr>
          </a:p>
          <a:p>
            <a:pPr indent="0" lvl="0" marL="0" rtl="0" algn="ctr">
              <a:spcBef>
                <a:spcPts val="0"/>
              </a:spcBef>
              <a:spcAft>
                <a:spcPts val="0"/>
              </a:spcAft>
              <a:buNone/>
            </a:pPr>
            <a:r>
              <a:t/>
            </a:r>
            <a:endParaRPr b="1" sz="1200">
              <a:solidFill>
                <a:schemeClr val="dk1"/>
              </a:solidFill>
              <a:latin typeface="Lato"/>
              <a:ea typeface="Lato"/>
              <a:cs typeface="Lato"/>
              <a:sym typeface="La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43"/>
          <p:cNvSpPr txBox="1"/>
          <p:nvPr>
            <p:ph type="title"/>
          </p:nvPr>
        </p:nvSpPr>
        <p:spPr>
          <a:xfrm>
            <a:off x="727650" y="66960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Construire le sous-graphe</a:t>
            </a:r>
            <a:endParaRPr/>
          </a:p>
        </p:txBody>
      </p:sp>
      <p:pic>
        <p:nvPicPr>
          <p:cNvPr descr="{&quot;type&quot;:&quot;$$&quot;,&quot;id&quot;:&quot;32&quot;,&quot;aid&quot;:null,&quot;font&quot;:{&quot;color&quot;:&quot;#000000&quot;,&quot;family&quot;:&quot;Arial&quot;,&quot;size&quot;:11},&quot;code&quot;:&quot;$$V_{\\text{cand}} =\nN_{r}(s) \\cup N_{r}(t) \\cup \\{s,t\\}$$&quot;,&quot;backgroundColor&quot;:&quot;#FFFFFF&quot;,&quot;backgroundColorModified&quot;:false,&quot;ts&quot;:1779532122152,&quot;cs&quot;:&quot;yUz8kpYPy5d9Gor4nOBsqQ==&quot;,&quot;size&quot;:{&quot;width&quot;:207.33333333333334,&quot;height&quot;:17.333333333333332}}" id="462" name="Google Shape;462;p43"/>
          <p:cNvPicPr preferRelativeResize="0"/>
          <p:nvPr/>
        </p:nvPicPr>
        <p:blipFill>
          <a:blip r:embed="rId3">
            <a:alphaModFix/>
          </a:blip>
          <a:stretch>
            <a:fillRect/>
          </a:stretch>
        </p:blipFill>
        <p:spPr>
          <a:xfrm>
            <a:off x="903150" y="1938226"/>
            <a:ext cx="1974850" cy="165100"/>
          </a:xfrm>
          <a:prstGeom prst="rect">
            <a:avLst/>
          </a:prstGeom>
          <a:noFill/>
          <a:ln>
            <a:noFill/>
          </a:ln>
        </p:spPr>
      </p:pic>
      <p:pic>
        <p:nvPicPr>
          <p:cNvPr descr="{&quot;backgroundColorModified&quot;:false,&quot;aid&quot;:null,&quot;id&quot;:&quot;33&quot;,&quot;code&quot;:&quot;$$r \\in \\{2, 3, 4\\}$$&quot;,&quot;backgroundColor&quot;:&quot;#FFFFFF&quot;,&quot;type&quot;:&quot;$$&quot;,&quot;font&quot;:{&quot;family&quot;:&quot;Arial&quot;,&quot;color&quot;:&quot;#000000&quot;,&quot;size&quot;:11},&quot;ts&quot;:1779532163432,&quot;cs&quot;:&quot;UhXjJKAWQ+dU4NwzKRn/sw==&quot;,&quot;size&quot;:{&quot;width&quot;:81.66666666666667,&quot;height&quot;:17.333333333333332}}" id="463" name="Google Shape;463;p43"/>
          <p:cNvPicPr preferRelativeResize="0"/>
          <p:nvPr/>
        </p:nvPicPr>
        <p:blipFill>
          <a:blip r:embed="rId4">
            <a:alphaModFix/>
          </a:blip>
          <a:stretch>
            <a:fillRect/>
          </a:stretch>
        </p:blipFill>
        <p:spPr>
          <a:xfrm>
            <a:off x="1501638" y="2230751"/>
            <a:ext cx="777875" cy="165100"/>
          </a:xfrm>
          <a:prstGeom prst="rect">
            <a:avLst/>
          </a:prstGeom>
          <a:noFill/>
          <a:ln>
            <a:noFill/>
          </a:ln>
        </p:spPr>
      </p:pic>
      <p:pic>
        <p:nvPicPr>
          <p:cNvPr descr="{&quot;font&quot;:{&quot;size&quot;:11,&quot;color&quot;:&quot;#000000&quot;,&quot;family&quot;:&quot;Arial&quot;},&quot;code&quot;:&quot;$$\\mathcal{N}_{\\text{keep}}(v)=\n\\mathrm{Top{-12}}_{x \\in \\mathcal{N}(v)}\n\\left(u(v,x \\mid q), -\\deg(x)\\right)$$&quot;,&quot;aid&quot;:null,&quot;backgroundColorModified&quot;:false,&quot;type&quot;:&quot;$$&quot;,&quot;id&quot;:&quot;34&quot;,&quot;backgroundColor&quot;:&quot;#FFFFFF&quot;,&quot;ts&quot;:1779545074370,&quot;cs&quot;:&quot;68t8oYpWIwCijYxSoGyQiw==&quot;,&quot;size&quot;:{&quot;width&quot;:336.75,&quot;height&quot;:20.75}}" id="464" name="Google Shape;464;p43"/>
          <p:cNvPicPr preferRelativeResize="0"/>
          <p:nvPr/>
        </p:nvPicPr>
        <p:blipFill>
          <a:blip r:embed="rId5">
            <a:alphaModFix/>
          </a:blip>
          <a:stretch>
            <a:fillRect/>
          </a:stretch>
        </p:blipFill>
        <p:spPr>
          <a:xfrm>
            <a:off x="3243975" y="3492438"/>
            <a:ext cx="3207544" cy="197644"/>
          </a:xfrm>
          <a:prstGeom prst="rect">
            <a:avLst/>
          </a:prstGeom>
          <a:noFill/>
          <a:ln>
            <a:noFill/>
          </a:ln>
        </p:spPr>
      </p:pic>
      <p:sp>
        <p:nvSpPr>
          <p:cNvPr id="465" name="Google Shape;465;p43"/>
          <p:cNvSpPr txBox="1"/>
          <p:nvPr/>
        </p:nvSpPr>
        <p:spPr>
          <a:xfrm>
            <a:off x="677375" y="2667101"/>
            <a:ext cx="2426400" cy="3387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1200"/>
              </a:spcBef>
              <a:spcAft>
                <a:spcPts val="1200"/>
              </a:spcAft>
              <a:buNone/>
            </a:pPr>
            <a:r>
              <a:rPr lang="en-GB" sz="1000">
                <a:solidFill>
                  <a:srgbClr val="E06666"/>
                </a:solidFill>
                <a:latin typeface="Lato"/>
                <a:ea typeface="Lato"/>
                <a:cs typeface="Lato"/>
                <a:sym typeface="Lato"/>
              </a:rPr>
              <a:t>augmente si la source et la cible deviennent déconnectées</a:t>
            </a:r>
            <a:endParaRPr sz="1000">
              <a:solidFill>
                <a:srgbClr val="E06666"/>
              </a:solidFill>
              <a:latin typeface="Lato"/>
              <a:ea typeface="Lato"/>
              <a:cs typeface="Lato"/>
              <a:sym typeface="Lato"/>
            </a:endParaRPr>
          </a:p>
        </p:txBody>
      </p:sp>
      <p:cxnSp>
        <p:nvCxnSpPr>
          <p:cNvPr id="466" name="Google Shape;466;p43"/>
          <p:cNvCxnSpPr>
            <a:stCxn id="465" idx="0"/>
            <a:endCxn id="463" idx="2"/>
          </p:cNvCxnSpPr>
          <p:nvPr/>
        </p:nvCxnSpPr>
        <p:spPr>
          <a:xfrm rot="10800000">
            <a:off x="1890575" y="2395901"/>
            <a:ext cx="0" cy="271200"/>
          </a:xfrm>
          <a:prstGeom prst="straightConnector1">
            <a:avLst/>
          </a:prstGeom>
          <a:noFill/>
          <a:ln cap="flat" cmpd="sng" w="9525">
            <a:solidFill>
              <a:schemeClr val="dk2"/>
            </a:solidFill>
            <a:prstDash val="solid"/>
            <a:round/>
            <a:headEnd len="med" w="med" type="none"/>
            <a:tailEnd len="med" w="med" type="triangle"/>
          </a:ln>
        </p:spPr>
      </p:cxnSp>
      <p:sp>
        <p:nvSpPr>
          <p:cNvPr id="467" name="Google Shape;467;p43"/>
          <p:cNvSpPr txBox="1"/>
          <p:nvPr/>
        </p:nvSpPr>
        <p:spPr>
          <a:xfrm>
            <a:off x="1161650" y="1500799"/>
            <a:ext cx="73722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Restreindre le graphe aux voisins des nœuds source et cible situés</a:t>
            </a:r>
            <a:endParaRPr sz="1300">
              <a:solidFill>
                <a:schemeClr val="accent1"/>
              </a:solidFill>
              <a:latin typeface="Lato"/>
              <a:ea typeface="Lato"/>
              <a:cs typeface="Lato"/>
              <a:sym typeface="Lato"/>
            </a:endParaRPr>
          </a:p>
          <a:p>
            <a:pPr indent="0" lvl="0" marL="0" rtl="0" algn="l">
              <a:spcBef>
                <a:spcPts val="0"/>
              </a:spcBef>
              <a:spcAft>
                <a:spcPts val="0"/>
              </a:spcAft>
              <a:buNone/>
            </a:pPr>
            <a:r>
              <a:rPr lang="en-GB" sz="1300">
                <a:solidFill>
                  <a:schemeClr val="accent1"/>
                </a:solidFill>
                <a:latin typeface="Lato"/>
                <a:ea typeface="Lato"/>
                <a:cs typeface="Lato"/>
                <a:sym typeface="Lato"/>
              </a:rPr>
              <a:t>dans un rayon de </a:t>
            </a:r>
            <a:r>
              <a:rPr b="1" lang="en-GB" sz="1300">
                <a:solidFill>
                  <a:schemeClr val="accent1"/>
                </a:solidFill>
                <a:latin typeface="Lato"/>
                <a:ea typeface="Lato"/>
                <a:cs typeface="Lato"/>
                <a:sym typeface="Lato"/>
              </a:rPr>
              <a:t>r</a:t>
            </a:r>
            <a:r>
              <a:rPr lang="en-GB" sz="1300">
                <a:solidFill>
                  <a:schemeClr val="accent1"/>
                </a:solidFill>
                <a:latin typeface="Lato"/>
                <a:ea typeface="Lato"/>
                <a:cs typeface="Lato"/>
                <a:sym typeface="Lato"/>
              </a:rPr>
              <a:t> sauts</a:t>
            </a:r>
            <a:endParaRPr sz="1300">
              <a:solidFill>
                <a:schemeClr val="accent1"/>
              </a:solidFill>
              <a:latin typeface="Lato"/>
              <a:ea typeface="Lato"/>
              <a:cs typeface="Lato"/>
              <a:sym typeface="Lato"/>
            </a:endParaRPr>
          </a:p>
          <a:p>
            <a:pPr indent="0" lvl="0" marL="0" rtl="0" algn="l">
              <a:spcBef>
                <a:spcPts val="0"/>
              </a:spcBef>
              <a:spcAft>
                <a:spcPts val="0"/>
              </a:spcAft>
              <a:buNone/>
            </a:pPr>
            <a:r>
              <a:t/>
            </a:r>
            <a:endParaRPr sz="1300">
              <a:solidFill>
                <a:schemeClr val="accent1"/>
              </a:solidFill>
              <a:latin typeface="Lato"/>
              <a:ea typeface="Lato"/>
              <a:cs typeface="Lato"/>
              <a:sym typeface="Lato"/>
            </a:endParaRPr>
          </a:p>
        </p:txBody>
      </p:sp>
      <p:sp>
        <p:nvSpPr>
          <p:cNvPr id="468" name="Google Shape;468;p43"/>
          <p:cNvSpPr txBox="1"/>
          <p:nvPr/>
        </p:nvSpPr>
        <p:spPr>
          <a:xfrm>
            <a:off x="1161650" y="3041100"/>
            <a:ext cx="78831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300">
                <a:solidFill>
                  <a:schemeClr val="accent1"/>
                </a:solidFill>
                <a:latin typeface="Lato"/>
                <a:ea typeface="Lato"/>
                <a:cs typeface="Lato"/>
                <a:sym typeface="Lato"/>
              </a:rPr>
              <a:t>Pruning </a:t>
            </a:r>
            <a:r>
              <a:rPr lang="en-GB" sz="1300">
                <a:solidFill>
                  <a:schemeClr val="accent1"/>
                </a:solidFill>
                <a:latin typeface="Lato"/>
                <a:ea typeface="Lato"/>
                <a:cs typeface="Lato"/>
                <a:sym typeface="Lato"/>
              </a:rPr>
              <a:t>: Pour chaque noeud </a:t>
            </a:r>
            <a:r>
              <a:rPr b="1" lang="en-GB" sz="1300">
                <a:solidFill>
                  <a:schemeClr val="accent1"/>
                </a:solidFill>
                <a:latin typeface="Lato"/>
                <a:ea typeface="Lato"/>
                <a:cs typeface="Lato"/>
                <a:sym typeface="Lato"/>
              </a:rPr>
              <a:t>v</a:t>
            </a:r>
            <a:r>
              <a:rPr lang="en-GB" sz="1300">
                <a:solidFill>
                  <a:schemeClr val="accent1"/>
                </a:solidFill>
                <a:latin typeface="Lato"/>
                <a:ea typeface="Lato"/>
                <a:cs typeface="Lato"/>
                <a:sym typeface="Lato"/>
              </a:rPr>
              <a:t>, prendre que les voisins avec la meilleure utilité et les moins génériques </a:t>
            </a:r>
            <a:endParaRPr sz="1300">
              <a:solidFill>
                <a:schemeClr val="accent1"/>
              </a:solidFill>
              <a:latin typeface="Lato"/>
              <a:ea typeface="Lato"/>
              <a:cs typeface="Lato"/>
              <a:sym typeface="Lato"/>
            </a:endParaRPr>
          </a:p>
          <a:p>
            <a:pPr indent="0" lvl="0" marL="0" rtl="0" algn="l">
              <a:spcBef>
                <a:spcPts val="0"/>
              </a:spcBef>
              <a:spcAft>
                <a:spcPts val="0"/>
              </a:spcAft>
              <a:buNone/>
            </a:pPr>
            <a:r>
              <a:t/>
            </a:r>
            <a:endParaRPr sz="1300">
              <a:solidFill>
                <a:schemeClr val="accent1"/>
              </a:solidFill>
              <a:latin typeface="Lato"/>
              <a:ea typeface="Lato"/>
              <a:cs typeface="Lato"/>
              <a:sym typeface="Lato"/>
            </a:endParaRPr>
          </a:p>
        </p:txBody>
      </p:sp>
      <p:grpSp>
        <p:nvGrpSpPr>
          <p:cNvPr id="469" name="Google Shape;469;p43"/>
          <p:cNvGrpSpPr/>
          <p:nvPr/>
        </p:nvGrpSpPr>
        <p:grpSpPr>
          <a:xfrm>
            <a:off x="6859129" y="1469309"/>
            <a:ext cx="1286925" cy="1102925"/>
            <a:chOff x="5039600" y="3220400"/>
            <a:chExt cx="1794875" cy="1538250"/>
          </a:xfrm>
        </p:grpSpPr>
        <p:sp>
          <p:nvSpPr>
            <p:cNvPr id="470" name="Google Shape;470;p43"/>
            <p:cNvSpPr/>
            <p:nvPr/>
          </p:nvSpPr>
          <p:spPr>
            <a:xfrm>
              <a:off x="5861025" y="3812438"/>
              <a:ext cx="254400" cy="254400"/>
            </a:xfrm>
            <a:prstGeom prst="ellipse">
              <a:avLst/>
            </a:prstGeom>
            <a:solidFill>
              <a:schemeClr val="accent3"/>
            </a:solidFill>
            <a:ln cap="flat" cmpd="sng" w="6825">
              <a:solidFill>
                <a:schemeClr val="accent3"/>
              </a:solidFill>
              <a:prstDash val="solid"/>
              <a:round/>
              <a:headEnd len="sm" w="sm" type="none"/>
              <a:tailEnd len="sm" w="sm" type="none"/>
            </a:ln>
          </p:spPr>
          <p:txBody>
            <a:bodyPr anchorCtr="0" anchor="ctr" bIns="65550" lIns="65550" spcFirstLastPara="1" rIns="65550" wrap="square" tIns="65550">
              <a:noAutofit/>
            </a:bodyPr>
            <a:lstStyle/>
            <a:p>
              <a:pPr indent="0" lvl="0" marL="0" rtl="0" algn="ctr">
                <a:spcBef>
                  <a:spcPts val="0"/>
                </a:spcBef>
                <a:spcAft>
                  <a:spcPts val="0"/>
                </a:spcAft>
                <a:buNone/>
              </a:pPr>
              <a:r>
                <a:t/>
              </a:r>
              <a:endParaRPr sz="1004">
                <a:latin typeface="Lato"/>
                <a:ea typeface="Lato"/>
                <a:cs typeface="Lato"/>
                <a:sym typeface="Lato"/>
              </a:endParaRPr>
            </a:p>
          </p:txBody>
        </p:sp>
        <p:sp>
          <p:nvSpPr>
            <p:cNvPr id="471" name="Google Shape;471;p43"/>
            <p:cNvSpPr/>
            <p:nvPr/>
          </p:nvSpPr>
          <p:spPr>
            <a:xfrm>
              <a:off x="5951375" y="4504250"/>
              <a:ext cx="254400" cy="254400"/>
            </a:xfrm>
            <a:prstGeom prst="ellipse">
              <a:avLst/>
            </a:prstGeom>
            <a:solidFill>
              <a:schemeClr val="accent3"/>
            </a:solidFill>
            <a:ln cap="flat" cmpd="sng" w="6825">
              <a:solidFill>
                <a:schemeClr val="accent3"/>
              </a:solidFill>
              <a:prstDash val="solid"/>
              <a:round/>
              <a:headEnd len="sm" w="sm" type="none"/>
              <a:tailEnd len="sm" w="sm" type="none"/>
            </a:ln>
          </p:spPr>
          <p:txBody>
            <a:bodyPr anchorCtr="0" anchor="ctr" bIns="65550" lIns="65550" spcFirstLastPara="1" rIns="65550" wrap="square" tIns="65550">
              <a:noAutofit/>
            </a:bodyPr>
            <a:lstStyle/>
            <a:p>
              <a:pPr indent="0" lvl="0" marL="0" rtl="0" algn="ctr">
                <a:spcBef>
                  <a:spcPts val="0"/>
                </a:spcBef>
                <a:spcAft>
                  <a:spcPts val="0"/>
                </a:spcAft>
                <a:buNone/>
              </a:pPr>
              <a:r>
                <a:t/>
              </a:r>
              <a:endParaRPr sz="1004">
                <a:latin typeface="Lato"/>
                <a:ea typeface="Lato"/>
                <a:cs typeface="Lato"/>
                <a:sym typeface="Lato"/>
              </a:endParaRPr>
            </a:p>
          </p:txBody>
        </p:sp>
        <p:sp>
          <p:nvSpPr>
            <p:cNvPr id="472" name="Google Shape;472;p43"/>
            <p:cNvSpPr/>
            <p:nvPr/>
          </p:nvSpPr>
          <p:spPr>
            <a:xfrm>
              <a:off x="5039600" y="4303300"/>
              <a:ext cx="254400" cy="254400"/>
            </a:xfrm>
            <a:prstGeom prst="ellipse">
              <a:avLst/>
            </a:prstGeom>
            <a:solidFill>
              <a:srgbClr val="008FFF"/>
            </a:solidFill>
            <a:ln>
              <a:noFill/>
            </a:ln>
          </p:spPr>
          <p:txBody>
            <a:bodyPr anchorCtr="0" anchor="ctr" bIns="65550" lIns="65550" spcFirstLastPara="1" rIns="65550" wrap="square" tIns="65550">
              <a:noAutofit/>
            </a:bodyPr>
            <a:lstStyle/>
            <a:p>
              <a:pPr indent="0" lvl="0" marL="0" rtl="0" algn="ctr">
                <a:spcBef>
                  <a:spcPts val="0"/>
                </a:spcBef>
                <a:spcAft>
                  <a:spcPts val="0"/>
                </a:spcAft>
                <a:buNone/>
              </a:pPr>
              <a:r>
                <a:t/>
              </a:r>
              <a:endParaRPr sz="1004">
                <a:latin typeface="Lato"/>
                <a:ea typeface="Lato"/>
                <a:cs typeface="Lato"/>
                <a:sym typeface="Lato"/>
              </a:endParaRPr>
            </a:p>
          </p:txBody>
        </p:sp>
        <p:sp>
          <p:nvSpPr>
            <p:cNvPr id="473" name="Google Shape;473;p43"/>
            <p:cNvSpPr/>
            <p:nvPr/>
          </p:nvSpPr>
          <p:spPr>
            <a:xfrm>
              <a:off x="6580075" y="3731200"/>
              <a:ext cx="254400" cy="254400"/>
            </a:xfrm>
            <a:prstGeom prst="ellipse">
              <a:avLst/>
            </a:prstGeom>
            <a:solidFill>
              <a:schemeClr val="dk1"/>
            </a:solidFill>
            <a:ln cap="flat" cmpd="sng" w="6825">
              <a:solidFill>
                <a:schemeClr val="dk1"/>
              </a:solidFill>
              <a:prstDash val="solid"/>
              <a:round/>
              <a:headEnd len="sm" w="sm" type="none"/>
              <a:tailEnd len="sm" w="sm" type="none"/>
            </a:ln>
          </p:spPr>
          <p:txBody>
            <a:bodyPr anchorCtr="0" anchor="ctr" bIns="65550" lIns="65550" spcFirstLastPara="1" rIns="65550" wrap="square" tIns="65550">
              <a:noAutofit/>
            </a:bodyPr>
            <a:lstStyle/>
            <a:p>
              <a:pPr indent="0" lvl="0" marL="0" rtl="0" algn="ctr">
                <a:spcBef>
                  <a:spcPts val="0"/>
                </a:spcBef>
                <a:spcAft>
                  <a:spcPts val="0"/>
                </a:spcAft>
                <a:buNone/>
              </a:pPr>
              <a:r>
                <a:t/>
              </a:r>
              <a:endParaRPr sz="1004">
                <a:latin typeface="Lato"/>
                <a:ea typeface="Lato"/>
                <a:cs typeface="Lato"/>
                <a:sym typeface="Lato"/>
              </a:endParaRPr>
            </a:p>
          </p:txBody>
        </p:sp>
        <p:sp>
          <p:nvSpPr>
            <p:cNvPr id="474" name="Google Shape;474;p43"/>
            <p:cNvSpPr/>
            <p:nvPr/>
          </p:nvSpPr>
          <p:spPr>
            <a:xfrm>
              <a:off x="5228750" y="3220400"/>
              <a:ext cx="254400" cy="254400"/>
            </a:xfrm>
            <a:prstGeom prst="ellipse">
              <a:avLst/>
            </a:prstGeom>
            <a:solidFill>
              <a:schemeClr val="accent3"/>
            </a:solidFill>
            <a:ln cap="flat" cmpd="sng" w="6825">
              <a:solidFill>
                <a:schemeClr val="accent3"/>
              </a:solidFill>
              <a:prstDash val="solid"/>
              <a:round/>
              <a:headEnd len="sm" w="sm" type="none"/>
              <a:tailEnd len="sm" w="sm" type="none"/>
            </a:ln>
          </p:spPr>
          <p:txBody>
            <a:bodyPr anchorCtr="0" anchor="ctr" bIns="65550" lIns="65550" spcFirstLastPara="1" rIns="65550" wrap="square" tIns="65550">
              <a:noAutofit/>
            </a:bodyPr>
            <a:lstStyle/>
            <a:p>
              <a:pPr indent="0" lvl="0" marL="0" rtl="0" algn="ctr">
                <a:spcBef>
                  <a:spcPts val="0"/>
                </a:spcBef>
                <a:spcAft>
                  <a:spcPts val="0"/>
                </a:spcAft>
                <a:buNone/>
              </a:pPr>
              <a:r>
                <a:t/>
              </a:r>
              <a:endParaRPr sz="1004">
                <a:latin typeface="Lato"/>
                <a:ea typeface="Lato"/>
                <a:cs typeface="Lato"/>
                <a:sym typeface="Lato"/>
              </a:endParaRPr>
            </a:p>
          </p:txBody>
        </p:sp>
        <p:cxnSp>
          <p:nvCxnSpPr>
            <p:cNvPr id="475" name="Google Shape;475;p43"/>
            <p:cNvCxnSpPr>
              <a:stCxn id="472" idx="0"/>
              <a:endCxn id="474" idx="4"/>
            </p:cNvCxnSpPr>
            <p:nvPr/>
          </p:nvCxnSpPr>
          <p:spPr>
            <a:xfrm flipH="1" rot="10800000">
              <a:off x="5166800" y="3474700"/>
              <a:ext cx="189000" cy="828600"/>
            </a:xfrm>
            <a:prstGeom prst="straightConnector1">
              <a:avLst/>
            </a:prstGeom>
            <a:noFill/>
            <a:ln cap="flat" cmpd="sng" w="13650">
              <a:solidFill>
                <a:schemeClr val="accent3"/>
              </a:solidFill>
              <a:prstDash val="solid"/>
              <a:round/>
              <a:headEnd len="med" w="med" type="none"/>
              <a:tailEnd len="med" w="med" type="none"/>
            </a:ln>
          </p:spPr>
        </p:cxnSp>
        <p:cxnSp>
          <p:nvCxnSpPr>
            <p:cNvPr id="476" name="Google Shape;476;p43"/>
            <p:cNvCxnSpPr>
              <a:stCxn id="472" idx="6"/>
              <a:endCxn id="470" idx="3"/>
            </p:cNvCxnSpPr>
            <p:nvPr/>
          </p:nvCxnSpPr>
          <p:spPr>
            <a:xfrm flipH="1" rot="10800000">
              <a:off x="5294000" y="4029700"/>
              <a:ext cx="604200" cy="400800"/>
            </a:xfrm>
            <a:prstGeom prst="straightConnector1">
              <a:avLst/>
            </a:prstGeom>
            <a:noFill/>
            <a:ln cap="flat" cmpd="sng" w="13650">
              <a:solidFill>
                <a:schemeClr val="accent3"/>
              </a:solidFill>
              <a:prstDash val="solid"/>
              <a:round/>
              <a:headEnd len="med" w="med" type="none"/>
              <a:tailEnd len="med" w="med" type="none"/>
            </a:ln>
          </p:spPr>
        </p:cxnSp>
        <p:cxnSp>
          <p:nvCxnSpPr>
            <p:cNvPr id="477" name="Google Shape;477;p43"/>
            <p:cNvCxnSpPr>
              <a:stCxn id="470" idx="1"/>
              <a:endCxn id="474" idx="5"/>
            </p:cNvCxnSpPr>
            <p:nvPr/>
          </p:nvCxnSpPr>
          <p:spPr>
            <a:xfrm rot="10800000">
              <a:off x="5445881" y="3437494"/>
              <a:ext cx="452400" cy="412200"/>
            </a:xfrm>
            <a:prstGeom prst="straightConnector1">
              <a:avLst/>
            </a:prstGeom>
            <a:noFill/>
            <a:ln cap="flat" cmpd="sng" w="13650">
              <a:solidFill>
                <a:schemeClr val="dk1"/>
              </a:solidFill>
              <a:prstDash val="solid"/>
              <a:round/>
              <a:headEnd len="med" w="med" type="none"/>
              <a:tailEnd len="med" w="med" type="none"/>
            </a:ln>
          </p:spPr>
        </p:cxnSp>
        <p:cxnSp>
          <p:nvCxnSpPr>
            <p:cNvPr id="478" name="Google Shape;478;p43"/>
            <p:cNvCxnSpPr>
              <a:stCxn id="470" idx="6"/>
              <a:endCxn id="473" idx="2"/>
            </p:cNvCxnSpPr>
            <p:nvPr/>
          </p:nvCxnSpPr>
          <p:spPr>
            <a:xfrm flipH="1" rot="10800000">
              <a:off x="6115425" y="3858338"/>
              <a:ext cx="464700" cy="81300"/>
            </a:xfrm>
            <a:prstGeom prst="straightConnector1">
              <a:avLst/>
            </a:prstGeom>
            <a:noFill/>
            <a:ln cap="flat" cmpd="sng" w="13650">
              <a:solidFill>
                <a:schemeClr val="dk1"/>
              </a:solidFill>
              <a:prstDash val="solid"/>
              <a:round/>
              <a:headEnd len="med" w="med" type="none"/>
              <a:tailEnd len="med" w="med" type="none"/>
            </a:ln>
          </p:spPr>
        </p:cxnSp>
        <p:cxnSp>
          <p:nvCxnSpPr>
            <p:cNvPr id="479" name="Google Shape;479;p43"/>
            <p:cNvCxnSpPr>
              <a:stCxn id="472" idx="5"/>
              <a:endCxn id="471" idx="2"/>
            </p:cNvCxnSpPr>
            <p:nvPr/>
          </p:nvCxnSpPr>
          <p:spPr>
            <a:xfrm>
              <a:off x="5256744" y="4520444"/>
              <a:ext cx="694500" cy="111000"/>
            </a:xfrm>
            <a:prstGeom prst="straightConnector1">
              <a:avLst/>
            </a:prstGeom>
            <a:noFill/>
            <a:ln cap="flat" cmpd="sng" w="13650">
              <a:solidFill>
                <a:schemeClr val="accent3"/>
              </a:solidFill>
              <a:prstDash val="solid"/>
              <a:round/>
              <a:headEnd len="med" w="med" type="none"/>
              <a:tailEnd len="med" w="med" type="none"/>
            </a:ln>
          </p:spPr>
        </p:cxnSp>
        <p:cxnSp>
          <p:nvCxnSpPr>
            <p:cNvPr id="480" name="Google Shape;480;p43"/>
            <p:cNvCxnSpPr>
              <a:stCxn id="473" idx="4"/>
              <a:endCxn id="471" idx="7"/>
            </p:cNvCxnSpPr>
            <p:nvPr/>
          </p:nvCxnSpPr>
          <p:spPr>
            <a:xfrm flipH="1">
              <a:off x="6168475" y="3985600"/>
              <a:ext cx="538800" cy="555900"/>
            </a:xfrm>
            <a:prstGeom prst="straightConnector1">
              <a:avLst/>
            </a:prstGeom>
            <a:noFill/>
            <a:ln cap="flat" cmpd="sng" w="13650">
              <a:solidFill>
                <a:schemeClr val="dk1"/>
              </a:solidFill>
              <a:prstDash val="solid"/>
              <a:round/>
              <a:headEnd len="med" w="med" type="none"/>
              <a:tailEnd len="med" w="med" type="none"/>
            </a:ln>
          </p:spPr>
        </p:cxnSp>
      </p:grpSp>
      <p:pic>
        <p:nvPicPr>
          <p:cNvPr descr="{&quot;backgroundColorModified&quot;:false,&quot;font&quot;:{&quot;family&quot;:&quot;Arial&quot;,&quot;size&quot;:12,&quot;color&quot;:&quot;#000000&quot;},&quot;id&quot;:&quot;55&quot;,&quot;aid&quot;:null,&quot;code&quot;:&quot;$$r=1$$&quot;,&quot;backgroundColor&quot;:&quot;#FFFFFF&quot;,&quot;type&quot;:&quot;$$&quot;,&quot;ts&quot;:1779545230877,&quot;cs&quot;:&quot;r89uNvZQXIJsiFKXOgbhQg==&quot;,&quot;size&quot;:{&quot;width&quot;:40.666666666666664,&quot;height&quot;:13}}" id="481" name="Google Shape;481;p43"/>
          <p:cNvPicPr preferRelativeResize="0"/>
          <p:nvPr/>
        </p:nvPicPr>
        <p:blipFill>
          <a:blip r:embed="rId6">
            <a:alphaModFix/>
          </a:blip>
          <a:stretch>
            <a:fillRect/>
          </a:stretch>
        </p:blipFill>
        <p:spPr>
          <a:xfrm>
            <a:off x="6415025" y="1768563"/>
            <a:ext cx="387350" cy="123825"/>
          </a:xfrm>
          <a:prstGeom prst="rect">
            <a:avLst/>
          </a:prstGeom>
          <a:noFill/>
          <a:ln>
            <a:noFill/>
          </a:ln>
        </p:spPr>
      </p:pic>
      <p:sp>
        <p:nvSpPr>
          <p:cNvPr id="482" name="Google Shape;482;p43"/>
          <p:cNvSpPr txBox="1"/>
          <p:nvPr/>
        </p:nvSpPr>
        <p:spPr>
          <a:xfrm>
            <a:off x="1161650" y="4000106"/>
            <a:ext cx="7372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Si le noeud source et cible devient déconnectées, éviter le pruning</a:t>
            </a:r>
            <a:endParaRPr sz="1300">
              <a:solidFill>
                <a:schemeClr val="accent1"/>
              </a:solidFill>
              <a:latin typeface="Lato"/>
              <a:ea typeface="Lato"/>
              <a:cs typeface="Lato"/>
              <a:sym typeface="Lato"/>
            </a:endParaRPr>
          </a:p>
          <a:p>
            <a:pPr indent="0" lvl="0" marL="0" rtl="0" algn="l">
              <a:spcBef>
                <a:spcPts val="0"/>
              </a:spcBef>
              <a:spcAft>
                <a:spcPts val="0"/>
              </a:spcAft>
              <a:buNone/>
            </a:pPr>
            <a:r>
              <a:t/>
            </a:r>
            <a:endParaRPr sz="1300">
              <a:solidFill>
                <a:schemeClr val="accent1"/>
              </a:solidFill>
              <a:latin typeface="Lato"/>
              <a:ea typeface="Lato"/>
              <a:cs typeface="Lato"/>
              <a:sym typeface="Lato"/>
            </a:endParaRPr>
          </a:p>
        </p:txBody>
      </p:sp>
      <p:sp>
        <p:nvSpPr>
          <p:cNvPr id="483" name="Google Shape;483;p43"/>
          <p:cNvSpPr/>
          <p:nvPr/>
        </p:nvSpPr>
        <p:spPr>
          <a:xfrm>
            <a:off x="822950" y="1429876"/>
            <a:ext cx="338700" cy="3387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solidFill>
                  <a:schemeClr val="lt1"/>
                </a:solidFill>
                <a:latin typeface="Lato"/>
                <a:ea typeface="Lato"/>
                <a:cs typeface="Lato"/>
                <a:sym typeface="Lato"/>
              </a:rPr>
              <a:t>1</a:t>
            </a:r>
            <a:endParaRPr sz="1600">
              <a:solidFill>
                <a:schemeClr val="lt1"/>
              </a:solidFill>
              <a:latin typeface="Lato"/>
              <a:ea typeface="Lato"/>
              <a:cs typeface="Lato"/>
              <a:sym typeface="Lato"/>
            </a:endParaRPr>
          </a:p>
        </p:txBody>
      </p:sp>
      <p:sp>
        <p:nvSpPr>
          <p:cNvPr id="484" name="Google Shape;484;p43"/>
          <p:cNvSpPr/>
          <p:nvPr/>
        </p:nvSpPr>
        <p:spPr>
          <a:xfrm>
            <a:off x="822950" y="3068363"/>
            <a:ext cx="338700" cy="3387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solidFill>
                  <a:schemeClr val="lt1"/>
                </a:solidFill>
                <a:latin typeface="Lato"/>
                <a:ea typeface="Lato"/>
                <a:cs typeface="Lato"/>
                <a:sym typeface="Lato"/>
              </a:rPr>
              <a:t>2</a:t>
            </a:r>
            <a:endParaRPr sz="1600">
              <a:solidFill>
                <a:schemeClr val="lt1"/>
              </a:solidFill>
              <a:latin typeface="Lato"/>
              <a:ea typeface="Lato"/>
              <a:cs typeface="Lato"/>
              <a:sym typeface="Lato"/>
            </a:endParaRPr>
          </a:p>
        </p:txBody>
      </p:sp>
      <p:sp>
        <p:nvSpPr>
          <p:cNvPr id="485" name="Google Shape;485;p43"/>
          <p:cNvSpPr/>
          <p:nvPr/>
        </p:nvSpPr>
        <p:spPr>
          <a:xfrm>
            <a:off x="822950" y="4000088"/>
            <a:ext cx="338700" cy="3387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solidFill>
                  <a:schemeClr val="lt1"/>
                </a:solidFill>
                <a:latin typeface="Lato"/>
                <a:ea typeface="Lato"/>
                <a:cs typeface="Lato"/>
                <a:sym typeface="Lato"/>
              </a:rPr>
              <a:t>3</a:t>
            </a:r>
            <a:endParaRPr sz="1600">
              <a:solidFill>
                <a:schemeClr val="lt1"/>
              </a:solidFill>
              <a:latin typeface="Lato"/>
              <a:ea typeface="Lato"/>
              <a:cs typeface="Lato"/>
              <a:sym typeface="La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44"/>
          <p:cNvSpPr txBox="1"/>
          <p:nvPr>
            <p:ph type="title"/>
          </p:nvPr>
        </p:nvSpPr>
        <p:spPr>
          <a:xfrm>
            <a:off x="727650" y="66960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Appliquer MCTS</a:t>
            </a:r>
            <a:endParaRPr/>
          </a:p>
        </p:txBody>
      </p:sp>
      <p:sp>
        <p:nvSpPr>
          <p:cNvPr id="491" name="Google Shape;491;p44"/>
          <p:cNvSpPr/>
          <p:nvPr/>
        </p:nvSpPr>
        <p:spPr>
          <a:xfrm>
            <a:off x="806845" y="2741410"/>
            <a:ext cx="400200" cy="400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chemeClr val="lt1"/>
                </a:solidFill>
                <a:latin typeface="Lato"/>
                <a:ea typeface="Lato"/>
                <a:cs typeface="Lato"/>
                <a:sym typeface="Lato"/>
              </a:rPr>
              <a:t>3.1</a:t>
            </a:r>
            <a:endParaRPr b="1" sz="1200">
              <a:solidFill>
                <a:schemeClr val="lt1"/>
              </a:solidFill>
              <a:latin typeface="Lato"/>
              <a:ea typeface="Lato"/>
              <a:cs typeface="Lato"/>
              <a:sym typeface="Lato"/>
            </a:endParaRPr>
          </a:p>
        </p:txBody>
      </p:sp>
      <p:sp>
        <p:nvSpPr>
          <p:cNvPr id="492" name="Google Shape;492;p44"/>
          <p:cNvSpPr txBox="1"/>
          <p:nvPr/>
        </p:nvSpPr>
        <p:spPr>
          <a:xfrm>
            <a:off x="1321707" y="2741410"/>
            <a:ext cx="62109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200">
                <a:solidFill>
                  <a:schemeClr val="accent3"/>
                </a:solidFill>
                <a:latin typeface="Lato"/>
                <a:ea typeface="Lato"/>
                <a:cs typeface="Lato"/>
                <a:sym typeface="Lato"/>
              </a:rPr>
              <a:t>Sélection</a:t>
            </a:r>
            <a:r>
              <a:rPr lang="en-GB" sz="1200">
                <a:solidFill>
                  <a:schemeClr val="accent3"/>
                </a:solidFill>
                <a:latin typeface="Lato"/>
                <a:ea typeface="Lato"/>
                <a:cs typeface="Lato"/>
                <a:sym typeface="Lato"/>
              </a:rPr>
              <a:t> : choisir les enfants avec le </a:t>
            </a:r>
            <a:r>
              <a:rPr b="1" lang="en-GB" sz="1200">
                <a:solidFill>
                  <a:schemeClr val="accent3"/>
                </a:solidFill>
                <a:latin typeface="Lato"/>
                <a:ea typeface="Lato"/>
                <a:cs typeface="Lato"/>
                <a:sym typeface="Lato"/>
              </a:rPr>
              <a:t>meilleur UCT </a:t>
            </a:r>
            <a:endParaRPr b="1" sz="1200">
              <a:solidFill>
                <a:schemeClr val="accent3"/>
              </a:solidFill>
              <a:latin typeface="Lato"/>
              <a:ea typeface="Lato"/>
              <a:cs typeface="Lato"/>
              <a:sym typeface="Lato"/>
            </a:endParaRPr>
          </a:p>
        </p:txBody>
      </p:sp>
      <p:sp>
        <p:nvSpPr>
          <p:cNvPr id="493" name="Google Shape;493;p44"/>
          <p:cNvSpPr/>
          <p:nvPr/>
        </p:nvSpPr>
        <p:spPr>
          <a:xfrm>
            <a:off x="806850" y="1344082"/>
            <a:ext cx="400200" cy="400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chemeClr val="lt1"/>
                </a:solidFill>
                <a:latin typeface="Lato"/>
                <a:ea typeface="Lato"/>
                <a:cs typeface="Lato"/>
                <a:sym typeface="Lato"/>
              </a:rPr>
              <a:t>3.0</a:t>
            </a:r>
            <a:endParaRPr b="1" sz="1200">
              <a:solidFill>
                <a:schemeClr val="lt1"/>
              </a:solidFill>
              <a:latin typeface="Lato"/>
              <a:ea typeface="Lato"/>
              <a:cs typeface="Lato"/>
              <a:sym typeface="Lato"/>
            </a:endParaRPr>
          </a:p>
        </p:txBody>
      </p:sp>
      <p:sp>
        <p:nvSpPr>
          <p:cNvPr id="494" name="Google Shape;494;p44"/>
          <p:cNvSpPr txBox="1"/>
          <p:nvPr/>
        </p:nvSpPr>
        <p:spPr>
          <a:xfrm>
            <a:off x="1268275" y="1355550"/>
            <a:ext cx="45369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200">
                <a:solidFill>
                  <a:schemeClr val="accent3"/>
                </a:solidFill>
                <a:latin typeface="Lato"/>
                <a:ea typeface="Lato"/>
                <a:cs typeface="Lato"/>
                <a:sym typeface="Lato"/>
              </a:rPr>
              <a:t>Initialiser</a:t>
            </a:r>
            <a:r>
              <a:rPr lang="en-GB" sz="1200">
                <a:solidFill>
                  <a:schemeClr val="accent3"/>
                </a:solidFill>
                <a:latin typeface="Lato"/>
                <a:ea typeface="Lato"/>
                <a:cs typeface="Lato"/>
                <a:sym typeface="Lato"/>
              </a:rPr>
              <a:t> la racine de l'arbre d’exploration</a:t>
            </a:r>
            <a:endParaRPr sz="1200">
              <a:solidFill>
                <a:schemeClr val="accent3"/>
              </a:solidFill>
              <a:latin typeface="Lato"/>
              <a:ea typeface="Lato"/>
              <a:cs typeface="Lato"/>
              <a:sym typeface="Lato"/>
            </a:endParaRPr>
          </a:p>
        </p:txBody>
      </p:sp>
      <p:pic>
        <p:nvPicPr>
          <p:cNvPr descr="{&quot;font&quot;:{&quot;color&quot;:&quot;#000000&quot;,&quot;family&quot;:&quot;Arial&quot;,&quot;size&quot;:10},&quot;code&quot;:&quot;$$\\mathrm{UCT}(s,a)=\n\\bar{Q}(s,a)\n+ 1.2{\\sqrt[]{\\frac{\\ln N(s)}{N(s,a)}}}$$&quot;,&quot;aid&quot;:null,&quot;id&quot;:&quot;36&quot;,&quot;backgroundColor&quot;:&quot;#FFFFFF&quot;,&quot;type&quot;:&quot;$$&quot;,&quot;backgroundColorModified&quot;:false,&quot;ts&quot;:1779542431367,&quot;cs&quot;:&quot;xMy2CH0+K7vFcUAKmPSMNg==&quot;,&quot;size&quot;:{&quot;width&quot;:254.90686299212598,&quot;height&quot;:48.370048818897665}}" id="495" name="Google Shape;495;p44"/>
          <p:cNvPicPr preferRelativeResize="0"/>
          <p:nvPr/>
        </p:nvPicPr>
        <p:blipFill>
          <a:blip r:embed="rId3">
            <a:alphaModFix/>
          </a:blip>
          <a:stretch>
            <a:fillRect/>
          </a:stretch>
        </p:blipFill>
        <p:spPr>
          <a:xfrm>
            <a:off x="1416938" y="3195087"/>
            <a:ext cx="2427988" cy="460725"/>
          </a:xfrm>
          <a:prstGeom prst="rect">
            <a:avLst/>
          </a:prstGeom>
          <a:noFill/>
          <a:ln>
            <a:noFill/>
          </a:ln>
        </p:spPr>
      </p:pic>
      <p:pic>
        <p:nvPicPr>
          <p:cNvPr descr="{&quot;font&quot;:{&quot;family&quot;:&quot;Arial&quot;,&quot;size&quot;:14,&quot;color&quot;:&quot;#000000&quot;},&quot;aid&quot;:null,&quot;id&quot;:&quot;37&quot;,&quot;code&quot;:&quot;$$\\mathrm{UCT}(s,a)=+\\infty\n$$&quot;,&quot;backgroundColorModified&quot;:false,&quot;type&quot;:&quot;$$&quot;,&quot;backgroundColor&quot;:&quot;#FFFFFF&quot;,&quot;ts&quot;:1779533900386,&quot;cs&quot;:&quot;PiZvNmLwCtKyQpUuRmVITw==&quot;,&quot;size&quot;:{&quot;width&quot;:161.5,&quot;height&quot;:22}}" id="496" name="Google Shape;496;p44"/>
          <p:cNvPicPr preferRelativeResize="0"/>
          <p:nvPr/>
        </p:nvPicPr>
        <p:blipFill>
          <a:blip r:embed="rId4">
            <a:alphaModFix/>
          </a:blip>
          <a:stretch>
            <a:fillRect/>
          </a:stretch>
        </p:blipFill>
        <p:spPr>
          <a:xfrm>
            <a:off x="5956988" y="3404575"/>
            <a:ext cx="1342300" cy="182849"/>
          </a:xfrm>
          <a:prstGeom prst="rect">
            <a:avLst/>
          </a:prstGeom>
          <a:noFill/>
          <a:ln>
            <a:noFill/>
          </a:ln>
        </p:spPr>
      </p:pic>
      <p:sp>
        <p:nvSpPr>
          <p:cNvPr id="497" name="Google Shape;497;p44"/>
          <p:cNvSpPr txBox="1"/>
          <p:nvPr/>
        </p:nvSpPr>
        <p:spPr>
          <a:xfrm>
            <a:off x="5433988" y="2741400"/>
            <a:ext cx="2388300" cy="597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000">
                <a:solidFill>
                  <a:schemeClr val="accent1"/>
                </a:solidFill>
                <a:latin typeface="Lato"/>
                <a:ea typeface="Lato"/>
                <a:cs typeface="Lato"/>
                <a:sym typeface="Lato"/>
              </a:rPr>
              <a:t>Pour le noeud-enfant non-visité</a:t>
            </a:r>
            <a:endParaRPr sz="1000">
              <a:solidFill>
                <a:schemeClr val="accent1"/>
              </a:solidFill>
              <a:latin typeface="Lato"/>
              <a:ea typeface="Lato"/>
              <a:cs typeface="Lato"/>
              <a:sym typeface="Lato"/>
            </a:endParaRPr>
          </a:p>
          <a:p>
            <a:pPr indent="0" lvl="0" marL="0" rtl="0" algn="ctr">
              <a:spcBef>
                <a:spcPts val="0"/>
              </a:spcBef>
              <a:spcAft>
                <a:spcPts val="0"/>
              </a:spcAft>
              <a:buNone/>
            </a:pPr>
            <a:r>
              <a:rPr lang="en-GB" sz="1000">
                <a:solidFill>
                  <a:schemeClr val="accent1"/>
                </a:solidFill>
                <a:latin typeface="Lato"/>
                <a:ea typeface="Lato"/>
                <a:cs typeface="Lato"/>
                <a:sym typeface="Lato"/>
              </a:rPr>
              <a:t>(pour garantir l’exploration)</a:t>
            </a:r>
            <a:endParaRPr sz="1000">
              <a:solidFill>
                <a:schemeClr val="accent1"/>
              </a:solidFill>
              <a:latin typeface="Lato"/>
              <a:ea typeface="Lato"/>
              <a:cs typeface="Lato"/>
              <a:sym typeface="Lato"/>
            </a:endParaRPr>
          </a:p>
        </p:txBody>
      </p:sp>
      <p:cxnSp>
        <p:nvCxnSpPr>
          <p:cNvPr id="498" name="Google Shape;498;p44"/>
          <p:cNvCxnSpPr>
            <a:stCxn id="493" idx="2"/>
            <a:endCxn id="499" idx="0"/>
          </p:cNvCxnSpPr>
          <p:nvPr/>
        </p:nvCxnSpPr>
        <p:spPr>
          <a:xfrm>
            <a:off x="1006950" y="1744282"/>
            <a:ext cx="0" cy="870000"/>
          </a:xfrm>
          <a:prstGeom prst="straightConnector1">
            <a:avLst/>
          </a:prstGeom>
          <a:noFill/>
          <a:ln cap="flat" cmpd="sng" w="28575">
            <a:solidFill>
              <a:schemeClr val="accent3"/>
            </a:solidFill>
            <a:prstDash val="solid"/>
            <a:round/>
            <a:headEnd len="med" w="med" type="none"/>
            <a:tailEnd len="med" w="med" type="none"/>
          </a:ln>
        </p:spPr>
      </p:cxnSp>
      <p:cxnSp>
        <p:nvCxnSpPr>
          <p:cNvPr id="500" name="Google Shape;500;p44"/>
          <p:cNvCxnSpPr>
            <a:stCxn id="499" idx="2"/>
            <a:endCxn id="491" idx="0"/>
          </p:cNvCxnSpPr>
          <p:nvPr/>
        </p:nvCxnSpPr>
        <p:spPr>
          <a:xfrm>
            <a:off x="1006945" y="1739410"/>
            <a:ext cx="0" cy="1002000"/>
          </a:xfrm>
          <a:prstGeom prst="straightConnector1">
            <a:avLst/>
          </a:prstGeom>
          <a:noFill/>
          <a:ln cap="flat" cmpd="sng" w="28575">
            <a:solidFill>
              <a:schemeClr val="accent3"/>
            </a:solidFill>
            <a:prstDash val="solid"/>
            <a:round/>
            <a:headEnd len="med" w="med" type="none"/>
            <a:tailEnd len="med" w="med" type="none"/>
          </a:ln>
        </p:spPr>
      </p:cxnSp>
      <p:pic>
        <p:nvPicPr>
          <p:cNvPr descr="{&quot;backgroundColorModified&quot;:false,&quot;font&quot;:{&quot;family&quot;:&quot;Arial&quot;,&quot;color&quot;:&quot;#000000&quot;,&quot;size&quot;:12},&quot;code&quot;:&quot;$$s_{0} = (v_{0}, P_{0}, V_{0}, \\tau_{0}) = (s, [s], \\{s\\}, 0)\n$$&quot;,&quot;aid&quot;:null,&quot;type&quot;:&quot;$$&quot;,&quot;id&quot;:&quot;52&quot;,&quot;backgroundColor&quot;:&quot;#FFFFFF&quot;,&quot;ts&quot;:1779540636614,&quot;cs&quot;:&quot;tCNq75/xFaoxyf8BnPGOHw==&quot;,&quot;size&quot;:{&quot;width&quot;:272.25,&quot;height&quot;:19}}" id="501" name="Google Shape;501;p44"/>
          <p:cNvPicPr preferRelativeResize="0"/>
          <p:nvPr/>
        </p:nvPicPr>
        <p:blipFill>
          <a:blip r:embed="rId5">
            <a:alphaModFix/>
          </a:blip>
          <a:stretch>
            <a:fillRect/>
          </a:stretch>
        </p:blipFill>
        <p:spPr>
          <a:xfrm>
            <a:off x="3577575" y="1989825"/>
            <a:ext cx="2593181" cy="180975"/>
          </a:xfrm>
          <a:prstGeom prst="rect">
            <a:avLst/>
          </a:prstGeom>
          <a:noFill/>
          <a:ln>
            <a:noFill/>
          </a:ln>
        </p:spPr>
      </p:pic>
      <p:cxnSp>
        <p:nvCxnSpPr>
          <p:cNvPr id="502" name="Google Shape;502;p44"/>
          <p:cNvCxnSpPr/>
          <p:nvPr/>
        </p:nvCxnSpPr>
        <p:spPr>
          <a:xfrm>
            <a:off x="4085800" y="1830200"/>
            <a:ext cx="0" cy="169800"/>
          </a:xfrm>
          <a:prstGeom prst="straightConnector1">
            <a:avLst/>
          </a:prstGeom>
          <a:noFill/>
          <a:ln cap="flat" cmpd="sng" w="9525">
            <a:solidFill>
              <a:schemeClr val="dk2"/>
            </a:solidFill>
            <a:prstDash val="solid"/>
            <a:round/>
            <a:headEnd len="med" w="med" type="none"/>
            <a:tailEnd len="med" w="med" type="stealth"/>
          </a:ln>
        </p:spPr>
      </p:cxnSp>
      <p:sp>
        <p:nvSpPr>
          <p:cNvPr id="503" name="Google Shape;503;p44"/>
          <p:cNvSpPr txBox="1"/>
          <p:nvPr/>
        </p:nvSpPr>
        <p:spPr>
          <a:xfrm>
            <a:off x="2743725" y="1609427"/>
            <a:ext cx="14886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000">
                <a:solidFill>
                  <a:schemeClr val="accent1"/>
                </a:solidFill>
                <a:latin typeface="Lato"/>
                <a:ea typeface="Lato"/>
                <a:cs typeface="Lato"/>
                <a:sym typeface="Lato"/>
              </a:rPr>
              <a:t>noeud courant</a:t>
            </a:r>
            <a:endParaRPr sz="1000">
              <a:solidFill>
                <a:schemeClr val="accent1"/>
              </a:solidFill>
              <a:latin typeface="Lato"/>
              <a:ea typeface="Lato"/>
              <a:cs typeface="Lato"/>
              <a:sym typeface="Lato"/>
            </a:endParaRPr>
          </a:p>
        </p:txBody>
      </p:sp>
      <p:sp>
        <p:nvSpPr>
          <p:cNvPr id="504" name="Google Shape;504;p44"/>
          <p:cNvSpPr txBox="1"/>
          <p:nvPr/>
        </p:nvSpPr>
        <p:spPr>
          <a:xfrm>
            <a:off x="3577575" y="2352752"/>
            <a:ext cx="14886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000">
                <a:solidFill>
                  <a:schemeClr val="accent1"/>
                </a:solidFill>
                <a:latin typeface="Lato"/>
                <a:ea typeface="Lato"/>
                <a:cs typeface="Lato"/>
                <a:sym typeface="Lato"/>
              </a:rPr>
              <a:t>chemin à l’instant t</a:t>
            </a:r>
            <a:endParaRPr sz="1000">
              <a:solidFill>
                <a:schemeClr val="accent1"/>
              </a:solidFill>
              <a:latin typeface="Lato"/>
              <a:ea typeface="Lato"/>
              <a:cs typeface="Lato"/>
              <a:sym typeface="Lato"/>
            </a:endParaRPr>
          </a:p>
        </p:txBody>
      </p:sp>
      <p:cxnSp>
        <p:nvCxnSpPr>
          <p:cNvPr id="505" name="Google Shape;505;p44"/>
          <p:cNvCxnSpPr>
            <a:stCxn id="504" idx="0"/>
          </p:cNvCxnSpPr>
          <p:nvPr/>
        </p:nvCxnSpPr>
        <p:spPr>
          <a:xfrm flipH="1" rot="10800000">
            <a:off x="4321875" y="2177252"/>
            <a:ext cx="3000" cy="175500"/>
          </a:xfrm>
          <a:prstGeom prst="straightConnector1">
            <a:avLst/>
          </a:prstGeom>
          <a:noFill/>
          <a:ln cap="flat" cmpd="sng" w="9525">
            <a:solidFill>
              <a:schemeClr val="dk2"/>
            </a:solidFill>
            <a:prstDash val="solid"/>
            <a:round/>
            <a:headEnd len="med" w="med" type="none"/>
            <a:tailEnd len="med" w="med" type="stealth"/>
          </a:ln>
        </p:spPr>
      </p:cxnSp>
      <p:sp>
        <p:nvSpPr>
          <p:cNvPr id="506" name="Google Shape;506;p44"/>
          <p:cNvSpPr txBox="1"/>
          <p:nvPr/>
        </p:nvSpPr>
        <p:spPr>
          <a:xfrm>
            <a:off x="3939125" y="1351015"/>
            <a:ext cx="14886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000">
                <a:solidFill>
                  <a:schemeClr val="accent1"/>
                </a:solidFill>
                <a:latin typeface="Lato"/>
                <a:ea typeface="Lato"/>
                <a:cs typeface="Lato"/>
                <a:sym typeface="Lato"/>
              </a:rPr>
              <a:t>noeuds visités à l’instant t</a:t>
            </a:r>
            <a:endParaRPr sz="1000">
              <a:solidFill>
                <a:schemeClr val="accent1"/>
              </a:solidFill>
              <a:latin typeface="Lato"/>
              <a:ea typeface="Lato"/>
              <a:cs typeface="Lato"/>
              <a:sym typeface="Lato"/>
            </a:endParaRPr>
          </a:p>
        </p:txBody>
      </p:sp>
      <p:cxnSp>
        <p:nvCxnSpPr>
          <p:cNvPr id="507" name="Google Shape;507;p44"/>
          <p:cNvCxnSpPr/>
          <p:nvPr/>
        </p:nvCxnSpPr>
        <p:spPr>
          <a:xfrm flipH="1">
            <a:off x="4870800" y="1861050"/>
            <a:ext cx="579900" cy="110100"/>
          </a:xfrm>
          <a:prstGeom prst="straightConnector1">
            <a:avLst/>
          </a:prstGeom>
          <a:noFill/>
          <a:ln cap="flat" cmpd="sng" w="9525">
            <a:solidFill>
              <a:schemeClr val="dk2"/>
            </a:solidFill>
            <a:prstDash val="solid"/>
            <a:round/>
            <a:headEnd len="med" w="med" type="none"/>
            <a:tailEnd len="med" w="med" type="stealth"/>
          </a:ln>
        </p:spPr>
      </p:cxnSp>
      <p:sp>
        <p:nvSpPr>
          <p:cNvPr id="508" name="Google Shape;508;p44"/>
          <p:cNvSpPr txBox="1"/>
          <p:nvPr/>
        </p:nvSpPr>
        <p:spPr>
          <a:xfrm>
            <a:off x="5250200" y="1455525"/>
            <a:ext cx="14886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000">
                <a:solidFill>
                  <a:schemeClr val="accent1"/>
                </a:solidFill>
                <a:latin typeface="Lato"/>
                <a:ea typeface="Lato"/>
                <a:cs typeface="Lato"/>
                <a:sym typeface="Lato"/>
              </a:rPr>
              <a:t>nombre de tokens estimés</a:t>
            </a:r>
            <a:endParaRPr sz="1000">
              <a:solidFill>
                <a:schemeClr val="accent1"/>
              </a:solidFill>
              <a:latin typeface="Lato"/>
              <a:ea typeface="Lato"/>
              <a:cs typeface="Lato"/>
              <a:sym typeface="Lato"/>
            </a:endParaRPr>
          </a:p>
        </p:txBody>
      </p:sp>
      <p:cxnSp>
        <p:nvCxnSpPr>
          <p:cNvPr id="509" name="Google Shape;509;p44"/>
          <p:cNvCxnSpPr>
            <a:stCxn id="506" idx="2"/>
          </p:cNvCxnSpPr>
          <p:nvPr/>
        </p:nvCxnSpPr>
        <p:spPr>
          <a:xfrm flipH="1">
            <a:off x="4587125" y="1843615"/>
            <a:ext cx="96300" cy="133200"/>
          </a:xfrm>
          <a:prstGeom prst="straightConnector1">
            <a:avLst/>
          </a:prstGeom>
          <a:noFill/>
          <a:ln cap="flat" cmpd="sng" w="9525">
            <a:solidFill>
              <a:schemeClr val="dk2"/>
            </a:solidFill>
            <a:prstDash val="solid"/>
            <a:round/>
            <a:headEnd len="med" w="med" type="none"/>
            <a:tailEnd len="med" w="med" type="stealth"/>
          </a:ln>
        </p:spPr>
      </p:cxnSp>
      <p:sp>
        <p:nvSpPr>
          <p:cNvPr id="510" name="Google Shape;510;p44"/>
          <p:cNvSpPr txBox="1"/>
          <p:nvPr/>
        </p:nvSpPr>
        <p:spPr>
          <a:xfrm>
            <a:off x="5350450" y="2352750"/>
            <a:ext cx="6507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000">
                <a:solidFill>
                  <a:schemeClr val="accent1"/>
                </a:solidFill>
                <a:latin typeface="Lato"/>
                <a:ea typeface="Lato"/>
                <a:cs typeface="Lato"/>
                <a:sym typeface="Lato"/>
              </a:rPr>
              <a:t>source</a:t>
            </a:r>
            <a:endParaRPr sz="1000">
              <a:solidFill>
                <a:schemeClr val="accent1"/>
              </a:solidFill>
              <a:latin typeface="Lato"/>
              <a:ea typeface="Lato"/>
              <a:cs typeface="Lato"/>
              <a:sym typeface="Lato"/>
            </a:endParaRPr>
          </a:p>
        </p:txBody>
      </p:sp>
      <p:cxnSp>
        <p:nvCxnSpPr>
          <p:cNvPr id="511" name="Google Shape;511;p44"/>
          <p:cNvCxnSpPr>
            <a:stCxn id="510" idx="0"/>
          </p:cNvCxnSpPr>
          <p:nvPr/>
        </p:nvCxnSpPr>
        <p:spPr>
          <a:xfrm rot="10800000">
            <a:off x="5389000" y="2200350"/>
            <a:ext cx="286800" cy="152400"/>
          </a:xfrm>
          <a:prstGeom prst="straightConnector1">
            <a:avLst/>
          </a:prstGeom>
          <a:noFill/>
          <a:ln cap="flat" cmpd="sng" w="9525">
            <a:solidFill>
              <a:schemeClr val="dk2"/>
            </a:solidFill>
            <a:prstDash val="solid"/>
            <a:round/>
            <a:headEnd len="med" w="med" type="none"/>
            <a:tailEnd len="med" w="med" type="stealth"/>
          </a:ln>
        </p:spPr>
      </p:cxnSp>
      <p:cxnSp>
        <p:nvCxnSpPr>
          <p:cNvPr id="512" name="Google Shape;512;p44"/>
          <p:cNvCxnSpPr>
            <a:stCxn id="491" idx="2"/>
          </p:cNvCxnSpPr>
          <p:nvPr/>
        </p:nvCxnSpPr>
        <p:spPr>
          <a:xfrm>
            <a:off x="1006945" y="3141610"/>
            <a:ext cx="0" cy="2035200"/>
          </a:xfrm>
          <a:prstGeom prst="straightConnector1">
            <a:avLst/>
          </a:prstGeom>
          <a:noFill/>
          <a:ln cap="flat" cmpd="sng" w="28575">
            <a:solidFill>
              <a:schemeClr val="accent3"/>
            </a:solidFill>
            <a:prstDash val="solid"/>
            <a:round/>
            <a:headEnd len="med" w="med" type="none"/>
            <a:tailEnd len="med" w="med" type="none"/>
          </a:ln>
        </p:spPr>
      </p:cxnSp>
      <p:sp>
        <p:nvSpPr>
          <p:cNvPr id="513" name="Google Shape;513;p44"/>
          <p:cNvSpPr txBox="1"/>
          <p:nvPr/>
        </p:nvSpPr>
        <p:spPr>
          <a:xfrm>
            <a:off x="4206913" y="3160650"/>
            <a:ext cx="1388100" cy="384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000">
                <a:solidFill>
                  <a:schemeClr val="accent1"/>
                </a:solidFill>
                <a:latin typeface="Lato"/>
                <a:ea typeface="Lato"/>
                <a:cs typeface="Lato"/>
                <a:sym typeface="Lato"/>
              </a:rPr>
              <a:t>nombre de fois l’état </a:t>
            </a:r>
            <a:r>
              <a:rPr b="1" lang="en-GB" sz="1000">
                <a:solidFill>
                  <a:schemeClr val="accent1"/>
                </a:solidFill>
                <a:latin typeface="Lato"/>
                <a:ea typeface="Lato"/>
                <a:cs typeface="Lato"/>
                <a:sym typeface="Lato"/>
              </a:rPr>
              <a:t>s </a:t>
            </a:r>
            <a:r>
              <a:rPr lang="en-GB" sz="1000">
                <a:solidFill>
                  <a:schemeClr val="accent1"/>
                </a:solidFill>
                <a:latin typeface="Lato"/>
                <a:ea typeface="Lato"/>
                <a:cs typeface="Lato"/>
                <a:sym typeface="Lato"/>
              </a:rPr>
              <a:t>a été visité</a:t>
            </a:r>
            <a:endParaRPr sz="1000">
              <a:solidFill>
                <a:schemeClr val="accent1"/>
              </a:solidFill>
              <a:latin typeface="Lato"/>
              <a:ea typeface="Lato"/>
              <a:cs typeface="Lato"/>
              <a:sym typeface="Lato"/>
            </a:endParaRPr>
          </a:p>
        </p:txBody>
      </p:sp>
      <p:cxnSp>
        <p:nvCxnSpPr>
          <p:cNvPr id="514" name="Google Shape;514;p44"/>
          <p:cNvCxnSpPr/>
          <p:nvPr/>
        </p:nvCxnSpPr>
        <p:spPr>
          <a:xfrm flipH="1">
            <a:off x="3949938" y="3351150"/>
            <a:ext cx="272400" cy="3900"/>
          </a:xfrm>
          <a:prstGeom prst="straightConnector1">
            <a:avLst/>
          </a:prstGeom>
          <a:noFill/>
          <a:ln cap="flat" cmpd="sng" w="9525">
            <a:solidFill>
              <a:schemeClr val="dk2"/>
            </a:solidFill>
            <a:prstDash val="solid"/>
            <a:round/>
            <a:headEnd len="med" w="med" type="none"/>
            <a:tailEnd len="med" w="med" type="stealth"/>
          </a:ln>
        </p:spPr>
      </p:cxnSp>
      <p:sp>
        <p:nvSpPr>
          <p:cNvPr id="515" name="Google Shape;515;p44"/>
          <p:cNvSpPr txBox="1"/>
          <p:nvPr/>
        </p:nvSpPr>
        <p:spPr>
          <a:xfrm>
            <a:off x="2793963" y="4048650"/>
            <a:ext cx="1388100" cy="384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000">
                <a:solidFill>
                  <a:schemeClr val="accent1"/>
                </a:solidFill>
                <a:latin typeface="Lato"/>
                <a:ea typeface="Lato"/>
                <a:cs typeface="Lato"/>
                <a:sym typeface="Lato"/>
              </a:rPr>
              <a:t>nombre de fois l’action </a:t>
            </a:r>
            <a:r>
              <a:rPr b="1" lang="en-GB" sz="1000">
                <a:solidFill>
                  <a:schemeClr val="accent1"/>
                </a:solidFill>
                <a:latin typeface="Lato"/>
                <a:ea typeface="Lato"/>
                <a:cs typeface="Lato"/>
                <a:sym typeface="Lato"/>
              </a:rPr>
              <a:t>a </a:t>
            </a:r>
            <a:r>
              <a:rPr lang="en-GB" sz="1000">
                <a:solidFill>
                  <a:schemeClr val="accent1"/>
                </a:solidFill>
                <a:latin typeface="Lato"/>
                <a:ea typeface="Lato"/>
                <a:cs typeface="Lato"/>
                <a:sym typeface="Lato"/>
              </a:rPr>
              <a:t>a été pris l’état </a:t>
            </a:r>
            <a:r>
              <a:rPr lang="en-GB" sz="1000">
                <a:solidFill>
                  <a:schemeClr val="accent1"/>
                </a:solidFill>
                <a:latin typeface="Lato"/>
                <a:ea typeface="Lato"/>
                <a:cs typeface="Lato"/>
                <a:sym typeface="Lato"/>
              </a:rPr>
              <a:t> </a:t>
            </a:r>
            <a:r>
              <a:rPr b="1" lang="en-GB" sz="1000">
                <a:solidFill>
                  <a:schemeClr val="accent1"/>
                </a:solidFill>
                <a:latin typeface="Lato"/>
                <a:ea typeface="Lato"/>
                <a:cs typeface="Lato"/>
                <a:sym typeface="Lato"/>
              </a:rPr>
              <a:t>s</a:t>
            </a:r>
            <a:endParaRPr sz="1000">
              <a:solidFill>
                <a:schemeClr val="accent1"/>
              </a:solidFill>
              <a:latin typeface="Lato"/>
              <a:ea typeface="Lato"/>
              <a:cs typeface="Lato"/>
              <a:sym typeface="Lato"/>
            </a:endParaRPr>
          </a:p>
        </p:txBody>
      </p:sp>
      <p:cxnSp>
        <p:nvCxnSpPr>
          <p:cNvPr id="516" name="Google Shape;516;p44"/>
          <p:cNvCxnSpPr/>
          <p:nvPr/>
        </p:nvCxnSpPr>
        <p:spPr>
          <a:xfrm rot="10800000">
            <a:off x="3488013" y="3706875"/>
            <a:ext cx="0" cy="290700"/>
          </a:xfrm>
          <a:prstGeom prst="straightConnector1">
            <a:avLst/>
          </a:prstGeom>
          <a:noFill/>
          <a:ln cap="flat" cmpd="sng" w="9525">
            <a:solidFill>
              <a:schemeClr val="dk2"/>
            </a:solidFill>
            <a:prstDash val="solid"/>
            <a:round/>
            <a:headEnd len="med" w="med" type="none"/>
            <a:tailEnd len="med" w="med" type="stealth"/>
          </a:ln>
        </p:spPr>
      </p:cxnSp>
      <p:pic>
        <p:nvPicPr>
          <p:cNvPr descr="{&quot;id&quot;:&quot;53&quot;,&quot;font&quot;:{&quot;family&quot;:&quot;Arial&quot;,&quot;color&quot;:&quot;#000000&quot;,&quot;size&quot;:12},&quot;aid&quot;:null,&quot;backgroundColorModified&quot;:false,&quot;backgroundColor&quot;:&quot;#FFFFFF&quot;,&quot;code&quot;:&quot;$$Q(s,a) = Q(s^{\\prime})$$&quot;,&quot;type&quot;:&quot;$$&quot;,&quot;ts&quot;:1779544194425,&quot;cs&quot;:&quot;Bw0Gkeeylp8d8M5h2W4Wlg==&quot;,&quot;size&quot;:{&quot;width&quot;:118.16666666666667,&quot;height&quot;:20}}" id="517" name="Google Shape;517;p44"/>
          <p:cNvPicPr preferRelativeResize="0"/>
          <p:nvPr/>
        </p:nvPicPr>
        <p:blipFill>
          <a:blip r:embed="rId6">
            <a:alphaModFix/>
          </a:blip>
          <a:stretch>
            <a:fillRect/>
          </a:stretch>
        </p:blipFill>
        <p:spPr>
          <a:xfrm>
            <a:off x="1416950" y="4677700"/>
            <a:ext cx="1125538" cy="190500"/>
          </a:xfrm>
          <a:prstGeom prst="rect">
            <a:avLst/>
          </a:prstGeom>
          <a:noFill/>
          <a:ln>
            <a:noFill/>
          </a:ln>
        </p:spPr>
      </p:pic>
      <p:pic>
        <p:nvPicPr>
          <p:cNvPr descr="{&quot;code&quot;:&quot;$$s \\overset{a}{\\to} s^{\\prime}$$&quot;,&quot;id&quot;:&quot;54&quot;,&quot;type&quot;:&quot;$$&quot;,&quot;backgroundColorModified&quot;:false,&quot;aid&quot;:null,&quot;backgroundColor&quot;:&quot;#FFFFFF&quot;,&quot;font&quot;:{&quot;size&quot;:12,&quot;family&quot;:&quot;Arial&quot;,&quot;color&quot;:&quot;#000000&quot;},&quot;ts&quot;:1779544267262,&quot;cs&quot;:&quot;VqNvIXayO6RxEf6OcklreA==&quot;,&quot;size&quot;:{&quot;width&quot;:48.833333333333336,&quot;height&quot;:19.5}}" id="518" name="Google Shape;518;p44"/>
          <p:cNvPicPr preferRelativeResize="0"/>
          <p:nvPr/>
        </p:nvPicPr>
        <p:blipFill>
          <a:blip r:embed="rId7">
            <a:alphaModFix/>
          </a:blip>
          <a:stretch>
            <a:fillRect/>
          </a:stretch>
        </p:blipFill>
        <p:spPr>
          <a:xfrm>
            <a:off x="1800600" y="4433550"/>
            <a:ext cx="465138" cy="185738"/>
          </a:xfrm>
          <a:prstGeom prst="rect">
            <a:avLst/>
          </a:prstGeom>
          <a:noFill/>
          <a:ln>
            <a:noFill/>
          </a:ln>
        </p:spPr>
      </p:pic>
      <p:sp>
        <p:nvSpPr>
          <p:cNvPr id="519" name="Google Shape;519;p44"/>
          <p:cNvSpPr txBox="1"/>
          <p:nvPr/>
        </p:nvSpPr>
        <p:spPr>
          <a:xfrm>
            <a:off x="1159075" y="4028246"/>
            <a:ext cx="16413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000">
                <a:solidFill>
                  <a:schemeClr val="accent1"/>
                </a:solidFill>
                <a:latin typeface="Lato"/>
                <a:ea typeface="Lato"/>
                <a:cs typeface="Lato"/>
                <a:sym typeface="Lato"/>
              </a:rPr>
              <a:t>Hypothèse souvent posée en MCTS</a:t>
            </a:r>
            <a:endParaRPr b="1" sz="1000">
              <a:solidFill>
                <a:schemeClr val="accent1"/>
              </a:solidFill>
              <a:latin typeface="Lato"/>
              <a:ea typeface="Lato"/>
              <a:cs typeface="Lato"/>
              <a:sym typeface="La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pic>
        <p:nvPicPr>
          <p:cNvPr descr="{&quot;id&quot;:&quot;51&quot;,&quot;code&quot;:&quot;$$K(v)=\\max\\left(1,\\left\\lfloor 2\\cdot {\\sqrt[]{N(v)}}\\right\\rfloor\\right)$$&quot;,&quot;type&quot;:&quot;$$&quot;,&quot;backgroundColor&quot;:&quot;#FFFFFF&quot;,&quot;font&quot;:{&quot;family&quot;:&quot;Arial&quot;,&quot;size&quot;:11,&quot;color&quot;:&quot;#000000&quot;},&quot;aid&quot;:null,&quot;backgroundColorModified&quot;:false,&quot;ts&quot;:1779543082082,&quot;cs&quot;:&quot;GbtKOpSV3phhoLRSetNjyw==&quot;,&quot;size&quot;:{&quot;width&quot;:234.40266010498684,&quot;height&quot;:43.00000787401574}}" id="524" name="Google Shape;524;p45"/>
          <p:cNvPicPr preferRelativeResize="0"/>
          <p:nvPr/>
        </p:nvPicPr>
        <p:blipFill>
          <a:blip r:embed="rId3">
            <a:alphaModFix/>
          </a:blip>
          <a:stretch>
            <a:fillRect/>
          </a:stretch>
        </p:blipFill>
        <p:spPr>
          <a:xfrm>
            <a:off x="3476438" y="2103233"/>
            <a:ext cx="2232685" cy="409575"/>
          </a:xfrm>
          <a:prstGeom prst="rect">
            <a:avLst/>
          </a:prstGeom>
          <a:noFill/>
          <a:ln>
            <a:noFill/>
          </a:ln>
        </p:spPr>
      </p:pic>
      <p:sp>
        <p:nvSpPr>
          <p:cNvPr id="525" name="Google Shape;525;p45"/>
          <p:cNvSpPr/>
          <p:nvPr/>
        </p:nvSpPr>
        <p:spPr>
          <a:xfrm>
            <a:off x="853120" y="342534"/>
            <a:ext cx="400200" cy="400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chemeClr val="lt1"/>
                </a:solidFill>
                <a:latin typeface="Lato"/>
                <a:ea typeface="Lato"/>
                <a:cs typeface="Lato"/>
                <a:sym typeface="Lato"/>
              </a:rPr>
              <a:t>3.3</a:t>
            </a:r>
            <a:endParaRPr b="1" sz="1200">
              <a:solidFill>
                <a:schemeClr val="lt1"/>
              </a:solidFill>
              <a:latin typeface="Lato"/>
              <a:ea typeface="Lato"/>
              <a:cs typeface="Lato"/>
              <a:sym typeface="Lato"/>
            </a:endParaRPr>
          </a:p>
        </p:txBody>
      </p:sp>
      <p:sp>
        <p:nvSpPr>
          <p:cNvPr id="526" name="Google Shape;526;p45"/>
          <p:cNvSpPr txBox="1"/>
          <p:nvPr/>
        </p:nvSpPr>
        <p:spPr>
          <a:xfrm>
            <a:off x="1382500" y="342524"/>
            <a:ext cx="65061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300">
                <a:solidFill>
                  <a:schemeClr val="accent3"/>
                </a:solidFill>
                <a:latin typeface="Lato"/>
                <a:ea typeface="Lato"/>
                <a:cs typeface="Lato"/>
                <a:sym typeface="Lato"/>
              </a:rPr>
              <a:t>Expansion </a:t>
            </a:r>
            <a:r>
              <a:rPr lang="en-GB" sz="1300">
                <a:solidFill>
                  <a:schemeClr val="accent3"/>
                </a:solidFill>
                <a:latin typeface="Lato"/>
                <a:ea typeface="Lato"/>
                <a:cs typeface="Lato"/>
                <a:sym typeface="Lato"/>
              </a:rPr>
              <a:t>: pour le noeud courant </a:t>
            </a:r>
            <a:r>
              <a:rPr b="1" lang="en-GB" sz="1300">
                <a:solidFill>
                  <a:schemeClr val="accent3"/>
                </a:solidFill>
                <a:latin typeface="Lato"/>
                <a:ea typeface="Lato"/>
                <a:cs typeface="Lato"/>
                <a:sym typeface="Lato"/>
              </a:rPr>
              <a:t>v</a:t>
            </a:r>
            <a:endParaRPr b="1" sz="1300">
              <a:solidFill>
                <a:schemeClr val="accent3"/>
              </a:solidFill>
              <a:latin typeface="Lato"/>
              <a:ea typeface="Lato"/>
              <a:cs typeface="Lato"/>
              <a:sym typeface="Lato"/>
            </a:endParaRPr>
          </a:p>
        </p:txBody>
      </p:sp>
      <p:pic>
        <p:nvPicPr>
          <p:cNvPr descr="{&quot;aid&quot;:null,&quot;backgroundColor&quot;:&quot;#FFFFFF&quot;,&quot;font&quot;:{&quot;family&quot;:&quot;Arial&quot;,&quot;size&quot;:12,&quot;color&quot;:&quot;#000000&quot;},&quot;id&quot;:&quot;50&quot;,&quot;backgroundColorModified&quot;:false,&quot;type&quot;:&quot;$$&quot;,&quot;code&quot;:&quot;$$\\text{score}_{\\text{nbr}}(x)=\n-u(v,x \\mid q)\n-0.4\\cdot \\frac{1}{1+d(x,t)}\n+0.2\\cdot \\mathbf{1}[x \\in V]$$&quot;,&quot;ts&quot;:1779535105916,&quot;cs&quot;:&quot;YS8Cyro3lrSozsOq+V4ceQ==&quot;,&quot;size&quot;:{&quot;width&quot;:481.6666666666667,&quot;height&quot;:43}}" id="527" name="Google Shape;527;p45"/>
          <p:cNvPicPr preferRelativeResize="0"/>
          <p:nvPr/>
        </p:nvPicPr>
        <p:blipFill>
          <a:blip r:embed="rId4">
            <a:alphaModFix/>
          </a:blip>
          <a:stretch>
            <a:fillRect/>
          </a:stretch>
        </p:blipFill>
        <p:spPr>
          <a:xfrm>
            <a:off x="2224829" y="972621"/>
            <a:ext cx="4587875" cy="409575"/>
          </a:xfrm>
          <a:prstGeom prst="rect">
            <a:avLst/>
          </a:prstGeom>
          <a:noFill/>
          <a:ln>
            <a:noFill/>
          </a:ln>
        </p:spPr>
      </p:pic>
      <p:sp>
        <p:nvSpPr>
          <p:cNvPr id="528" name="Google Shape;528;p45"/>
          <p:cNvSpPr txBox="1"/>
          <p:nvPr/>
        </p:nvSpPr>
        <p:spPr>
          <a:xfrm>
            <a:off x="3310316" y="1506652"/>
            <a:ext cx="4081800" cy="554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000">
                <a:solidFill>
                  <a:schemeClr val="accent1"/>
                </a:solidFill>
                <a:latin typeface="Lato"/>
                <a:ea typeface="Lato"/>
                <a:cs typeface="Lato"/>
                <a:sym typeface="Lato"/>
              </a:rPr>
              <a:t>distance la plus courte dans le sous-graphe</a:t>
            </a:r>
            <a:endParaRPr>
              <a:solidFill>
                <a:schemeClr val="accent1"/>
              </a:solidFill>
            </a:endParaRPr>
          </a:p>
        </p:txBody>
      </p:sp>
      <p:cxnSp>
        <p:nvCxnSpPr>
          <p:cNvPr id="529" name="Google Shape;529;p45"/>
          <p:cNvCxnSpPr/>
          <p:nvPr/>
        </p:nvCxnSpPr>
        <p:spPr>
          <a:xfrm rot="10800000">
            <a:off x="5276254" y="1422209"/>
            <a:ext cx="0" cy="270000"/>
          </a:xfrm>
          <a:prstGeom prst="straightConnector1">
            <a:avLst/>
          </a:prstGeom>
          <a:noFill/>
          <a:ln cap="flat" cmpd="sng" w="9525">
            <a:solidFill>
              <a:schemeClr val="dk2"/>
            </a:solidFill>
            <a:prstDash val="solid"/>
            <a:round/>
            <a:headEnd len="med" w="med" type="none"/>
            <a:tailEnd len="med" w="med" type="triangle"/>
          </a:ln>
        </p:spPr>
      </p:cxnSp>
      <p:cxnSp>
        <p:nvCxnSpPr>
          <p:cNvPr id="530" name="Google Shape;530;p45"/>
          <p:cNvCxnSpPr>
            <a:endCxn id="525" idx="0"/>
          </p:cNvCxnSpPr>
          <p:nvPr/>
        </p:nvCxnSpPr>
        <p:spPr>
          <a:xfrm>
            <a:off x="1053220" y="-217866"/>
            <a:ext cx="0" cy="560400"/>
          </a:xfrm>
          <a:prstGeom prst="straightConnector1">
            <a:avLst/>
          </a:prstGeom>
          <a:noFill/>
          <a:ln cap="flat" cmpd="sng" w="28575">
            <a:solidFill>
              <a:schemeClr val="accent3"/>
            </a:solidFill>
            <a:prstDash val="solid"/>
            <a:round/>
            <a:headEnd len="med" w="med" type="none"/>
            <a:tailEnd len="med" w="med" type="none"/>
          </a:ln>
        </p:spPr>
      </p:cxnSp>
      <p:sp>
        <p:nvSpPr>
          <p:cNvPr id="531" name="Google Shape;531;p45"/>
          <p:cNvSpPr txBox="1"/>
          <p:nvPr/>
        </p:nvSpPr>
        <p:spPr>
          <a:xfrm>
            <a:off x="1382488" y="641872"/>
            <a:ext cx="8004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chemeClr val="accent1"/>
                </a:solidFill>
                <a:latin typeface="Lato"/>
                <a:ea typeface="Lato"/>
                <a:cs typeface="Lato"/>
                <a:sym typeface="Lato"/>
              </a:rPr>
              <a:t>Ordonner les actions en ordre croissant :</a:t>
            </a:r>
            <a:r>
              <a:rPr b="1" lang="en-GB" sz="1200">
                <a:solidFill>
                  <a:schemeClr val="accent1"/>
                </a:solidFill>
                <a:latin typeface="Lato"/>
                <a:ea typeface="Lato"/>
                <a:cs typeface="Lato"/>
                <a:sym typeface="Lato"/>
              </a:rPr>
              <a:t> max</a:t>
            </a:r>
            <a:r>
              <a:rPr lang="en-GB" sz="1200">
                <a:solidFill>
                  <a:schemeClr val="accent1"/>
                </a:solidFill>
                <a:latin typeface="Lato"/>
                <a:ea typeface="Lato"/>
                <a:cs typeface="Lato"/>
                <a:sym typeface="Lato"/>
              </a:rPr>
              <a:t> l’utilité, </a:t>
            </a:r>
            <a:r>
              <a:rPr b="1" lang="en-GB" sz="1200">
                <a:solidFill>
                  <a:schemeClr val="accent1"/>
                </a:solidFill>
                <a:latin typeface="Lato"/>
                <a:ea typeface="Lato"/>
                <a:cs typeface="Lato"/>
                <a:sym typeface="Lato"/>
              </a:rPr>
              <a:t>min</a:t>
            </a:r>
            <a:r>
              <a:rPr lang="en-GB" sz="1200">
                <a:solidFill>
                  <a:schemeClr val="accent1"/>
                </a:solidFill>
                <a:latin typeface="Lato"/>
                <a:ea typeface="Lato"/>
                <a:cs typeface="Lato"/>
                <a:sym typeface="Lato"/>
              </a:rPr>
              <a:t> la distance, </a:t>
            </a:r>
            <a:r>
              <a:rPr b="1" lang="en-GB" sz="1200">
                <a:solidFill>
                  <a:schemeClr val="accent1"/>
                </a:solidFill>
                <a:latin typeface="Lato"/>
                <a:ea typeface="Lato"/>
                <a:cs typeface="Lato"/>
                <a:sym typeface="Lato"/>
              </a:rPr>
              <a:t>min</a:t>
            </a:r>
            <a:r>
              <a:rPr lang="en-GB" sz="1200">
                <a:solidFill>
                  <a:schemeClr val="accent1"/>
                </a:solidFill>
                <a:latin typeface="Lato"/>
                <a:ea typeface="Lato"/>
                <a:cs typeface="Lato"/>
                <a:sym typeface="Lato"/>
              </a:rPr>
              <a:t> le nombre de noeuds visités</a:t>
            </a:r>
            <a:endParaRPr sz="1300">
              <a:solidFill>
                <a:schemeClr val="accent1"/>
              </a:solidFill>
              <a:latin typeface="Lato"/>
              <a:ea typeface="Lato"/>
              <a:cs typeface="Lato"/>
              <a:sym typeface="Lato"/>
            </a:endParaRPr>
          </a:p>
        </p:txBody>
      </p:sp>
      <p:sp>
        <p:nvSpPr>
          <p:cNvPr id="532" name="Google Shape;532;p45"/>
          <p:cNvSpPr txBox="1"/>
          <p:nvPr/>
        </p:nvSpPr>
        <p:spPr>
          <a:xfrm>
            <a:off x="1382500" y="1853947"/>
            <a:ext cx="8004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chemeClr val="accent1"/>
                </a:solidFill>
                <a:latin typeface="Lato"/>
                <a:ea typeface="Lato"/>
                <a:cs typeface="Lato"/>
                <a:sym typeface="Lato"/>
              </a:rPr>
              <a:t>Éteindre </a:t>
            </a:r>
            <a:r>
              <a:rPr b="1" lang="en-GB" sz="1200">
                <a:solidFill>
                  <a:schemeClr val="accent1"/>
                </a:solidFill>
                <a:latin typeface="Lato"/>
                <a:ea typeface="Lato"/>
                <a:cs typeface="Lato"/>
                <a:sym typeface="Lato"/>
              </a:rPr>
              <a:t>K(v) </a:t>
            </a:r>
            <a:r>
              <a:rPr lang="en-GB" sz="1200">
                <a:solidFill>
                  <a:schemeClr val="accent1"/>
                </a:solidFill>
                <a:latin typeface="Lato"/>
                <a:ea typeface="Lato"/>
                <a:cs typeface="Lato"/>
                <a:sym typeface="Lato"/>
              </a:rPr>
              <a:t>enfants</a:t>
            </a:r>
            <a:endParaRPr sz="1300">
              <a:solidFill>
                <a:schemeClr val="accent1"/>
              </a:solidFill>
              <a:latin typeface="Lato"/>
              <a:ea typeface="Lato"/>
              <a:cs typeface="Lato"/>
              <a:sym typeface="Lato"/>
            </a:endParaRPr>
          </a:p>
        </p:txBody>
      </p:sp>
      <p:sp>
        <p:nvSpPr>
          <p:cNvPr id="533" name="Google Shape;533;p45"/>
          <p:cNvSpPr/>
          <p:nvPr/>
        </p:nvSpPr>
        <p:spPr>
          <a:xfrm>
            <a:off x="853120" y="2589334"/>
            <a:ext cx="400200" cy="400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chemeClr val="lt1"/>
                </a:solidFill>
                <a:latin typeface="Lato"/>
                <a:ea typeface="Lato"/>
                <a:cs typeface="Lato"/>
                <a:sym typeface="Lato"/>
              </a:rPr>
              <a:t>3.4</a:t>
            </a:r>
            <a:endParaRPr b="1" sz="1200">
              <a:solidFill>
                <a:schemeClr val="lt1"/>
              </a:solidFill>
              <a:latin typeface="Lato"/>
              <a:ea typeface="Lato"/>
              <a:cs typeface="Lato"/>
              <a:sym typeface="Lato"/>
            </a:endParaRPr>
          </a:p>
        </p:txBody>
      </p:sp>
      <p:cxnSp>
        <p:nvCxnSpPr>
          <p:cNvPr id="534" name="Google Shape;534;p45"/>
          <p:cNvCxnSpPr>
            <a:stCxn id="525" idx="2"/>
            <a:endCxn id="533" idx="0"/>
          </p:cNvCxnSpPr>
          <p:nvPr/>
        </p:nvCxnSpPr>
        <p:spPr>
          <a:xfrm>
            <a:off x="1053220" y="742734"/>
            <a:ext cx="0" cy="1846500"/>
          </a:xfrm>
          <a:prstGeom prst="straightConnector1">
            <a:avLst/>
          </a:prstGeom>
          <a:noFill/>
          <a:ln cap="flat" cmpd="sng" w="28575">
            <a:solidFill>
              <a:schemeClr val="accent3"/>
            </a:solidFill>
            <a:prstDash val="solid"/>
            <a:round/>
            <a:headEnd len="med" w="med" type="none"/>
            <a:tailEnd len="med" w="med" type="none"/>
          </a:ln>
        </p:spPr>
      </p:cxnSp>
      <p:sp>
        <p:nvSpPr>
          <p:cNvPr id="535" name="Google Shape;535;p45"/>
          <p:cNvSpPr txBox="1"/>
          <p:nvPr/>
        </p:nvSpPr>
        <p:spPr>
          <a:xfrm>
            <a:off x="1382500" y="2596963"/>
            <a:ext cx="44418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300">
                <a:solidFill>
                  <a:schemeClr val="accent3"/>
                </a:solidFill>
                <a:latin typeface="Lato"/>
                <a:ea typeface="Lato"/>
                <a:cs typeface="Lato"/>
                <a:sym typeface="Lato"/>
              </a:rPr>
              <a:t>Simulation/rollout </a:t>
            </a:r>
            <a:r>
              <a:rPr lang="en-GB" sz="1300">
                <a:solidFill>
                  <a:schemeClr val="accent3"/>
                </a:solidFill>
                <a:latin typeface="Lato"/>
                <a:ea typeface="Lato"/>
                <a:cs typeface="Lato"/>
                <a:sym typeface="Lato"/>
              </a:rPr>
              <a:t>(profondeur maximale = 4)</a:t>
            </a:r>
            <a:endParaRPr sz="1300">
              <a:solidFill>
                <a:schemeClr val="accent3"/>
              </a:solidFill>
              <a:latin typeface="Lato"/>
              <a:ea typeface="Lato"/>
              <a:cs typeface="Lato"/>
              <a:sym typeface="Lato"/>
            </a:endParaRPr>
          </a:p>
        </p:txBody>
      </p:sp>
      <p:sp>
        <p:nvSpPr>
          <p:cNvPr id="536" name="Google Shape;536;p45"/>
          <p:cNvSpPr txBox="1"/>
          <p:nvPr/>
        </p:nvSpPr>
        <p:spPr>
          <a:xfrm>
            <a:off x="1504766" y="2938519"/>
            <a:ext cx="52461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Filtrer les noeuds non-visités</a:t>
            </a:r>
            <a:endParaRPr sz="1300">
              <a:solidFill>
                <a:schemeClr val="accent1"/>
              </a:solidFill>
              <a:latin typeface="Lato"/>
              <a:ea typeface="Lato"/>
              <a:cs typeface="Lato"/>
              <a:sym typeface="Lato"/>
            </a:endParaRPr>
          </a:p>
        </p:txBody>
      </p:sp>
      <p:pic>
        <p:nvPicPr>
          <p:cNvPr descr="{&quot;type&quot;:&quot;$$&quot;,&quot;id&quot;:&quot;46&quot;,&quot;font&quot;:{&quot;size&quot;:11,&quot;color&quot;:&quot;#000000&quot;,&quot;family&quot;:&quot;Arial&quot;},&quot;backgroundColor&quot;:&quot;#FFFFFF&quot;,&quot;code&quot;:&quot;$$\\mathcal{N}_{\\text{rollout}}(v)=\\{x \\in \\mathcal{N}(v): x \\notin V\\}$$&quot;,&quot;aid&quot;:null,&quot;backgroundColorModified&quot;:false,&quot;ts&quot;:1779543028336,&quot;cs&quot;:&quot;Re7p0Tq2XE+QVs7Vuaydbg==&quot;,&quot;size&quot;:{&quot;width&quot;:241.92519448818894,&quot;height&quot;:18.501320734908152}}" id="537" name="Google Shape;537;p45"/>
          <p:cNvPicPr preferRelativeResize="0"/>
          <p:nvPr/>
        </p:nvPicPr>
        <p:blipFill>
          <a:blip r:embed="rId5">
            <a:alphaModFix/>
          </a:blip>
          <a:stretch>
            <a:fillRect/>
          </a:stretch>
        </p:blipFill>
        <p:spPr>
          <a:xfrm>
            <a:off x="4199050" y="3028088"/>
            <a:ext cx="2304337" cy="176225"/>
          </a:xfrm>
          <a:prstGeom prst="rect">
            <a:avLst/>
          </a:prstGeom>
          <a:noFill/>
          <a:ln>
            <a:noFill/>
          </a:ln>
        </p:spPr>
      </p:pic>
      <p:pic>
        <p:nvPicPr>
          <p:cNvPr descr="{&quot;backgroundColor&quot;:&quot;#FFFFFF&quot;,&quot;font&quot;:{&quot;color&quot;:&quot;#000000&quot;,&quot;family&quot;:&quot;Arial&quot;,&quot;size&quot;:11.5},&quot;aid&quot;:null,&quot;type&quot;:&quot;$$&quot;,&quot;backgroundColorModified&quot;:false,&quot;code&quot;:&quot;$$a_{t}=\n\\begin{cases}\n{\\text{best candidate} }&amp; {\\text{with prob. } 0.9}\\\\\n{\\text{random top-3 candidate} \\,\\text{in}\\,\\mathcal{N}_{\\text{rollout}}(v)}&amp; {\\text{with prob. } 0.1}\\\\\n\\end{cases}$$&quot;,&quot;id&quot;:&quot;47&quot;,&quot;ts&quot;:1779542975043,&quot;cs&quot;:&quot;jnqoXBTX+MmPvlyw3+1HsA==&quot;,&quot;size&quot;:{&quot;width&quot;:459.6666666666667,&quot;height&quot;:43}}" id="538" name="Google Shape;538;p45"/>
          <p:cNvPicPr preferRelativeResize="0"/>
          <p:nvPr/>
        </p:nvPicPr>
        <p:blipFill rotWithShape="1">
          <a:blip r:embed="rId6">
            <a:alphaModFix/>
          </a:blip>
          <a:srcRect b="0" l="0" r="0" t="0"/>
          <a:stretch/>
        </p:blipFill>
        <p:spPr>
          <a:xfrm>
            <a:off x="1605102" y="3719607"/>
            <a:ext cx="4378325" cy="409575"/>
          </a:xfrm>
          <a:prstGeom prst="rect">
            <a:avLst/>
          </a:prstGeom>
          <a:noFill/>
          <a:ln>
            <a:noFill/>
          </a:ln>
        </p:spPr>
      </p:pic>
      <p:sp>
        <p:nvSpPr>
          <p:cNvPr id="539" name="Google Shape;539;p45"/>
          <p:cNvSpPr txBox="1"/>
          <p:nvPr/>
        </p:nvSpPr>
        <p:spPr>
          <a:xfrm>
            <a:off x="1489342" y="3329069"/>
            <a:ext cx="52461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Choisir la meilleur action (epsilon-greedy) </a:t>
            </a:r>
            <a:endParaRPr sz="1300">
              <a:solidFill>
                <a:schemeClr val="accent1"/>
              </a:solidFill>
              <a:latin typeface="Lato"/>
              <a:ea typeface="Lato"/>
              <a:cs typeface="Lato"/>
              <a:sym typeface="Lato"/>
            </a:endParaRPr>
          </a:p>
        </p:txBody>
      </p:sp>
      <p:pic>
        <p:nvPicPr>
          <p:cNvPr descr="{&quot;aid&quot;:null,&quot;backgroundColor&quot;:&quot;#FFFFFF&quot;,&quot;id&quot;:&quot;49&quot;,&quot;code&quot;:&quot;$$\\text{terminal}(s)=\n\\begin{cases}\n{\\text{target\\_reached} }&amp; {v_{t} = \\text{target}}\\\\\n{\\text{depth\\_limit} }&amp; {|P_{t}|-1 \\ge 120}\\\\\n{\\text{token\\_budget} }&amp; {\\tau_{t} \\ge 12500}\\\\\n{\\text{dead\\_end} }&amp; {|\\mathcal{A}(s)| = 0}\\\\\n\\end{cases}$$&quot;,&quot;font&quot;:{&quot;size&quot;:10,&quot;color&quot;:&quot;#000000&quot;,&quot;family&quot;:&quot;Arial&quot;},&quot;type&quot;:&quot;$$&quot;,&quot;backgroundColorModified&quot;:false,&quot;ts&quot;:1779543066331,&quot;cs&quot;:&quot;6YbxvcTo6zYYMcRdIRwECw==&quot;,&quot;size&quot;:{&quot;width&quot;:341.1390855643045,&quot;height&quot;:76.37128188976378}}" id="540" name="Google Shape;540;p45"/>
          <p:cNvPicPr preferRelativeResize="0"/>
          <p:nvPr/>
        </p:nvPicPr>
        <p:blipFill>
          <a:blip r:embed="rId7">
            <a:alphaModFix/>
          </a:blip>
          <a:stretch>
            <a:fillRect/>
          </a:stretch>
        </p:blipFill>
        <p:spPr>
          <a:xfrm>
            <a:off x="1613029" y="4316850"/>
            <a:ext cx="3249350" cy="727436"/>
          </a:xfrm>
          <a:prstGeom prst="rect">
            <a:avLst/>
          </a:prstGeom>
          <a:noFill/>
          <a:ln>
            <a:noFill/>
          </a:ln>
        </p:spPr>
      </p:pic>
      <p:cxnSp>
        <p:nvCxnSpPr>
          <p:cNvPr id="541" name="Google Shape;541;p45"/>
          <p:cNvCxnSpPr>
            <a:stCxn id="533" idx="2"/>
          </p:cNvCxnSpPr>
          <p:nvPr/>
        </p:nvCxnSpPr>
        <p:spPr>
          <a:xfrm>
            <a:off x="1053220" y="2989534"/>
            <a:ext cx="21300" cy="2456700"/>
          </a:xfrm>
          <a:prstGeom prst="straightConnector1">
            <a:avLst/>
          </a:prstGeom>
          <a:noFill/>
          <a:ln cap="flat" cmpd="sng" w="28575">
            <a:solidFill>
              <a:schemeClr val="accent3"/>
            </a:solidFill>
            <a:prstDash val="solid"/>
            <a:round/>
            <a:headEnd len="med" w="med" type="none"/>
            <a:tailEnd len="med" w="med" type="non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46"/>
          <p:cNvSpPr/>
          <p:nvPr/>
        </p:nvSpPr>
        <p:spPr>
          <a:xfrm>
            <a:off x="853120" y="462734"/>
            <a:ext cx="400200" cy="400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chemeClr val="lt1"/>
                </a:solidFill>
                <a:latin typeface="Lato"/>
                <a:ea typeface="Lato"/>
                <a:cs typeface="Lato"/>
                <a:sym typeface="Lato"/>
              </a:rPr>
              <a:t>3.5</a:t>
            </a:r>
            <a:endParaRPr b="1" sz="1200">
              <a:solidFill>
                <a:schemeClr val="lt1"/>
              </a:solidFill>
              <a:latin typeface="Lato"/>
              <a:ea typeface="Lato"/>
              <a:cs typeface="Lato"/>
              <a:sym typeface="Lato"/>
            </a:endParaRPr>
          </a:p>
        </p:txBody>
      </p:sp>
      <p:sp>
        <p:nvSpPr>
          <p:cNvPr id="547" name="Google Shape;547;p46"/>
          <p:cNvSpPr txBox="1"/>
          <p:nvPr/>
        </p:nvSpPr>
        <p:spPr>
          <a:xfrm>
            <a:off x="1361725" y="501275"/>
            <a:ext cx="1430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200">
                <a:solidFill>
                  <a:schemeClr val="accent1"/>
                </a:solidFill>
                <a:latin typeface="Lato"/>
                <a:ea typeface="Lato"/>
                <a:cs typeface="Lato"/>
                <a:sym typeface="Lato"/>
              </a:rPr>
              <a:t>Backpropagation</a:t>
            </a:r>
            <a:endParaRPr b="1" sz="1200">
              <a:solidFill>
                <a:schemeClr val="accent1"/>
              </a:solidFill>
              <a:latin typeface="Lato"/>
              <a:ea typeface="Lato"/>
              <a:cs typeface="Lato"/>
              <a:sym typeface="Lato"/>
            </a:endParaRPr>
          </a:p>
        </p:txBody>
      </p:sp>
      <p:cxnSp>
        <p:nvCxnSpPr>
          <p:cNvPr id="548" name="Google Shape;548;p46"/>
          <p:cNvCxnSpPr>
            <a:endCxn id="546" idx="0"/>
          </p:cNvCxnSpPr>
          <p:nvPr/>
        </p:nvCxnSpPr>
        <p:spPr>
          <a:xfrm>
            <a:off x="1053220" y="-97666"/>
            <a:ext cx="0" cy="560400"/>
          </a:xfrm>
          <a:prstGeom prst="straightConnector1">
            <a:avLst/>
          </a:prstGeom>
          <a:noFill/>
          <a:ln cap="flat" cmpd="sng" w="28575">
            <a:solidFill>
              <a:schemeClr val="accent3"/>
            </a:solidFill>
            <a:prstDash val="solid"/>
            <a:round/>
            <a:headEnd len="med" w="med" type="none"/>
            <a:tailEnd len="med" w="med" type="none"/>
          </a:ln>
        </p:spPr>
      </p:cxnSp>
      <p:cxnSp>
        <p:nvCxnSpPr>
          <p:cNvPr id="549" name="Google Shape;549;p46"/>
          <p:cNvCxnSpPr>
            <a:stCxn id="546" idx="2"/>
          </p:cNvCxnSpPr>
          <p:nvPr/>
        </p:nvCxnSpPr>
        <p:spPr>
          <a:xfrm>
            <a:off x="1053220" y="862934"/>
            <a:ext cx="0" cy="4377000"/>
          </a:xfrm>
          <a:prstGeom prst="straightConnector1">
            <a:avLst/>
          </a:prstGeom>
          <a:noFill/>
          <a:ln cap="flat" cmpd="sng" w="28575">
            <a:solidFill>
              <a:schemeClr val="accent3"/>
            </a:solidFill>
            <a:prstDash val="solid"/>
            <a:round/>
            <a:headEnd len="med" w="med" type="none"/>
            <a:tailEnd len="med" w="med" type="none"/>
          </a:ln>
        </p:spPr>
      </p:cxnSp>
      <p:sp>
        <p:nvSpPr>
          <p:cNvPr id="550" name="Google Shape;550;p46"/>
          <p:cNvSpPr txBox="1"/>
          <p:nvPr/>
        </p:nvSpPr>
        <p:spPr>
          <a:xfrm>
            <a:off x="1315445" y="1348066"/>
            <a:ext cx="6210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pic>
        <p:nvPicPr>
          <p:cNvPr descr="{&quot;code&quot;:&quot;$$R(P)=\n\\mathrm{mean\\text{\\_}edge\\text{\\_}utility}(P)\n+ \\mathbf{1}[v_{L}=\\text{target}]\n- 0.02\\cdot L\n-0.15\\cdot \\mathrm{token\\text{\\_}ratio}(P)$$&quot;,&quot;font&quot;:{&quot;family&quot;:&quot;Arial&quot;,&quot;size&quot;:14,&quot;color&quot;:&quot;#000000&quot;},&quot;backgroundColor&quot;:&quot;#FFFFFF&quot;,&quot;backgroundColorModified&quot;:false,&quot;aid&quot;:null,&quot;type&quot;:&quot;$$&quot;,&quot;id&quot;:&quot;42&quot;,&quot;ts&quot;:1779534687049,&quot;cs&quot;:&quot;nXXnXZmh3XvmfXJypyEQoA==&quot;,&quot;size&quot;:{&quot;width&quot;:755.5,&quot;height&quot;:22.5}}" id="551" name="Google Shape;551;p46"/>
          <p:cNvPicPr preferRelativeResize="0"/>
          <p:nvPr/>
        </p:nvPicPr>
        <p:blipFill>
          <a:blip r:embed="rId3">
            <a:alphaModFix/>
          </a:blip>
          <a:stretch>
            <a:fillRect/>
          </a:stretch>
        </p:blipFill>
        <p:spPr>
          <a:xfrm>
            <a:off x="1467800" y="2027990"/>
            <a:ext cx="7036648" cy="209550"/>
          </a:xfrm>
          <a:prstGeom prst="rect">
            <a:avLst/>
          </a:prstGeom>
          <a:noFill/>
          <a:ln>
            <a:noFill/>
          </a:ln>
        </p:spPr>
      </p:pic>
      <p:pic>
        <p:nvPicPr>
          <p:cNvPr descr="{&quot;backgroundColor&quot;:&quot;#FFFFFF&quot;,&quot;aid&quot;:null,&quot;font&quot;:{&quot;color&quot;:&quot;#000000&quot;,&quot;size&quot;:8.5,&quot;family&quot;:&quot;Arial&quot;},&quot;code&quot;:&quot;$$\\mathrm{token\\text{\\_}ratio}(P)=\n\\min\\left(1, \\frac{\\sum_{e\\in P}^{}\\mathrm{tok}(e)}{T_{\\max}}\\right)$$&quot;,&quot;type&quot;:&quot;$$&quot;,&quot;id&quot;:&quot;43&quot;,&quot;backgroundColorModified&quot;:false,&quot;ts&quot;:1779543244594,&quot;cs&quot;:&quot;udC8tqrcfHfbG8Dg46TxDA==&quot;,&quot;size&quot;:{&quot;width&quot;:245.7733897637795,&quot;height&quot;:34.472451968503925}}" id="552" name="Google Shape;552;p46"/>
          <p:cNvPicPr preferRelativeResize="0"/>
          <p:nvPr/>
        </p:nvPicPr>
        <p:blipFill>
          <a:blip r:embed="rId4">
            <a:alphaModFix/>
          </a:blip>
          <a:stretch>
            <a:fillRect/>
          </a:stretch>
        </p:blipFill>
        <p:spPr>
          <a:xfrm>
            <a:off x="5295475" y="1447753"/>
            <a:ext cx="2340992" cy="328350"/>
          </a:xfrm>
          <a:prstGeom prst="rect">
            <a:avLst/>
          </a:prstGeom>
          <a:noFill/>
          <a:ln>
            <a:noFill/>
          </a:ln>
        </p:spPr>
      </p:pic>
      <p:pic>
        <p:nvPicPr>
          <p:cNvPr descr="{&quot;type&quot;:&quot;$$&quot;,&quot;backgroundColor&quot;:&quot;#FFFFFF&quot;,&quot;aid&quot;:null,&quot;code&quot;:&quot;$$\\mathrm{mean\\text{\\_}edge\\text{\\_}utility}(P)=\n\\frac{1}{L}\\sum_{i=0}^{L-1} u(v_{i},v_{i+1}\\mid q)$$&quot;,&quot;backgroundColorModified&quot;:false,&quot;font&quot;:{&quot;color&quot;:&quot;#000000&quot;,&quot;family&quot;:&quot;Arial&quot;,&quot;size&quot;:9.5},&quot;id&quot;:&quot;44&quot;,&quot;ts&quot;:1779534746092,&quot;cs&quot;:&quot;oorZC8XM9ZezwtxKk1TBEg==&quot;,&quot;size&quot;:{&quot;width&quot;:292.94961679790026,&quot;height&quot;:42.01575328083988}}" id="553" name="Google Shape;553;p46"/>
          <p:cNvPicPr preferRelativeResize="0"/>
          <p:nvPr/>
        </p:nvPicPr>
        <p:blipFill>
          <a:blip r:embed="rId5">
            <a:alphaModFix/>
          </a:blip>
          <a:stretch>
            <a:fillRect/>
          </a:stretch>
        </p:blipFill>
        <p:spPr>
          <a:xfrm>
            <a:off x="1616375" y="1411836"/>
            <a:ext cx="2790345" cy="400200"/>
          </a:xfrm>
          <a:prstGeom prst="rect">
            <a:avLst/>
          </a:prstGeom>
          <a:noFill/>
          <a:ln>
            <a:noFill/>
          </a:ln>
        </p:spPr>
      </p:pic>
      <p:pic>
        <p:nvPicPr>
          <p:cNvPr descr="{&quot;id&quot;:&quot;45&quot;,&quot;code&quot;:&quot;$$P=(v_{0},\\dots,v_{L})$$&quot;,&quot;type&quot;:&quot;$$&quot;,&quot;backgroundColorModified&quot;:false,&quot;backgroundColor&quot;:&quot;#FFFFFF&quot;,&quot;font&quot;:{&quot;size&quot;:14,&quot;color&quot;:&quot;#000000&quot;,&quot;family&quot;:&quot;Arial&quot;},&quot;aid&quot;:null,&quot;ts&quot;:1779534554810,&quot;cs&quot;:&quot;+6VcoOm8e3pNk+Km02jwcQ==&quot;,&quot;size&quot;:{&quot;width&quot;:150.16666666666666,&quot;height&quot;:22}}" id="554" name="Google Shape;554;p46"/>
          <p:cNvPicPr preferRelativeResize="0"/>
          <p:nvPr/>
        </p:nvPicPr>
        <p:blipFill>
          <a:blip r:embed="rId6">
            <a:alphaModFix/>
          </a:blip>
          <a:stretch>
            <a:fillRect/>
          </a:stretch>
        </p:blipFill>
        <p:spPr>
          <a:xfrm>
            <a:off x="2723250" y="578823"/>
            <a:ext cx="1430338" cy="209550"/>
          </a:xfrm>
          <a:prstGeom prst="rect">
            <a:avLst/>
          </a:prstGeom>
          <a:noFill/>
          <a:ln>
            <a:noFill/>
          </a:ln>
        </p:spPr>
      </p:pic>
      <p:sp>
        <p:nvSpPr>
          <p:cNvPr id="555" name="Google Shape;555;p46"/>
          <p:cNvSpPr txBox="1"/>
          <p:nvPr/>
        </p:nvSpPr>
        <p:spPr>
          <a:xfrm>
            <a:off x="1413800" y="807600"/>
            <a:ext cx="75108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Évaluer la récompense : </a:t>
            </a:r>
            <a:r>
              <a:rPr b="1" lang="en-GB" sz="1300">
                <a:solidFill>
                  <a:schemeClr val="accent1"/>
                </a:solidFill>
                <a:latin typeface="Lato"/>
                <a:ea typeface="Lato"/>
                <a:cs typeface="Lato"/>
                <a:sym typeface="Lato"/>
              </a:rPr>
              <a:t>max</a:t>
            </a:r>
            <a:r>
              <a:rPr lang="en-GB" sz="1300">
                <a:solidFill>
                  <a:schemeClr val="accent1"/>
                </a:solidFill>
                <a:latin typeface="Lato"/>
                <a:ea typeface="Lato"/>
                <a:cs typeface="Lato"/>
                <a:sym typeface="Lato"/>
              </a:rPr>
              <a:t> l’utilité, bonus si le dernier état est l’état terminal, </a:t>
            </a:r>
            <a:r>
              <a:rPr b="1" lang="en-GB" sz="1300">
                <a:solidFill>
                  <a:schemeClr val="accent1"/>
                </a:solidFill>
                <a:latin typeface="Lato"/>
                <a:ea typeface="Lato"/>
                <a:cs typeface="Lato"/>
                <a:sym typeface="Lato"/>
              </a:rPr>
              <a:t>pénaliser</a:t>
            </a:r>
            <a:r>
              <a:rPr lang="en-GB" sz="1300">
                <a:solidFill>
                  <a:schemeClr val="accent1"/>
                </a:solidFill>
                <a:latin typeface="Lato"/>
                <a:ea typeface="Lato"/>
                <a:cs typeface="Lato"/>
                <a:sym typeface="Lato"/>
              </a:rPr>
              <a:t> la </a:t>
            </a:r>
            <a:r>
              <a:rPr lang="en-GB" sz="1300">
                <a:solidFill>
                  <a:schemeClr val="accent1"/>
                </a:solidFill>
                <a:latin typeface="Lato"/>
                <a:ea typeface="Lato"/>
                <a:cs typeface="Lato"/>
                <a:sym typeface="Lato"/>
              </a:rPr>
              <a:t>longueur</a:t>
            </a:r>
            <a:r>
              <a:rPr lang="en-GB" sz="1300">
                <a:solidFill>
                  <a:schemeClr val="accent1"/>
                </a:solidFill>
                <a:latin typeface="Lato"/>
                <a:ea typeface="Lato"/>
                <a:cs typeface="Lato"/>
                <a:sym typeface="Lato"/>
              </a:rPr>
              <a:t> du chemin et </a:t>
            </a:r>
            <a:r>
              <a:rPr b="1" lang="en-GB" sz="1300">
                <a:solidFill>
                  <a:schemeClr val="accent1"/>
                </a:solidFill>
                <a:latin typeface="Lato"/>
                <a:ea typeface="Lato"/>
                <a:cs typeface="Lato"/>
                <a:sym typeface="Lato"/>
              </a:rPr>
              <a:t>pénaliser</a:t>
            </a:r>
            <a:r>
              <a:rPr lang="en-GB" sz="1300">
                <a:solidFill>
                  <a:schemeClr val="accent1"/>
                </a:solidFill>
                <a:latin typeface="Lato"/>
                <a:ea typeface="Lato"/>
                <a:cs typeface="Lato"/>
                <a:sym typeface="Lato"/>
              </a:rPr>
              <a:t> le nombre de tokens</a:t>
            </a:r>
            <a:endParaRPr sz="1300">
              <a:solidFill>
                <a:schemeClr val="accent1"/>
              </a:solidFill>
              <a:latin typeface="Lato"/>
              <a:ea typeface="Lato"/>
              <a:cs typeface="Lato"/>
              <a:sym typeface="Lato"/>
            </a:endParaRPr>
          </a:p>
        </p:txBody>
      </p:sp>
      <p:pic>
        <p:nvPicPr>
          <p:cNvPr descr="{&quot;backgroundColorModified&quot;:false,&quot;font&quot;:{&quot;family&quot;:&quot;Arial&quot;,&quot;size&quot;:12,&quot;color&quot;:&quot;#000000&quot;},&quot;type&quot;:&quot;$$&quot;,&quot;id&quot;:&quot;38&quot;,&quot;aid&quot;:null,&quot;backgroundColor&quot;:&quot;#FFFFFF&quot;,&quot;code&quot;:&quot;$$W(s) \\leftarrow W(s) + R(P)$$&quot;,&quot;ts&quot;:1779534310566,&quot;cs&quot;:&quot;giq22kOfvT7ERdOtANNKNQ==&quot;,&quot;size&quot;:{&quot;width&quot;:172.5,&quot;height&quot;:18.833333333333332}}" id="556" name="Google Shape;556;p46"/>
          <p:cNvPicPr preferRelativeResize="0"/>
          <p:nvPr/>
        </p:nvPicPr>
        <p:blipFill>
          <a:blip r:embed="rId7">
            <a:alphaModFix/>
          </a:blip>
          <a:stretch>
            <a:fillRect/>
          </a:stretch>
        </p:blipFill>
        <p:spPr>
          <a:xfrm>
            <a:off x="1564638" y="3305467"/>
            <a:ext cx="1643063" cy="179388"/>
          </a:xfrm>
          <a:prstGeom prst="rect">
            <a:avLst/>
          </a:prstGeom>
          <a:noFill/>
          <a:ln>
            <a:noFill/>
          </a:ln>
        </p:spPr>
      </p:pic>
      <p:pic>
        <p:nvPicPr>
          <p:cNvPr descr="{&quot;type&quot;:&quot;$$&quot;,&quot;aid&quot;:null,&quot;backgroundColorModified&quot;:false,&quot;id&quot;:&quot;39&quot;,&quot;code&quot;:&quot;$$N(s) \\leftarrow N(s) + 1$$&quot;,&quot;font&quot;:{&quot;family&quot;:&quot;Arial&quot;,&quot;size&quot;:14,&quot;color&quot;:&quot;#000000&quot;},&quot;backgroundColor&quot;:&quot;#FFFFFF&quot;,&quot;ts&quot;:1779534348289,&quot;cs&quot;:&quot;Exfv2fCyp83rwtI00JGsIA==&quot;,&quot;size&quot;:{&quot;width&quot;:160.83333333333334,&quot;height&quot;:22}}" id="557" name="Google Shape;557;p46"/>
          <p:cNvPicPr preferRelativeResize="0"/>
          <p:nvPr/>
        </p:nvPicPr>
        <p:blipFill>
          <a:blip r:embed="rId8">
            <a:alphaModFix/>
          </a:blip>
          <a:stretch>
            <a:fillRect/>
          </a:stretch>
        </p:blipFill>
        <p:spPr>
          <a:xfrm>
            <a:off x="1564650" y="2842329"/>
            <a:ext cx="1531938" cy="209550"/>
          </a:xfrm>
          <a:prstGeom prst="rect">
            <a:avLst/>
          </a:prstGeom>
          <a:noFill/>
          <a:ln>
            <a:noFill/>
          </a:ln>
        </p:spPr>
      </p:pic>
      <p:pic>
        <p:nvPicPr>
          <p:cNvPr descr="{&quot;font&quot;:{&quot;size&quot;:14,&quot;color&quot;:&quot;#000000&quot;,&quot;family&quot;:&quot;Arial&quot;},&quot;aid&quot;:null,&quot;code&quot;:&quot;$$\\bar{Q}(s)=\\frac{W(s)}{N(s)}$$&quot;,&quot;id&quot;:&quot;41&quot;,&quot;type&quot;:&quot;$$&quot;,&quot;backgroundColor&quot;:&quot;#FFFFFF&quot;,&quot;backgroundColorModified&quot;:false,&quot;ts&quot;:1779534376260,&quot;cs&quot;:&quot;6w/DBJ7rK9mgsqM524Vm6w==&quot;,&quot;size&quot;:{&quot;width&quot;:128.5,&quot;height&quot;:52.833333333333336}}" id="558" name="Google Shape;558;p46"/>
          <p:cNvPicPr preferRelativeResize="0"/>
          <p:nvPr/>
        </p:nvPicPr>
        <p:blipFill>
          <a:blip r:embed="rId9">
            <a:alphaModFix/>
          </a:blip>
          <a:stretch>
            <a:fillRect/>
          </a:stretch>
        </p:blipFill>
        <p:spPr>
          <a:xfrm>
            <a:off x="1564650" y="3656667"/>
            <a:ext cx="1223963" cy="503238"/>
          </a:xfrm>
          <a:prstGeom prst="rect">
            <a:avLst/>
          </a:prstGeom>
          <a:noFill/>
          <a:ln>
            <a:noFill/>
          </a:ln>
        </p:spPr>
      </p:pic>
      <p:sp>
        <p:nvSpPr>
          <p:cNvPr id="559" name="Google Shape;559;p46"/>
          <p:cNvSpPr txBox="1"/>
          <p:nvPr/>
        </p:nvSpPr>
        <p:spPr>
          <a:xfrm>
            <a:off x="1564650" y="2347488"/>
            <a:ext cx="44418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Pour chaque noeud sur le chemin </a:t>
            </a:r>
            <a:r>
              <a:rPr b="1" lang="en-GB" sz="1300">
                <a:solidFill>
                  <a:schemeClr val="accent1"/>
                </a:solidFill>
                <a:latin typeface="Lato"/>
                <a:ea typeface="Lato"/>
                <a:cs typeface="Lato"/>
                <a:sym typeface="Lato"/>
              </a:rPr>
              <a:t>s</a:t>
            </a:r>
            <a:endParaRPr b="1" sz="1300">
              <a:solidFill>
                <a:schemeClr val="accent1"/>
              </a:solidFill>
              <a:latin typeface="Lato"/>
              <a:ea typeface="Lato"/>
              <a:cs typeface="Lato"/>
              <a:sym typeface="Lato"/>
            </a:endParaRPr>
          </a:p>
        </p:txBody>
      </p:sp>
      <p:sp>
        <p:nvSpPr>
          <p:cNvPr id="560" name="Google Shape;560;p46"/>
          <p:cNvSpPr txBox="1"/>
          <p:nvPr/>
        </p:nvSpPr>
        <p:spPr>
          <a:xfrm>
            <a:off x="3468300" y="3251313"/>
            <a:ext cx="44418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chemeClr val="accent1"/>
                </a:solidFill>
                <a:latin typeface="Lato"/>
                <a:ea typeface="Lato"/>
                <a:cs typeface="Lato"/>
                <a:sym typeface="Lato"/>
              </a:rPr>
              <a:t>la récompense </a:t>
            </a:r>
            <a:r>
              <a:rPr lang="en-GB" sz="1100">
                <a:solidFill>
                  <a:schemeClr val="accent1"/>
                </a:solidFill>
                <a:latin typeface="Lato"/>
                <a:ea typeface="Lato"/>
                <a:cs typeface="Lato"/>
                <a:sym typeface="Lato"/>
              </a:rPr>
              <a:t>cumulative </a:t>
            </a:r>
            <a:endParaRPr sz="1100">
              <a:solidFill>
                <a:schemeClr val="accent1"/>
              </a:solidFill>
              <a:latin typeface="Lato"/>
              <a:ea typeface="Lato"/>
              <a:cs typeface="Lato"/>
              <a:sym typeface="Lato"/>
            </a:endParaRPr>
          </a:p>
        </p:txBody>
      </p:sp>
      <p:sp>
        <p:nvSpPr>
          <p:cNvPr id="561" name="Google Shape;561;p46"/>
          <p:cNvSpPr txBox="1"/>
          <p:nvPr/>
        </p:nvSpPr>
        <p:spPr>
          <a:xfrm>
            <a:off x="3468300" y="2777738"/>
            <a:ext cx="44418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chemeClr val="accent1"/>
                </a:solidFill>
                <a:latin typeface="Lato"/>
                <a:ea typeface="Lato"/>
                <a:cs typeface="Lato"/>
                <a:sym typeface="Lato"/>
              </a:rPr>
              <a:t>nombre de fois l’état </a:t>
            </a:r>
            <a:r>
              <a:rPr b="1" lang="en-GB" sz="1100">
                <a:solidFill>
                  <a:schemeClr val="accent1"/>
                </a:solidFill>
                <a:latin typeface="Lato"/>
                <a:ea typeface="Lato"/>
                <a:cs typeface="Lato"/>
                <a:sym typeface="Lato"/>
              </a:rPr>
              <a:t>s </a:t>
            </a:r>
            <a:r>
              <a:rPr lang="en-GB" sz="1100">
                <a:solidFill>
                  <a:schemeClr val="accent1"/>
                </a:solidFill>
                <a:latin typeface="Lato"/>
                <a:ea typeface="Lato"/>
                <a:cs typeface="Lato"/>
                <a:sym typeface="Lato"/>
              </a:rPr>
              <a:t>a été visité</a:t>
            </a:r>
            <a:endParaRPr sz="1100">
              <a:solidFill>
                <a:schemeClr val="accent1"/>
              </a:solidFill>
              <a:latin typeface="Lato"/>
              <a:ea typeface="Lato"/>
              <a:cs typeface="Lato"/>
              <a:sym typeface="Lato"/>
            </a:endParaRPr>
          </a:p>
        </p:txBody>
      </p:sp>
      <p:sp>
        <p:nvSpPr>
          <p:cNvPr id="562" name="Google Shape;562;p46"/>
          <p:cNvSpPr txBox="1"/>
          <p:nvPr/>
        </p:nvSpPr>
        <p:spPr>
          <a:xfrm>
            <a:off x="3468300" y="3724888"/>
            <a:ext cx="44418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chemeClr val="accent1"/>
                </a:solidFill>
                <a:latin typeface="Lato"/>
                <a:ea typeface="Lato"/>
                <a:cs typeface="Lato"/>
                <a:sym typeface="Lato"/>
              </a:rPr>
              <a:t>value function estimée de l’état </a:t>
            </a:r>
            <a:r>
              <a:rPr b="1" lang="en-GB" sz="1100">
                <a:solidFill>
                  <a:schemeClr val="accent1"/>
                </a:solidFill>
                <a:latin typeface="Lato"/>
                <a:ea typeface="Lato"/>
                <a:cs typeface="Lato"/>
                <a:sym typeface="Lato"/>
              </a:rPr>
              <a:t>s</a:t>
            </a:r>
            <a:endParaRPr b="1" sz="1100">
              <a:solidFill>
                <a:schemeClr val="accent1"/>
              </a:solidFill>
              <a:latin typeface="Lato"/>
              <a:ea typeface="Lato"/>
              <a:cs typeface="Lato"/>
              <a:sym typeface="Lato"/>
            </a:endParaRPr>
          </a:p>
        </p:txBody>
      </p:sp>
      <p:pic>
        <p:nvPicPr>
          <p:cNvPr descr="{&quot;backgroundColor&quot;:&quot;#FFFFFF&quot;,&quot;code&quot;:&quot;$$\\mathrm{tok}(e) =\\text{wordcount}(\\text{description}(e))$$&quot;,&quot;backgroundColorModified&quot;:false,&quot;type&quot;:&quot;$$&quot;,&quot;id&quot;:&quot;56&quot;,&quot;aid&quot;:null,&quot;font&quot;:{&quot;color&quot;:&quot;#000000&quot;,&quot;family&quot;:&quot;Arial&quot;,&quot;size&quot;:12},&quot;ts&quot;:1779572955066,&quot;cs&quot;:&quot;KV0lpHrFhHm+mYmUdP7K0g==&quot;,&quot;size&quot;:{&quot;width&quot;:277.5,&quot;height&quot;:19}}" id="563" name="Google Shape;563;p46"/>
          <p:cNvPicPr preferRelativeResize="0"/>
          <p:nvPr/>
        </p:nvPicPr>
        <p:blipFill>
          <a:blip r:embed="rId10">
            <a:alphaModFix/>
          </a:blip>
          <a:stretch>
            <a:fillRect/>
          </a:stretch>
        </p:blipFill>
        <p:spPr>
          <a:xfrm>
            <a:off x="5613500" y="1229000"/>
            <a:ext cx="1836451" cy="126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47"/>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9" name="Google Shape;569;p47"/>
          <p:cNvSpPr/>
          <p:nvPr/>
        </p:nvSpPr>
        <p:spPr>
          <a:xfrm>
            <a:off x="0" y="0"/>
            <a:ext cx="9144000" cy="485700"/>
          </a:xfrm>
          <a:prstGeom prst="rect">
            <a:avLst/>
          </a:prstGeom>
          <a:solidFill>
            <a:srgbClr val="E9ED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0" name="Google Shape;570;p47"/>
          <p:cNvSpPr/>
          <p:nvPr/>
        </p:nvSpPr>
        <p:spPr>
          <a:xfrm>
            <a:off x="0" y="0"/>
            <a:ext cx="9144000" cy="7620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1" name="Google Shape;571;p47"/>
          <p:cNvSpPr/>
          <p:nvPr/>
        </p:nvSpPr>
        <p:spPr>
          <a:xfrm>
            <a:off x="762000" y="361950"/>
            <a:ext cx="381000" cy="47700"/>
          </a:xfrm>
          <a:prstGeom prst="rect">
            <a:avLst/>
          </a:prstGeom>
          <a:solidFill>
            <a:srgbClr val="1A99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2" name="Google Shape;572;p47"/>
          <p:cNvSpPr/>
          <p:nvPr/>
        </p:nvSpPr>
        <p:spPr>
          <a:xfrm>
            <a:off x="762000" y="438150"/>
            <a:ext cx="381000" cy="47700"/>
          </a:xfrm>
          <a:prstGeom prst="rect">
            <a:avLst/>
          </a:prstGeom>
          <a:solidFill>
            <a:srgbClr val="EB5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3" name="Google Shape;573;p47"/>
          <p:cNvSpPr txBox="1"/>
          <p:nvPr/>
        </p:nvSpPr>
        <p:spPr>
          <a:xfrm>
            <a:off x="1333500" y="190500"/>
            <a:ext cx="704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2400">
                <a:solidFill>
                  <a:srgbClr val="1A1A1A"/>
                </a:solidFill>
                <a:latin typeface="Raleway"/>
                <a:ea typeface="Raleway"/>
                <a:cs typeface="Raleway"/>
                <a:sym typeface="Raleway"/>
              </a:rPr>
              <a:t>Évaluation : Benchmarks</a:t>
            </a:r>
            <a:endParaRPr b="1" sz="2400">
              <a:solidFill>
                <a:srgbClr val="1A1A1A"/>
              </a:solidFill>
              <a:latin typeface="Raleway"/>
              <a:ea typeface="Raleway"/>
              <a:cs typeface="Raleway"/>
              <a:sym typeface="Raleway"/>
            </a:endParaRPr>
          </a:p>
        </p:txBody>
      </p:sp>
      <p:sp>
        <p:nvSpPr>
          <p:cNvPr id="574" name="Google Shape;574;p47"/>
          <p:cNvSpPr/>
          <p:nvPr/>
        </p:nvSpPr>
        <p:spPr>
          <a:xfrm>
            <a:off x="476250" y="952500"/>
            <a:ext cx="8191500" cy="857400"/>
          </a:xfrm>
          <a:prstGeom prst="roundRect">
            <a:avLst>
              <a:gd fmla="val 1333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5" name="Google Shape;575;p47"/>
          <p:cNvSpPr txBox="1"/>
          <p:nvPr/>
        </p:nvSpPr>
        <p:spPr>
          <a:xfrm>
            <a:off x="666750" y="1047750"/>
            <a:ext cx="38100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1100">
                <a:solidFill>
                  <a:srgbClr val="EB5600"/>
                </a:solidFill>
                <a:latin typeface="Lato"/>
                <a:ea typeface="Lato"/>
                <a:cs typeface="Lato"/>
                <a:sym typeface="Lato"/>
              </a:rPr>
              <a:t>DATASET</a:t>
            </a:r>
            <a:endParaRPr b="1" sz="1100">
              <a:solidFill>
                <a:srgbClr val="EB5600"/>
              </a:solidFill>
              <a:latin typeface="Lato"/>
              <a:ea typeface="Lato"/>
              <a:cs typeface="Lato"/>
              <a:sym typeface="Lato"/>
            </a:endParaRPr>
          </a:p>
          <a:p>
            <a:pPr indent="0" lvl="0" marL="0" rtl="0" algn="l">
              <a:spcBef>
                <a:spcPts val="300"/>
              </a:spcBef>
              <a:spcAft>
                <a:spcPts val="0"/>
              </a:spcAft>
              <a:buNone/>
            </a:pPr>
            <a:r>
              <a:rPr b="0" lang="en-GB" sz="1100">
                <a:solidFill>
                  <a:srgbClr val="595959"/>
                </a:solidFill>
                <a:latin typeface="Lato"/>
                <a:ea typeface="Lato"/>
                <a:cs typeface="Lato"/>
                <a:sym typeface="Lato"/>
              </a:rPr>
              <a:t>2 Datasets de UltraDomain Benchmark : Mix </a:t>
            </a:r>
            <a:r>
              <a:rPr lang="en-GB" sz="1100">
                <a:solidFill>
                  <a:srgbClr val="595959"/>
                </a:solidFill>
                <a:latin typeface="Lato"/>
                <a:ea typeface="Lato"/>
                <a:cs typeface="Lato"/>
                <a:sym typeface="Lato"/>
              </a:rPr>
              <a:t>&amp; </a:t>
            </a:r>
            <a:r>
              <a:rPr b="0" lang="en-GB" sz="1100">
                <a:solidFill>
                  <a:srgbClr val="595959"/>
                </a:solidFill>
                <a:latin typeface="Lato"/>
                <a:ea typeface="Lato"/>
                <a:cs typeface="Lato"/>
                <a:sym typeface="Lato"/>
              </a:rPr>
              <a:t>Agriculture</a:t>
            </a:r>
            <a:endParaRPr b="0" sz="1100">
              <a:solidFill>
                <a:srgbClr val="595959"/>
              </a:solidFill>
              <a:latin typeface="Lato"/>
              <a:ea typeface="Lato"/>
              <a:cs typeface="Lato"/>
              <a:sym typeface="Lato"/>
            </a:endParaRPr>
          </a:p>
        </p:txBody>
      </p:sp>
      <p:cxnSp>
        <p:nvCxnSpPr>
          <p:cNvPr id="576" name="Google Shape;576;p47"/>
          <p:cNvCxnSpPr/>
          <p:nvPr/>
        </p:nvCxnSpPr>
        <p:spPr>
          <a:xfrm>
            <a:off x="4572000" y="1095375"/>
            <a:ext cx="0" cy="571500"/>
          </a:xfrm>
          <a:prstGeom prst="straightConnector1">
            <a:avLst/>
          </a:prstGeom>
          <a:solidFill>
            <a:srgbClr val="FFFFFF"/>
          </a:solidFill>
          <a:ln cap="flat" cmpd="sng" w="9525">
            <a:solidFill>
              <a:srgbClr val="E2E8F0"/>
            </a:solidFill>
            <a:prstDash val="solid"/>
            <a:round/>
            <a:headEnd len="sm" w="sm" type="none"/>
            <a:tailEnd len="sm" w="sm" type="none"/>
          </a:ln>
        </p:spPr>
      </p:cxnSp>
      <p:sp>
        <p:nvSpPr>
          <p:cNvPr id="577" name="Google Shape;577;p47"/>
          <p:cNvSpPr txBox="1"/>
          <p:nvPr/>
        </p:nvSpPr>
        <p:spPr>
          <a:xfrm>
            <a:off x="4762500" y="1047750"/>
            <a:ext cx="37149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1000">
                <a:solidFill>
                  <a:srgbClr val="64748B"/>
                </a:solidFill>
                <a:latin typeface="Lato"/>
                <a:ea typeface="Lato"/>
                <a:cs typeface="Lato"/>
                <a:sym typeface="Lato"/>
              </a:rPr>
              <a:t>Embeddings: </a:t>
            </a:r>
            <a:r>
              <a:rPr b="0" lang="en-GB" sz="1000">
                <a:solidFill>
                  <a:srgbClr val="64748B"/>
                </a:solidFill>
                <a:latin typeface="Lato"/>
                <a:ea typeface="Lato"/>
                <a:cs typeface="Lato"/>
                <a:sym typeface="Lato"/>
              </a:rPr>
              <a:t>text-embedding-3-small</a:t>
            </a:r>
            <a:endParaRPr b="1" sz="1000">
              <a:solidFill>
                <a:srgbClr val="64748B"/>
              </a:solidFill>
              <a:latin typeface="Lato"/>
              <a:ea typeface="Lato"/>
              <a:cs typeface="Lato"/>
              <a:sym typeface="Lato"/>
            </a:endParaRPr>
          </a:p>
          <a:p>
            <a:pPr indent="0" lvl="0" marL="0" rtl="0" algn="l">
              <a:spcBef>
                <a:spcPts val="0"/>
              </a:spcBef>
              <a:spcAft>
                <a:spcPts val="0"/>
              </a:spcAft>
              <a:buNone/>
            </a:pPr>
            <a:r>
              <a:rPr b="1" lang="en-GB" sz="1000">
                <a:solidFill>
                  <a:srgbClr val="64748B"/>
                </a:solidFill>
                <a:latin typeface="Lato"/>
                <a:ea typeface="Lato"/>
                <a:cs typeface="Lato"/>
                <a:sym typeface="Lato"/>
              </a:rPr>
              <a:t>LLM (génération): </a:t>
            </a:r>
            <a:r>
              <a:rPr b="0" lang="en-GB" sz="1000">
                <a:solidFill>
                  <a:srgbClr val="64748B"/>
                </a:solidFill>
                <a:latin typeface="Lato"/>
                <a:ea typeface="Lato"/>
                <a:cs typeface="Lato"/>
                <a:sym typeface="Lato"/>
              </a:rPr>
              <a:t>OpenAI GPT 5.4 mini</a:t>
            </a:r>
            <a:endParaRPr b="1" sz="1000">
              <a:solidFill>
                <a:srgbClr val="64748B"/>
              </a:solidFill>
              <a:latin typeface="Lato"/>
              <a:ea typeface="Lato"/>
              <a:cs typeface="Lato"/>
              <a:sym typeface="Lato"/>
            </a:endParaRPr>
          </a:p>
          <a:p>
            <a:pPr indent="0" lvl="0" marL="0" rtl="0" algn="l">
              <a:spcBef>
                <a:spcPts val="0"/>
              </a:spcBef>
              <a:spcAft>
                <a:spcPts val="0"/>
              </a:spcAft>
              <a:buNone/>
            </a:pPr>
            <a:r>
              <a:rPr b="1" lang="en-GB" sz="1000">
                <a:solidFill>
                  <a:srgbClr val="64748B"/>
                </a:solidFill>
                <a:latin typeface="Lato"/>
                <a:ea typeface="Lato"/>
                <a:cs typeface="Lato"/>
                <a:sym typeface="Lato"/>
              </a:rPr>
              <a:t>LLM as Judge (LLMaJ): </a:t>
            </a:r>
            <a:r>
              <a:rPr b="0" lang="en-GB" sz="1000">
                <a:solidFill>
                  <a:srgbClr val="64748B"/>
                </a:solidFill>
                <a:latin typeface="Lato"/>
                <a:ea typeface="Lato"/>
                <a:cs typeface="Lato"/>
                <a:sym typeface="Lato"/>
              </a:rPr>
              <a:t>OpenAI GPT 5.4 mini</a:t>
            </a:r>
            <a:endParaRPr b="1" sz="1000">
              <a:solidFill>
                <a:srgbClr val="64748B"/>
              </a:solidFill>
              <a:latin typeface="Lato"/>
              <a:ea typeface="Lato"/>
              <a:cs typeface="Lato"/>
              <a:sym typeface="Lato"/>
            </a:endParaRPr>
          </a:p>
        </p:txBody>
      </p:sp>
      <p:grpSp>
        <p:nvGrpSpPr>
          <p:cNvPr id="578" name="Google Shape;578;p47"/>
          <p:cNvGrpSpPr/>
          <p:nvPr/>
        </p:nvGrpSpPr>
        <p:grpSpPr>
          <a:xfrm>
            <a:off x="476250" y="2000250"/>
            <a:ext cx="8191500" cy="1381275"/>
            <a:chOff x="476250" y="2000250"/>
            <a:chExt cx="8191500" cy="1381275"/>
          </a:xfrm>
        </p:grpSpPr>
        <p:sp>
          <p:nvSpPr>
            <p:cNvPr id="579" name="Google Shape;579;p47"/>
            <p:cNvSpPr/>
            <p:nvPr/>
          </p:nvSpPr>
          <p:spPr>
            <a:xfrm>
              <a:off x="476250" y="2000250"/>
              <a:ext cx="8191500" cy="1381200"/>
            </a:xfrm>
            <a:prstGeom prst="roundRect">
              <a:avLst>
                <a:gd fmla="val 428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0" name="Google Shape;580;p47"/>
            <p:cNvSpPr/>
            <p:nvPr/>
          </p:nvSpPr>
          <p:spPr>
            <a:xfrm>
              <a:off x="476250" y="2000250"/>
              <a:ext cx="8191500" cy="428700"/>
            </a:xfrm>
            <a:prstGeom prst="roundRect">
              <a:avLst>
                <a:gd fmla="val 26666"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1" name="Google Shape;581;p47"/>
            <p:cNvSpPr txBox="1"/>
            <p:nvPr/>
          </p:nvSpPr>
          <p:spPr>
            <a:xfrm>
              <a:off x="476250" y="2000250"/>
              <a:ext cx="12384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850">
                  <a:solidFill>
                    <a:srgbClr val="475569"/>
                  </a:solidFill>
                  <a:latin typeface="Raleway"/>
                  <a:ea typeface="Raleway"/>
                  <a:cs typeface="Raleway"/>
                  <a:sym typeface="Raleway"/>
                </a:rPr>
                <a:t>Dataset</a:t>
              </a:r>
              <a:endParaRPr b="1" sz="850">
                <a:solidFill>
                  <a:srgbClr val="475569"/>
                </a:solidFill>
                <a:latin typeface="Raleway"/>
                <a:ea typeface="Raleway"/>
                <a:cs typeface="Raleway"/>
                <a:sym typeface="Raleway"/>
              </a:endParaRPr>
            </a:p>
          </p:txBody>
        </p:sp>
        <p:sp>
          <p:nvSpPr>
            <p:cNvPr id="582" name="Google Shape;582;p47"/>
            <p:cNvSpPr txBox="1"/>
            <p:nvPr/>
          </p:nvSpPr>
          <p:spPr>
            <a:xfrm>
              <a:off x="1714500" y="2000250"/>
              <a:ext cx="7620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850">
                  <a:solidFill>
                    <a:srgbClr val="475569"/>
                  </a:solidFill>
                  <a:latin typeface="Raleway"/>
                  <a:ea typeface="Raleway"/>
                  <a:cs typeface="Raleway"/>
                  <a:sym typeface="Raleway"/>
                </a:rPr>
                <a:t>Docs</a:t>
              </a:r>
              <a:endParaRPr b="1" sz="850">
                <a:solidFill>
                  <a:srgbClr val="475569"/>
                </a:solidFill>
                <a:latin typeface="Raleway"/>
                <a:ea typeface="Raleway"/>
                <a:cs typeface="Raleway"/>
                <a:sym typeface="Raleway"/>
              </a:endParaRPr>
            </a:p>
          </p:txBody>
        </p:sp>
        <p:sp>
          <p:nvSpPr>
            <p:cNvPr id="583" name="Google Shape;583;p47"/>
            <p:cNvSpPr txBox="1"/>
            <p:nvPr/>
          </p:nvSpPr>
          <p:spPr>
            <a:xfrm>
              <a:off x="2476500" y="2000250"/>
              <a:ext cx="7620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850">
                  <a:solidFill>
                    <a:srgbClr val="475569"/>
                  </a:solidFill>
                  <a:latin typeface="Raleway"/>
                  <a:ea typeface="Raleway"/>
                  <a:cs typeface="Raleway"/>
                  <a:sym typeface="Raleway"/>
                </a:rPr>
                <a:t>Questions</a:t>
              </a:r>
              <a:endParaRPr b="1" sz="850">
                <a:solidFill>
                  <a:srgbClr val="475569"/>
                </a:solidFill>
                <a:latin typeface="Raleway"/>
                <a:ea typeface="Raleway"/>
                <a:cs typeface="Raleway"/>
                <a:sym typeface="Raleway"/>
              </a:endParaRPr>
            </a:p>
          </p:txBody>
        </p:sp>
        <p:sp>
          <p:nvSpPr>
            <p:cNvPr id="584" name="Google Shape;584;p47"/>
            <p:cNvSpPr txBox="1"/>
            <p:nvPr/>
          </p:nvSpPr>
          <p:spPr>
            <a:xfrm>
              <a:off x="3238500" y="2000250"/>
              <a:ext cx="7620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850">
                  <a:solidFill>
                    <a:srgbClr val="475569"/>
                  </a:solidFill>
                  <a:latin typeface="Raleway"/>
                  <a:ea typeface="Raleway"/>
                  <a:cs typeface="Raleway"/>
                  <a:sym typeface="Raleway"/>
                </a:rPr>
                <a:t>Chunks</a:t>
              </a:r>
              <a:endParaRPr b="1" sz="850">
                <a:solidFill>
                  <a:srgbClr val="475569"/>
                </a:solidFill>
                <a:latin typeface="Raleway"/>
                <a:ea typeface="Raleway"/>
                <a:cs typeface="Raleway"/>
                <a:sym typeface="Raleway"/>
              </a:endParaRPr>
            </a:p>
          </p:txBody>
        </p:sp>
        <p:sp>
          <p:nvSpPr>
            <p:cNvPr id="585" name="Google Shape;585;p47"/>
            <p:cNvSpPr txBox="1"/>
            <p:nvPr/>
          </p:nvSpPr>
          <p:spPr>
            <a:xfrm>
              <a:off x="4000500" y="2000250"/>
              <a:ext cx="7620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850">
                  <a:solidFill>
                    <a:srgbClr val="475569"/>
                  </a:solidFill>
                  <a:latin typeface="Raleway"/>
                  <a:ea typeface="Raleway"/>
                  <a:cs typeface="Raleway"/>
                  <a:sym typeface="Raleway"/>
                </a:rPr>
                <a:t>Nodes</a:t>
              </a:r>
              <a:endParaRPr b="1" sz="850">
                <a:solidFill>
                  <a:srgbClr val="475569"/>
                </a:solidFill>
                <a:latin typeface="Raleway"/>
                <a:ea typeface="Raleway"/>
                <a:cs typeface="Raleway"/>
                <a:sym typeface="Raleway"/>
              </a:endParaRPr>
            </a:p>
          </p:txBody>
        </p:sp>
        <p:sp>
          <p:nvSpPr>
            <p:cNvPr id="586" name="Google Shape;586;p47"/>
            <p:cNvSpPr txBox="1"/>
            <p:nvPr/>
          </p:nvSpPr>
          <p:spPr>
            <a:xfrm>
              <a:off x="4762500" y="2000250"/>
              <a:ext cx="7620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850">
                  <a:solidFill>
                    <a:srgbClr val="475569"/>
                  </a:solidFill>
                  <a:latin typeface="Raleway"/>
                  <a:ea typeface="Raleway"/>
                  <a:cs typeface="Raleway"/>
                  <a:sym typeface="Raleway"/>
                </a:rPr>
                <a:t>Edges</a:t>
              </a:r>
              <a:endParaRPr b="1" sz="850">
                <a:solidFill>
                  <a:srgbClr val="475569"/>
                </a:solidFill>
                <a:latin typeface="Raleway"/>
                <a:ea typeface="Raleway"/>
                <a:cs typeface="Raleway"/>
                <a:sym typeface="Raleway"/>
              </a:endParaRPr>
            </a:p>
          </p:txBody>
        </p:sp>
        <p:sp>
          <p:nvSpPr>
            <p:cNvPr id="587" name="Google Shape;587;p47"/>
            <p:cNvSpPr txBox="1"/>
            <p:nvPr/>
          </p:nvSpPr>
          <p:spPr>
            <a:xfrm>
              <a:off x="5524500" y="2000250"/>
              <a:ext cx="8574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850">
                  <a:solidFill>
                    <a:srgbClr val="475569"/>
                  </a:solidFill>
                  <a:latin typeface="Raleway"/>
                  <a:ea typeface="Raleway"/>
                  <a:cs typeface="Raleway"/>
                  <a:sym typeface="Raleway"/>
                </a:rPr>
                <a:t>Community </a:t>
              </a:r>
              <a:br>
                <a:rPr b="1" lang="en-GB" sz="850">
                  <a:solidFill>
                    <a:srgbClr val="475569"/>
                  </a:solidFill>
                  <a:latin typeface="Raleway"/>
                  <a:ea typeface="Raleway"/>
                  <a:cs typeface="Raleway"/>
                  <a:sym typeface="Raleway"/>
                </a:rPr>
              </a:br>
              <a:r>
                <a:rPr b="1" lang="en-GB" sz="850">
                  <a:solidFill>
                    <a:srgbClr val="475569"/>
                  </a:solidFill>
                  <a:latin typeface="Raleway"/>
                  <a:ea typeface="Raleway"/>
                  <a:cs typeface="Raleway"/>
                  <a:sym typeface="Raleway"/>
                </a:rPr>
                <a:t>Reports</a:t>
              </a:r>
              <a:endParaRPr b="1" sz="850">
                <a:solidFill>
                  <a:srgbClr val="475569"/>
                </a:solidFill>
                <a:latin typeface="Raleway"/>
                <a:ea typeface="Raleway"/>
                <a:cs typeface="Raleway"/>
                <a:sym typeface="Raleway"/>
              </a:endParaRPr>
            </a:p>
          </p:txBody>
        </p:sp>
        <p:sp>
          <p:nvSpPr>
            <p:cNvPr id="588" name="Google Shape;588;p47"/>
            <p:cNvSpPr txBox="1"/>
            <p:nvPr/>
          </p:nvSpPr>
          <p:spPr>
            <a:xfrm>
              <a:off x="6381750" y="2000250"/>
              <a:ext cx="11430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850">
                  <a:solidFill>
                    <a:srgbClr val="475569"/>
                  </a:solidFill>
                  <a:latin typeface="Raleway"/>
                  <a:ea typeface="Raleway"/>
                  <a:cs typeface="Raleway"/>
                  <a:sym typeface="Raleway"/>
                </a:rPr>
                <a:t>Entity Vectors</a:t>
              </a:r>
              <a:endParaRPr b="1" sz="850">
                <a:solidFill>
                  <a:srgbClr val="475569"/>
                </a:solidFill>
                <a:latin typeface="Raleway"/>
                <a:ea typeface="Raleway"/>
                <a:cs typeface="Raleway"/>
                <a:sym typeface="Raleway"/>
              </a:endParaRPr>
            </a:p>
          </p:txBody>
        </p:sp>
        <p:sp>
          <p:nvSpPr>
            <p:cNvPr id="589" name="Google Shape;589;p47"/>
            <p:cNvSpPr txBox="1"/>
            <p:nvPr/>
          </p:nvSpPr>
          <p:spPr>
            <a:xfrm>
              <a:off x="7524750" y="2000250"/>
              <a:ext cx="11430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850">
                  <a:solidFill>
                    <a:srgbClr val="475569"/>
                  </a:solidFill>
                  <a:latin typeface="Raleway"/>
                  <a:ea typeface="Raleway"/>
                  <a:cs typeface="Raleway"/>
                  <a:sym typeface="Raleway"/>
                </a:rPr>
                <a:t>Chunk Vectors</a:t>
              </a:r>
              <a:endParaRPr b="1" sz="850">
                <a:solidFill>
                  <a:srgbClr val="475569"/>
                </a:solidFill>
                <a:latin typeface="Raleway"/>
                <a:ea typeface="Raleway"/>
                <a:cs typeface="Raleway"/>
                <a:sym typeface="Raleway"/>
              </a:endParaRPr>
            </a:p>
          </p:txBody>
        </p:sp>
        <p:cxnSp>
          <p:nvCxnSpPr>
            <p:cNvPr id="590" name="Google Shape;590;p47"/>
            <p:cNvCxnSpPr/>
            <p:nvPr/>
          </p:nvCxnSpPr>
          <p:spPr>
            <a:xfrm>
              <a:off x="476250" y="2428875"/>
              <a:ext cx="8191500" cy="0"/>
            </a:xfrm>
            <a:prstGeom prst="straightConnector1">
              <a:avLst/>
            </a:prstGeom>
            <a:solidFill>
              <a:srgbClr val="FFFFFF"/>
            </a:solidFill>
            <a:ln cap="flat" cmpd="sng" w="9525">
              <a:solidFill>
                <a:srgbClr val="F1F5F9"/>
              </a:solidFill>
              <a:prstDash val="solid"/>
              <a:round/>
              <a:headEnd len="sm" w="sm" type="none"/>
              <a:tailEnd len="sm" w="sm" type="none"/>
            </a:ln>
          </p:spPr>
        </p:cxnSp>
        <p:sp>
          <p:nvSpPr>
            <p:cNvPr id="591" name="Google Shape;591;p47"/>
            <p:cNvSpPr txBox="1"/>
            <p:nvPr/>
          </p:nvSpPr>
          <p:spPr>
            <a:xfrm>
              <a:off x="476250" y="2428875"/>
              <a:ext cx="12384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900">
                  <a:solidFill>
                    <a:srgbClr val="1E293B"/>
                  </a:solidFill>
                  <a:latin typeface="Lato"/>
                  <a:ea typeface="Lato"/>
                  <a:cs typeface="Lato"/>
                  <a:sym typeface="Lato"/>
                </a:rPr>
                <a:t>Agriculture</a:t>
              </a:r>
              <a:endParaRPr b="1" sz="900">
                <a:solidFill>
                  <a:srgbClr val="1E293B"/>
                </a:solidFill>
                <a:latin typeface="Lato"/>
                <a:ea typeface="Lato"/>
                <a:cs typeface="Lato"/>
                <a:sym typeface="Lato"/>
              </a:endParaRPr>
            </a:p>
          </p:txBody>
        </p:sp>
        <p:sp>
          <p:nvSpPr>
            <p:cNvPr id="592" name="Google Shape;592;p47"/>
            <p:cNvSpPr txBox="1"/>
            <p:nvPr/>
          </p:nvSpPr>
          <p:spPr>
            <a:xfrm>
              <a:off x="1714500" y="2428875"/>
              <a:ext cx="7620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12</a:t>
              </a:r>
              <a:endParaRPr b="0" sz="900">
                <a:solidFill>
                  <a:srgbClr val="1E293B"/>
                </a:solidFill>
                <a:latin typeface="Lato"/>
                <a:ea typeface="Lato"/>
                <a:cs typeface="Lato"/>
                <a:sym typeface="Lato"/>
              </a:endParaRPr>
            </a:p>
          </p:txBody>
        </p:sp>
        <p:sp>
          <p:nvSpPr>
            <p:cNvPr id="593" name="Google Shape;593;p47"/>
            <p:cNvSpPr txBox="1"/>
            <p:nvPr/>
          </p:nvSpPr>
          <p:spPr>
            <a:xfrm>
              <a:off x="2476500" y="2428875"/>
              <a:ext cx="7620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100</a:t>
              </a:r>
              <a:endParaRPr b="0" sz="900">
                <a:solidFill>
                  <a:srgbClr val="1E293B"/>
                </a:solidFill>
                <a:latin typeface="Lato"/>
                <a:ea typeface="Lato"/>
                <a:cs typeface="Lato"/>
                <a:sym typeface="Lato"/>
              </a:endParaRPr>
            </a:p>
          </p:txBody>
        </p:sp>
        <p:sp>
          <p:nvSpPr>
            <p:cNvPr id="594" name="Google Shape;594;p47"/>
            <p:cNvSpPr txBox="1"/>
            <p:nvPr/>
          </p:nvSpPr>
          <p:spPr>
            <a:xfrm>
              <a:off x="3238500" y="2428875"/>
              <a:ext cx="7620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1,756</a:t>
              </a:r>
              <a:endParaRPr b="0" sz="900">
                <a:solidFill>
                  <a:srgbClr val="1E293B"/>
                </a:solidFill>
                <a:latin typeface="Lato"/>
                <a:ea typeface="Lato"/>
                <a:cs typeface="Lato"/>
                <a:sym typeface="Lato"/>
              </a:endParaRPr>
            </a:p>
          </p:txBody>
        </p:sp>
        <p:sp>
          <p:nvSpPr>
            <p:cNvPr id="595" name="Google Shape;595;p47"/>
            <p:cNvSpPr txBox="1"/>
            <p:nvPr/>
          </p:nvSpPr>
          <p:spPr>
            <a:xfrm>
              <a:off x="4000500" y="2428875"/>
              <a:ext cx="7620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23,224</a:t>
              </a:r>
              <a:endParaRPr b="0" sz="900">
                <a:solidFill>
                  <a:srgbClr val="1E293B"/>
                </a:solidFill>
                <a:latin typeface="Lato"/>
                <a:ea typeface="Lato"/>
                <a:cs typeface="Lato"/>
                <a:sym typeface="Lato"/>
              </a:endParaRPr>
            </a:p>
          </p:txBody>
        </p:sp>
        <p:sp>
          <p:nvSpPr>
            <p:cNvPr id="596" name="Google Shape;596;p47"/>
            <p:cNvSpPr txBox="1"/>
            <p:nvPr/>
          </p:nvSpPr>
          <p:spPr>
            <a:xfrm>
              <a:off x="4762500" y="2428875"/>
              <a:ext cx="7620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48,428</a:t>
              </a:r>
              <a:endParaRPr b="0" sz="900">
                <a:solidFill>
                  <a:srgbClr val="1E293B"/>
                </a:solidFill>
                <a:latin typeface="Lato"/>
                <a:ea typeface="Lato"/>
                <a:cs typeface="Lato"/>
                <a:sym typeface="Lato"/>
              </a:endParaRPr>
            </a:p>
          </p:txBody>
        </p:sp>
        <p:sp>
          <p:nvSpPr>
            <p:cNvPr id="597" name="Google Shape;597;p47"/>
            <p:cNvSpPr txBox="1"/>
            <p:nvPr/>
          </p:nvSpPr>
          <p:spPr>
            <a:xfrm>
              <a:off x="5524500" y="2428875"/>
              <a:ext cx="8574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4,639</a:t>
              </a:r>
              <a:endParaRPr b="0" sz="900">
                <a:solidFill>
                  <a:srgbClr val="1E293B"/>
                </a:solidFill>
                <a:latin typeface="Lato"/>
                <a:ea typeface="Lato"/>
                <a:cs typeface="Lato"/>
                <a:sym typeface="Lato"/>
              </a:endParaRPr>
            </a:p>
          </p:txBody>
        </p:sp>
        <p:sp>
          <p:nvSpPr>
            <p:cNvPr id="598" name="Google Shape;598;p47"/>
            <p:cNvSpPr txBox="1"/>
            <p:nvPr/>
          </p:nvSpPr>
          <p:spPr>
            <a:xfrm>
              <a:off x="6381750" y="2428875"/>
              <a:ext cx="11430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23,224</a:t>
              </a:r>
              <a:endParaRPr b="0" sz="900">
                <a:solidFill>
                  <a:srgbClr val="1E293B"/>
                </a:solidFill>
                <a:latin typeface="Lato"/>
                <a:ea typeface="Lato"/>
                <a:cs typeface="Lato"/>
                <a:sym typeface="Lato"/>
              </a:endParaRPr>
            </a:p>
          </p:txBody>
        </p:sp>
        <p:sp>
          <p:nvSpPr>
            <p:cNvPr id="599" name="Google Shape;599;p47"/>
            <p:cNvSpPr txBox="1"/>
            <p:nvPr/>
          </p:nvSpPr>
          <p:spPr>
            <a:xfrm>
              <a:off x="7524750" y="2428875"/>
              <a:ext cx="11430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1,756</a:t>
              </a:r>
              <a:endParaRPr b="0" sz="900">
                <a:solidFill>
                  <a:srgbClr val="1E293B"/>
                </a:solidFill>
                <a:latin typeface="Lato"/>
                <a:ea typeface="Lato"/>
                <a:cs typeface="Lato"/>
                <a:sym typeface="Lato"/>
              </a:endParaRPr>
            </a:p>
          </p:txBody>
        </p:sp>
        <p:cxnSp>
          <p:nvCxnSpPr>
            <p:cNvPr id="600" name="Google Shape;600;p47"/>
            <p:cNvCxnSpPr/>
            <p:nvPr/>
          </p:nvCxnSpPr>
          <p:spPr>
            <a:xfrm>
              <a:off x="476250" y="2905125"/>
              <a:ext cx="8191500" cy="0"/>
            </a:xfrm>
            <a:prstGeom prst="straightConnector1">
              <a:avLst/>
            </a:prstGeom>
            <a:solidFill>
              <a:srgbClr val="FFFFFF"/>
            </a:solidFill>
            <a:ln cap="flat" cmpd="sng" w="9525">
              <a:solidFill>
                <a:srgbClr val="F1F5F9"/>
              </a:solidFill>
              <a:prstDash val="solid"/>
              <a:round/>
              <a:headEnd len="sm" w="sm" type="none"/>
              <a:tailEnd len="sm" w="sm" type="none"/>
            </a:ln>
          </p:spPr>
        </p:cxnSp>
        <p:sp>
          <p:nvSpPr>
            <p:cNvPr id="601" name="Google Shape;601;p47"/>
            <p:cNvSpPr txBox="1"/>
            <p:nvPr/>
          </p:nvSpPr>
          <p:spPr>
            <a:xfrm>
              <a:off x="476250" y="2905125"/>
              <a:ext cx="12384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900">
                  <a:solidFill>
                    <a:srgbClr val="1E293B"/>
                  </a:solidFill>
                  <a:latin typeface="Lato"/>
                  <a:ea typeface="Lato"/>
                  <a:cs typeface="Lato"/>
                  <a:sym typeface="Lato"/>
                </a:rPr>
                <a:t>Mix</a:t>
              </a:r>
              <a:endParaRPr b="1" sz="900">
                <a:solidFill>
                  <a:srgbClr val="1E293B"/>
                </a:solidFill>
                <a:latin typeface="Lato"/>
                <a:ea typeface="Lato"/>
                <a:cs typeface="Lato"/>
                <a:sym typeface="Lato"/>
              </a:endParaRPr>
            </a:p>
          </p:txBody>
        </p:sp>
        <p:sp>
          <p:nvSpPr>
            <p:cNvPr id="602" name="Google Shape;602;p47"/>
            <p:cNvSpPr txBox="1"/>
            <p:nvPr/>
          </p:nvSpPr>
          <p:spPr>
            <a:xfrm>
              <a:off x="1714500" y="2905125"/>
              <a:ext cx="7620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61</a:t>
              </a:r>
              <a:endParaRPr b="0" sz="900">
                <a:solidFill>
                  <a:srgbClr val="1E293B"/>
                </a:solidFill>
                <a:latin typeface="Lato"/>
                <a:ea typeface="Lato"/>
                <a:cs typeface="Lato"/>
                <a:sym typeface="Lato"/>
              </a:endParaRPr>
            </a:p>
          </p:txBody>
        </p:sp>
        <p:sp>
          <p:nvSpPr>
            <p:cNvPr id="603" name="Google Shape;603;p47"/>
            <p:cNvSpPr txBox="1"/>
            <p:nvPr/>
          </p:nvSpPr>
          <p:spPr>
            <a:xfrm>
              <a:off x="2476500" y="2905125"/>
              <a:ext cx="7620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130</a:t>
              </a:r>
              <a:endParaRPr b="0" sz="900">
                <a:solidFill>
                  <a:srgbClr val="1E293B"/>
                </a:solidFill>
                <a:latin typeface="Lato"/>
                <a:ea typeface="Lato"/>
                <a:cs typeface="Lato"/>
                <a:sym typeface="Lato"/>
              </a:endParaRPr>
            </a:p>
          </p:txBody>
        </p:sp>
        <p:sp>
          <p:nvSpPr>
            <p:cNvPr id="604" name="Google Shape;604;p47"/>
            <p:cNvSpPr txBox="1"/>
            <p:nvPr/>
          </p:nvSpPr>
          <p:spPr>
            <a:xfrm>
              <a:off x="3238500" y="2905125"/>
              <a:ext cx="7620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579</a:t>
              </a:r>
              <a:endParaRPr b="0" sz="900">
                <a:solidFill>
                  <a:srgbClr val="1E293B"/>
                </a:solidFill>
                <a:latin typeface="Lato"/>
                <a:ea typeface="Lato"/>
                <a:cs typeface="Lato"/>
                <a:sym typeface="Lato"/>
              </a:endParaRPr>
            </a:p>
          </p:txBody>
        </p:sp>
        <p:sp>
          <p:nvSpPr>
            <p:cNvPr id="605" name="Google Shape;605;p47"/>
            <p:cNvSpPr txBox="1"/>
            <p:nvPr/>
          </p:nvSpPr>
          <p:spPr>
            <a:xfrm>
              <a:off x="4000500" y="2905125"/>
              <a:ext cx="7620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16,356</a:t>
              </a:r>
              <a:endParaRPr b="0" sz="900">
                <a:solidFill>
                  <a:srgbClr val="1E293B"/>
                </a:solidFill>
                <a:latin typeface="Lato"/>
                <a:ea typeface="Lato"/>
                <a:cs typeface="Lato"/>
                <a:sym typeface="Lato"/>
              </a:endParaRPr>
            </a:p>
          </p:txBody>
        </p:sp>
        <p:sp>
          <p:nvSpPr>
            <p:cNvPr id="606" name="Google Shape;606;p47"/>
            <p:cNvSpPr txBox="1"/>
            <p:nvPr/>
          </p:nvSpPr>
          <p:spPr>
            <a:xfrm>
              <a:off x="4762500" y="2905125"/>
              <a:ext cx="7620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25,960</a:t>
              </a:r>
              <a:endParaRPr b="0" sz="900">
                <a:solidFill>
                  <a:srgbClr val="1E293B"/>
                </a:solidFill>
                <a:latin typeface="Lato"/>
                <a:ea typeface="Lato"/>
                <a:cs typeface="Lato"/>
                <a:sym typeface="Lato"/>
              </a:endParaRPr>
            </a:p>
          </p:txBody>
        </p:sp>
        <p:sp>
          <p:nvSpPr>
            <p:cNvPr id="607" name="Google Shape;607;p47"/>
            <p:cNvSpPr txBox="1"/>
            <p:nvPr/>
          </p:nvSpPr>
          <p:spPr>
            <a:xfrm>
              <a:off x="5524500" y="2905125"/>
              <a:ext cx="8574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2,695</a:t>
              </a:r>
              <a:endParaRPr b="0" sz="900">
                <a:solidFill>
                  <a:srgbClr val="1E293B"/>
                </a:solidFill>
                <a:latin typeface="Lato"/>
                <a:ea typeface="Lato"/>
                <a:cs typeface="Lato"/>
                <a:sym typeface="Lato"/>
              </a:endParaRPr>
            </a:p>
          </p:txBody>
        </p:sp>
        <p:sp>
          <p:nvSpPr>
            <p:cNvPr id="608" name="Google Shape;608;p47"/>
            <p:cNvSpPr txBox="1"/>
            <p:nvPr/>
          </p:nvSpPr>
          <p:spPr>
            <a:xfrm>
              <a:off x="6381750" y="2905125"/>
              <a:ext cx="11430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16,356</a:t>
              </a:r>
              <a:endParaRPr b="0" sz="900">
                <a:solidFill>
                  <a:srgbClr val="1E293B"/>
                </a:solidFill>
                <a:latin typeface="Lato"/>
                <a:ea typeface="Lato"/>
                <a:cs typeface="Lato"/>
                <a:sym typeface="Lato"/>
              </a:endParaRPr>
            </a:p>
          </p:txBody>
        </p:sp>
        <p:sp>
          <p:nvSpPr>
            <p:cNvPr id="609" name="Google Shape;609;p47"/>
            <p:cNvSpPr txBox="1"/>
            <p:nvPr/>
          </p:nvSpPr>
          <p:spPr>
            <a:xfrm>
              <a:off x="7524750" y="2905125"/>
              <a:ext cx="11430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579</a:t>
              </a:r>
              <a:endParaRPr b="0" sz="900">
                <a:solidFill>
                  <a:srgbClr val="1E293B"/>
                </a:solidFill>
                <a:latin typeface="Lato"/>
                <a:ea typeface="Lato"/>
                <a:cs typeface="Lato"/>
                <a:sym typeface="Lato"/>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48"/>
          <p:cNvSpPr/>
          <p:nvPr/>
        </p:nvSpPr>
        <p:spPr>
          <a:xfrm>
            <a:off x="0" y="0"/>
            <a:ext cx="9144000" cy="485700"/>
          </a:xfrm>
          <a:prstGeom prst="rect">
            <a:avLst/>
          </a:prstGeom>
          <a:solidFill>
            <a:srgbClr val="E9ED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5" name="Google Shape;615;p48"/>
          <p:cNvSpPr/>
          <p:nvPr/>
        </p:nvSpPr>
        <p:spPr>
          <a:xfrm rot="-5400000">
            <a:off x="833475" y="23775"/>
            <a:ext cx="381000" cy="47700"/>
          </a:xfrm>
          <a:prstGeom prst="rect">
            <a:avLst/>
          </a:prstGeom>
          <a:solidFill>
            <a:srgbClr val="1A99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6" name="Google Shape;616;p48"/>
          <p:cNvSpPr/>
          <p:nvPr/>
        </p:nvSpPr>
        <p:spPr>
          <a:xfrm rot="-5400000">
            <a:off x="900150" y="23775"/>
            <a:ext cx="381000" cy="47700"/>
          </a:xfrm>
          <a:prstGeom prst="rect">
            <a:avLst/>
          </a:prstGeom>
          <a:solidFill>
            <a:srgbClr val="EB5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7" name="Google Shape;617;p48"/>
          <p:cNvSpPr txBox="1"/>
          <p:nvPr/>
        </p:nvSpPr>
        <p:spPr>
          <a:xfrm>
            <a:off x="728663" y="428625"/>
            <a:ext cx="7686600" cy="533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2200">
                <a:solidFill>
                  <a:srgbClr val="1A1A1A"/>
                </a:solidFill>
                <a:latin typeface="Raleway"/>
                <a:ea typeface="Raleway"/>
                <a:cs typeface="Raleway"/>
                <a:sym typeface="Raleway"/>
              </a:rPr>
              <a:t>Évaluation : Performance LLMaJ </a:t>
            </a:r>
            <a:endParaRPr b="1" sz="2200">
              <a:solidFill>
                <a:srgbClr val="1A1A1A"/>
              </a:solidFill>
              <a:latin typeface="Raleway"/>
              <a:ea typeface="Raleway"/>
              <a:cs typeface="Raleway"/>
              <a:sym typeface="Raleway"/>
            </a:endParaRPr>
          </a:p>
        </p:txBody>
      </p:sp>
      <p:sp>
        <p:nvSpPr>
          <p:cNvPr id="618" name="Google Shape;618;p48"/>
          <p:cNvSpPr txBox="1"/>
          <p:nvPr/>
        </p:nvSpPr>
        <p:spPr>
          <a:xfrm>
            <a:off x="776288" y="952500"/>
            <a:ext cx="7620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1100">
                <a:solidFill>
                  <a:srgbClr val="595959"/>
                </a:solidFill>
                <a:latin typeface="Lato"/>
                <a:ea typeface="Lato"/>
                <a:cs typeface="Lato"/>
                <a:sym typeface="Lato"/>
              </a:rPr>
              <a:t>Agriculture : </a:t>
            </a:r>
            <a:r>
              <a:rPr b="0" lang="en-GB" sz="1100">
                <a:solidFill>
                  <a:srgbClr val="595959"/>
                </a:solidFill>
                <a:latin typeface="Lato"/>
                <a:ea typeface="Lato"/>
                <a:cs typeface="Lato"/>
                <a:sym typeface="Lato"/>
              </a:rPr>
              <a:t>Analyse comparative des variantes sur un échantillon de </a:t>
            </a:r>
            <a:r>
              <a:rPr b="0" lang="en-GB" sz="1100" u="sng">
                <a:solidFill>
                  <a:srgbClr val="595959"/>
                </a:solidFill>
                <a:latin typeface="Lato"/>
                <a:ea typeface="Lato"/>
                <a:cs typeface="Lato"/>
                <a:sym typeface="Lato"/>
              </a:rPr>
              <a:t>30 questions</a:t>
            </a:r>
            <a:r>
              <a:rPr b="0" lang="en-GB" sz="1100">
                <a:solidFill>
                  <a:srgbClr val="595959"/>
                </a:solidFill>
                <a:latin typeface="Lato"/>
                <a:ea typeface="Lato"/>
                <a:cs typeface="Lato"/>
                <a:sym typeface="Lato"/>
              </a:rPr>
              <a:t>.</a:t>
            </a:r>
            <a:endParaRPr b="1" sz="1100">
              <a:solidFill>
                <a:srgbClr val="595959"/>
              </a:solidFill>
              <a:latin typeface="Lato"/>
              <a:ea typeface="Lato"/>
              <a:cs typeface="Lato"/>
              <a:sym typeface="Lato"/>
            </a:endParaRPr>
          </a:p>
        </p:txBody>
      </p:sp>
      <p:sp>
        <p:nvSpPr>
          <p:cNvPr id="619" name="Google Shape;619;p48"/>
          <p:cNvSpPr/>
          <p:nvPr/>
        </p:nvSpPr>
        <p:spPr>
          <a:xfrm>
            <a:off x="762000" y="1333500"/>
            <a:ext cx="1047900" cy="266700"/>
          </a:xfrm>
          <a:prstGeom prst="roundRect">
            <a:avLst>
              <a:gd fmla="val 50000" name="adj"/>
            </a:avLst>
          </a:prstGeom>
          <a:solidFill>
            <a:srgbClr val="EB5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0" name="Google Shape;620;p48"/>
          <p:cNvSpPr txBox="1"/>
          <p:nvPr/>
        </p:nvSpPr>
        <p:spPr>
          <a:xfrm>
            <a:off x="762000" y="1333500"/>
            <a:ext cx="1047900" cy="266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000">
                <a:solidFill>
                  <a:srgbClr val="FFFFFF"/>
                </a:solidFill>
                <a:latin typeface="Raleway"/>
                <a:ea typeface="Raleway"/>
                <a:cs typeface="Raleway"/>
                <a:sym typeface="Raleway"/>
              </a:rPr>
              <a:t>AGRICULTURE</a:t>
            </a:r>
            <a:endParaRPr b="1" sz="1000">
              <a:solidFill>
                <a:srgbClr val="FFFFFF"/>
              </a:solidFill>
              <a:latin typeface="Raleway"/>
              <a:ea typeface="Raleway"/>
              <a:cs typeface="Raleway"/>
              <a:sym typeface="Raleway"/>
            </a:endParaRPr>
          </a:p>
        </p:txBody>
      </p:sp>
      <p:sp>
        <p:nvSpPr>
          <p:cNvPr id="621" name="Google Shape;621;p48"/>
          <p:cNvSpPr/>
          <p:nvPr/>
        </p:nvSpPr>
        <p:spPr>
          <a:xfrm>
            <a:off x="381000" y="1714500"/>
            <a:ext cx="8382000" cy="2714700"/>
          </a:xfrm>
          <a:prstGeom prst="roundRect">
            <a:avLst>
              <a:gd fmla="val 4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2" name="Google Shape;622;p48"/>
          <p:cNvSpPr/>
          <p:nvPr/>
        </p:nvSpPr>
        <p:spPr>
          <a:xfrm>
            <a:off x="381000" y="1714500"/>
            <a:ext cx="8382000" cy="428700"/>
          </a:xfrm>
          <a:prstGeom prst="roundRect">
            <a:avLst>
              <a:gd fmla="val 26666"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623" name="Google Shape;623;p48"/>
          <p:cNvGrpSpPr/>
          <p:nvPr/>
        </p:nvGrpSpPr>
        <p:grpSpPr>
          <a:xfrm>
            <a:off x="571500" y="1714500"/>
            <a:ext cx="8096250" cy="428700"/>
            <a:chOff x="571500" y="1714500"/>
            <a:chExt cx="8096250" cy="428700"/>
          </a:xfrm>
        </p:grpSpPr>
        <p:sp>
          <p:nvSpPr>
            <p:cNvPr id="624" name="Google Shape;624;p48"/>
            <p:cNvSpPr txBox="1"/>
            <p:nvPr/>
          </p:nvSpPr>
          <p:spPr>
            <a:xfrm>
              <a:off x="571500" y="1714500"/>
              <a:ext cx="1143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1000">
                  <a:solidFill>
                    <a:srgbClr val="475569"/>
                  </a:solidFill>
                  <a:latin typeface="Raleway"/>
                  <a:ea typeface="Raleway"/>
                  <a:cs typeface="Raleway"/>
                  <a:sym typeface="Raleway"/>
                </a:rPr>
                <a:t>V</a:t>
              </a:r>
              <a:r>
                <a:rPr b="1" lang="en-GB" sz="1000">
                  <a:solidFill>
                    <a:srgbClr val="475569"/>
                  </a:solidFill>
                  <a:latin typeface="Raleway"/>
                  <a:ea typeface="Raleway"/>
                  <a:cs typeface="Raleway"/>
                  <a:sym typeface="Raleway"/>
                </a:rPr>
                <a:t>ariant</a:t>
              </a:r>
              <a:endParaRPr b="1" sz="1000">
                <a:solidFill>
                  <a:srgbClr val="475569"/>
                </a:solidFill>
                <a:latin typeface="Raleway"/>
                <a:ea typeface="Raleway"/>
                <a:cs typeface="Raleway"/>
                <a:sym typeface="Raleway"/>
              </a:endParaRPr>
            </a:p>
          </p:txBody>
        </p:sp>
        <p:sp>
          <p:nvSpPr>
            <p:cNvPr id="625" name="Google Shape;625;p48"/>
            <p:cNvSpPr txBox="1"/>
            <p:nvPr/>
          </p:nvSpPr>
          <p:spPr>
            <a:xfrm>
              <a:off x="1714500" y="1714500"/>
              <a:ext cx="6669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000">
                  <a:solidFill>
                    <a:srgbClr val="475569"/>
                  </a:solidFill>
                  <a:latin typeface="Raleway"/>
                  <a:ea typeface="Raleway"/>
                  <a:cs typeface="Raleway"/>
                  <a:sym typeface="Raleway"/>
                </a:rPr>
                <a:t>W</a:t>
              </a:r>
              <a:r>
                <a:rPr b="1" lang="en-GB" sz="1000">
                  <a:solidFill>
                    <a:srgbClr val="475569"/>
                  </a:solidFill>
                  <a:latin typeface="Raleway"/>
                  <a:ea typeface="Raleway"/>
                  <a:cs typeface="Raleway"/>
                  <a:sym typeface="Raleway"/>
                </a:rPr>
                <a:t>ins</a:t>
              </a:r>
              <a:endParaRPr b="1" sz="1000">
                <a:solidFill>
                  <a:srgbClr val="475569"/>
                </a:solidFill>
                <a:latin typeface="Raleway"/>
                <a:ea typeface="Raleway"/>
                <a:cs typeface="Raleway"/>
                <a:sym typeface="Raleway"/>
              </a:endParaRPr>
            </a:p>
          </p:txBody>
        </p:sp>
        <p:sp>
          <p:nvSpPr>
            <p:cNvPr id="626" name="Google Shape;626;p48"/>
            <p:cNvSpPr txBox="1"/>
            <p:nvPr/>
          </p:nvSpPr>
          <p:spPr>
            <a:xfrm>
              <a:off x="2381250" y="1714500"/>
              <a:ext cx="6669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000">
                  <a:solidFill>
                    <a:srgbClr val="475569"/>
                  </a:solidFill>
                  <a:latin typeface="Raleway"/>
                  <a:ea typeface="Raleway"/>
                  <a:cs typeface="Raleway"/>
                  <a:sym typeface="Raleway"/>
                </a:rPr>
                <a:t>L</a:t>
              </a:r>
              <a:r>
                <a:rPr b="1" lang="en-GB" sz="1000">
                  <a:solidFill>
                    <a:srgbClr val="475569"/>
                  </a:solidFill>
                  <a:latin typeface="Raleway"/>
                  <a:ea typeface="Raleway"/>
                  <a:cs typeface="Raleway"/>
                  <a:sym typeface="Raleway"/>
                </a:rPr>
                <a:t>osses</a:t>
              </a:r>
              <a:endParaRPr b="1" sz="1000">
                <a:solidFill>
                  <a:srgbClr val="475569"/>
                </a:solidFill>
                <a:latin typeface="Raleway"/>
                <a:ea typeface="Raleway"/>
                <a:cs typeface="Raleway"/>
                <a:sym typeface="Raleway"/>
              </a:endParaRPr>
            </a:p>
          </p:txBody>
        </p:sp>
        <p:sp>
          <p:nvSpPr>
            <p:cNvPr id="627" name="Google Shape;627;p48"/>
            <p:cNvSpPr txBox="1"/>
            <p:nvPr/>
          </p:nvSpPr>
          <p:spPr>
            <a:xfrm>
              <a:off x="3048000" y="1714500"/>
              <a:ext cx="5715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000">
                  <a:solidFill>
                    <a:srgbClr val="475569"/>
                  </a:solidFill>
                  <a:latin typeface="Raleway"/>
                  <a:ea typeface="Raleway"/>
                  <a:cs typeface="Raleway"/>
                  <a:sym typeface="Raleway"/>
                </a:rPr>
                <a:t>T</a:t>
              </a:r>
              <a:r>
                <a:rPr b="1" lang="en-GB" sz="1000">
                  <a:solidFill>
                    <a:srgbClr val="475569"/>
                  </a:solidFill>
                  <a:latin typeface="Raleway"/>
                  <a:ea typeface="Raleway"/>
                  <a:cs typeface="Raleway"/>
                  <a:sym typeface="Raleway"/>
                </a:rPr>
                <a:t>ies</a:t>
              </a:r>
              <a:endParaRPr b="1" sz="1000">
                <a:solidFill>
                  <a:srgbClr val="475569"/>
                </a:solidFill>
                <a:latin typeface="Raleway"/>
                <a:ea typeface="Raleway"/>
                <a:cs typeface="Raleway"/>
                <a:sym typeface="Raleway"/>
              </a:endParaRPr>
            </a:p>
          </p:txBody>
        </p:sp>
        <p:sp>
          <p:nvSpPr>
            <p:cNvPr id="628" name="Google Shape;628;p48"/>
            <p:cNvSpPr txBox="1"/>
            <p:nvPr/>
          </p:nvSpPr>
          <p:spPr>
            <a:xfrm>
              <a:off x="3619500" y="1714500"/>
              <a:ext cx="7620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000">
                  <a:solidFill>
                    <a:srgbClr val="475569"/>
                  </a:solidFill>
                  <a:latin typeface="Raleway"/>
                  <a:ea typeface="Raleway"/>
                  <a:cs typeface="Raleway"/>
                  <a:sym typeface="Raleway"/>
                </a:rPr>
                <a:t>Win Rate</a:t>
              </a:r>
              <a:endParaRPr b="1" sz="1000">
                <a:solidFill>
                  <a:srgbClr val="475569"/>
                </a:solidFill>
                <a:latin typeface="Raleway"/>
                <a:ea typeface="Raleway"/>
                <a:cs typeface="Raleway"/>
                <a:sym typeface="Raleway"/>
              </a:endParaRPr>
            </a:p>
          </p:txBody>
        </p:sp>
        <p:sp>
          <p:nvSpPr>
            <p:cNvPr id="629" name="Google Shape;629;p48"/>
            <p:cNvSpPr txBox="1"/>
            <p:nvPr/>
          </p:nvSpPr>
          <p:spPr>
            <a:xfrm>
              <a:off x="4381500" y="1714500"/>
              <a:ext cx="7620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000">
                  <a:solidFill>
                    <a:srgbClr val="475569"/>
                  </a:solidFill>
                  <a:latin typeface="Raleway"/>
                  <a:ea typeface="Raleway"/>
                  <a:cs typeface="Raleway"/>
                  <a:sym typeface="Raleway"/>
                </a:rPr>
                <a:t>Loss Rate</a:t>
              </a:r>
              <a:endParaRPr b="1" sz="1000">
                <a:solidFill>
                  <a:srgbClr val="475569"/>
                </a:solidFill>
                <a:latin typeface="Raleway"/>
                <a:ea typeface="Raleway"/>
                <a:cs typeface="Raleway"/>
                <a:sym typeface="Raleway"/>
              </a:endParaRPr>
            </a:p>
          </p:txBody>
        </p:sp>
        <p:sp>
          <p:nvSpPr>
            <p:cNvPr id="630" name="Google Shape;630;p48"/>
            <p:cNvSpPr txBox="1"/>
            <p:nvPr/>
          </p:nvSpPr>
          <p:spPr>
            <a:xfrm>
              <a:off x="5143500" y="1714500"/>
              <a:ext cx="7620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000">
                  <a:solidFill>
                    <a:srgbClr val="475569"/>
                  </a:solidFill>
                  <a:latin typeface="Raleway"/>
                  <a:ea typeface="Raleway"/>
                  <a:cs typeface="Raleway"/>
                  <a:sym typeface="Raleway"/>
                </a:rPr>
                <a:t>Tie rate</a:t>
              </a:r>
              <a:endParaRPr b="1" sz="1000">
                <a:solidFill>
                  <a:srgbClr val="475569"/>
                </a:solidFill>
                <a:latin typeface="Raleway"/>
                <a:ea typeface="Raleway"/>
                <a:cs typeface="Raleway"/>
                <a:sym typeface="Raleway"/>
              </a:endParaRPr>
            </a:p>
          </p:txBody>
        </p:sp>
        <p:sp>
          <p:nvSpPr>
            <p:cNvPr id="631" name="Google Shape;631;p48"/>
            <p:cNvSpPr txBox="1"/>
            <p:nvPr/>
          </p:nvSpPr>
          <p:spPr>
            <a:xfrm>
              <a:off x="5905500" y="1714500"/>
              <a:ext cx="8574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000">
                  <a:solidFill>
                    <a:srgbClr val="475569"/>
                  </a:solidFill>
                  <a:latin typeface="Raleway"/>
                  <a:ea typeface="Raleway"/>
                  <a:cs typeface="Raleway"/>
                  <a:sym typeface="Raleway"/>
                </a:rPr>
                <a:t>Latency (s)</a:t>
              </a:r>
              <a:endParaRPr b="1" sz="1000">
                <a:solidFill>
                  <a:srgbClr val="475569"/>
                </a:solidFill>
                <a:latin typeface="Raleway"/>
                <a:ea typeface="Raleway"/>
                <a:cs typeface="Raleway"/>
                <a:sym typeface="Raleway"/>
              </a:endParaRPr>
            </a:p>
          </p:txBody>
        </p:sp>
        <p:sp>
          <p:nvSpPr>
            <p:cNvPr id="632" name="Google Shape;632;p48"/>
            <p:cNvSpPr txBox="1"/>
            <p:nvPr/>
          </p:nvSpPr>
          <p:spPr>
            <a:xfrm>
              <a:off x="6762750" y="1714500"/>
              <a:ext cx="9525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000">
                  <a:solidFill>
                    <a:srgbClr val="475569"/>
                  </a:solidFill>
                  <a:latin typeface="Raleway"/>
                  <a:ea typeface="Raleway"/>
                  <a:cs typeface="Raleway"/>
                  <a:sym typeface="Raleway"/>
                </a:rPr>
                <a:t>T</a:t>
              </a:r>
              <a:r>
                <a:rPr b="1" lang="en-GB" sz="1000">
                  <a:solidFill>
                    <a:srgbClr val="475569"/>
                  </a:solidFill>
                  <a:latin typeface="Raleway"/>
                  <a:ea typeface="Raleway"/>
                  <a:cs typeface="Raleway"/>
                  <a:sym typeface="Raleway"/>
                </a:rPr>
                <a:t>okens</a:t>
              </a:r>
              <a:endParaRPr b="1" sz="1000">
                <a:solidFill>
                  <a:srgbClr val="475569"/>
                </a:solidFill>
                <a:latin typeface="Raleway"/>
                <a:ea typeface="Raleway"/>
                <a:cs typeface="Raleway"/>
                <a:sym typeface="Raleway"/>
              </a:endParaRPr>
            </a:p>
          </p:txBody>
        </p:sp>
        <p:sp>
          <p:nvSpPr>
            <p:cNvPr id="633" name="Google Shape;633;p48"/>
            <p:cNvSpPr txBox="1"/>
            <p:nvPr/>
          </p:nvSpPr>
          <p:spPr>
            <a:xfrm>
              <a:off x="7715250" y="1714500"/>
              <a:ext cx="9525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000">
                  <a:solidFill>
                    <a:srgbClr val="475569"/>
                  </a:solidFill>
                  <a:latin typeface="Raleway"/>
                  <a:ea typeface="Raleway"/>
                  <a:cs typeface="Raleway"/>
                  <a:sym typeface="Raleway"/>
                </a:rPr>
                <a:t>B</a:t>
              </a:r>
              <a:r>
                <a:rPr b="1" lang="en-GB" sz="1000">
                  <a:solidFill>
                    <a:srgbClr val="475569"/>
                  </a:solidFill>
                  <a:latin typeface="Raleway"/>
                  <a:ea typeface="Raleway"/>
                  <a:cs typeface="Raleway"/>
                  <a:sym typeface="Raleway"/>
                </a:rPr>
                <a:t>ridge Edges</a:t>
              </a:r>
              <a:endParaRPr b="1" sz="1000">
                <a:solidFill>
                  <a:srgbClr val="475569"/>
                </a:solidFill>
                <a:latin typeface="Raleway"/>
                <a:ea typeface="Raleway"/>
                <a:cs typeface="Raleway"/>
                <a:sym typeface="Raleway"/>
              </a:endParaRPr>
            </a:p>
          </p:txBody>
        </p:sp>
      </p:grpSp>
      <p:grpSp>
        <p:nvGrpSpPr>
          <p:cNvPr id="634" name="Google Shape;634;p48"/>
          <p:cNvGrpSpPr/>
          <p:nvPr/>
        </p:nvGrpSpPr>
        <p:grpSpPr>
          <a:xfrm>
            <a:off x="381000" y="2143125"/>
            <a:ext cx="8382000" cy="381000"/>
            <a:chOff x="381000" y="2143125"/>
            <a:chExt cx="8382000" cy="381000"/>
          </a:xfrm>
        </p:grpSpPr>
        <p:cxnSp>
          <p:nvCxnSpPr>
            <p:cNvPr id="635" name="Google Shape;635;p48"/>
            <p:cNvCxnSpPr/>
            <p:nvPr/>
          </p:nvCxnSpPr>
          <p:spPr>
            <a:xfrm>
              <a:off x="381000" y="2524125"/>
              <a:ext cx="8382000" cy="0"/>
            </a:xfrm>
            <a:prstGeom prst="straightConnector1">
              <a:avLst/>
            </a:prstGeom>
            <a:solidFill>
              <a:srgbClr val="FFFFFF"/>
            </a:solidFill>
            <a:ln cap="flat" cmpd="sng" w="9525">
              <a:solidFill>
                <a:srgbClr val="E2E8F0"/>
              </a:solidFill>
              <a:prstDash val="solid"/>
              <a:round/>
              <a:headEnd len="sm" w="sm" type="none"/>
              <a:tailEnd len="sm" w="sm" type="none"/>
            </a:ln>
          </p:spPr>
        </p:cxnSp>
        <p:sp>
          <p:nvSpPr>
            <p:cNvPr id="636" name="Google Shape;636;p48"/>
            <p:cNvSpPr txBox="1"/>
            <p:nvPr/>
          </p:nvSpPr>
          <p:spPr>
            <a:xfrm>
              <a:off x="571500" y="2143125"/>
              <a:ext cx="1143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900">
                  <a:solidFill>
                    <a:srgbClr val="1E293B"/>
                  </a:solidFill>
                  <a:latin typeface="Lato"/>
                  <a:ea typeface="Lato"/>
                  <a:cs typeface="Lato"/>
                  <a:sym typeface="Lato"/>
                </a:rPr>
                <a:t>hi_mcts</a:t>
              </a:r>
              <a:endParaRPr b="1" sz="900">
                <a:solidFill>
                  <a:srgbClr val="1E293B"/>
                </a:solidFill>
                <a:latin typeface="Lato"/>
                <a:ea typeface="Lato"/>
                <a:cs typeface="Lato"/>
                <a:sym typeface="Lato"/>
              </a:endParaRPr>
            </a:p>
          </p:txBody>
        </p:sp>
        <p:sp>
          <p:nvSpPr>
            <p:cNvPr id="637" name="Google Shape;637;p48"/>
            <p:cNvSpPr txBox="1"/>
            <p:nvPr/>
          </p:nvSpPr>
          <p:spPr>
            <a:xfrm>
              <a:off x="1714500" y="2143125"/>
              <a:ext cx="6669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32</a:t>
              </a:r>
              <a:endParaRPr b="0" sz="900">
                <a:solidFill>
                  <a:srgbClr val="1E293B"/>
                </a:solidFill>
                <a:latin typeface="Lato"/>
                <a:ea typeface="Lato"/>
                <a:cs typeface="Lato"/>
                <a:sym typeface="Lato"/>
              </a:endParaRPr>
            </a:p>
          </p:txBody>
        </p:sp>
        <p:sp>
          <p:nvSpPr>
            <p:cNvPr id="638" name="Google Shape;638;p48"/>
            <p:cNvSpPr txBox="1"/>
            <p:nvPr/>
          </p:nvSpPr>
          <p:spPr>
            <a:xfrm>
              <a:off x="2381250" y="2143125"/>
              <a:ext cx="6669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27</a:t>
              </a:r>
              <a:endParaRPr b="0" sz="900">
                <a:solidFill>
                  <a:srgbClr val="1E293B"/>
                </a:solidFill>
                <a:latin typeface="Lato"/>
                <a:ea typeface="Lato"/>
                <a:cs typeface="Lato"/>
                <a:sym typeface="Lato"/>
              </a:endParaRPr>
            </a:p>
          </p:txBody>
        </p:sp>
        <p:sp>
          <p:nvSpPr>
            <p:cNvPr id="639" name="Google Shape;639;p48"/>
            <p:cNvSpPr txBox="1"/>
            <p:nvPr/>
          </p:nvSpPr>
          <p:spPr>
            <a:xfrm>
              <a:off x="3048000" y="2143125"/>
              <a:ext cx="571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1</a:t>
              </a:r>
              <a:endParaRPr b="0" sz="900">
                <a:solidFill>
                  <a:srgbClr val="1E293B"/>
                </a:solidFill>
                <a:latin typeface="Lato"/>
                <a:ea typeface="Lato"/>
                <a:cs typeface="Lato"/>
                <a:sym typeface="Lato"/>
              </a:endParaRPr>
            </a:p>
          </p:txBody>
        </p:sp>
        <p:sp>
          <p:nvSpPr>
            <p:cNvPr id="640" name="Google Shape;640;p48"/>
            <p:cNvSpPr txBox="1"/>
            <p:nvPr/>
          </p:nvSpPr>
          <p:spPr>
            <a:xfrm>
              <a:off x="3619500" y="2143125"/>
              <a:ext cx="762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000">
                  <a:solidFill>
                    <a:srgbClr val="EB5600"/>
                  </a:solidFill>
                  <a:latin typeface="Lato"/>
                  <a:ea typeface="Lato"/>
                  <a:cs typeface="Lato"/>
                  <a:sym typeface="Lato"/>
                </a:rPr>
                <a:t>53 %</a:t>
              </a:r>
              <a:endParaRPr b="1" sz="1000">
                <a:solidFill>
                  <a:srgbClr val="EB5600"/>
                </a:solidFill>
                <a:latin typeface="Lato"/>
                <a:ea typeface="Lato"/>
                <a:cs typeface="Lato"/>
                <a:sym typeface="Lato"/>
              </a:endParaRPr>
            </a:p>
          </p:txBody>
        </p:sp>
        <p:sp>
          <p:nvSpPr>
            <p:cNvPr id="641" name="Google Shape;641;p48"/>
            <p:cNvSpPr txBox="1"/>
            <p:nvPr/>
          </p:nvSpPr>
          <p:spPr>
            <a:xfrm>
              <a:off x="4381500" y="2143125"/>
              <a:ext cx="762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0.45</a:t>
              </a:r>
              <a:endParaRPr b="0" sz="900">
                <a:solidFill>
                  <a:srgbClr val="1E293B"/>
                </a:solidFill>
                <a:latin typeface="Lato"/>
                <a:ea typeface="Lato"/>
                <a:cs typeface="Lato"/>
                <a:sym typeface="Lato"/>
              </a:endParaRPr>
            </a:p>
          </p:txBody>
        </p:sp>
        <p:sp>
          <p:nvSpPr>
            <p:cNvPr id="642" name="Google Shape;642;p48"/>
            <p:cNvSpPr txBox="1"/>
            <p:nvPr/>
          </p:nvSpPr>
          <p:spPr>
            <a:xfrm>
              <a:off x="5143500" y="2143125"/>
              <a:ext cx="762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0.02</a:t>
              </a:r>
              <a:endParaRPr b="0" sz="900">
                <a:solidFill>
                  <a:srgbClr val="1E293B"/>
                </a:solidFill>
                <a:latin typeface="Lato"/>
                <a:ea typeface="Lato"/>
                <a:cs typeface="Lato"/>
                <a:sym typeface="Lato"/>
              </a:endParaRPr>
            </a:p>
          </p:txBody>
        </p:sp>
        <p:sp>
          <p:nvSpPr>
            <p:cNvPr id="643" name="Google Shape;643;p48"/>
            <p:cNvSpPr txBox="1"/>
            <p:nvPr/>
          </p:nvSpPr>
          <p:spPr>
            <a:xfrm>
              <a:off x="5905500" y="2143125"/>
              <a:ext cx="8574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2.04</a:t>
              </a:r>
              <a:endParaRPr b="0" sz="900">
                <a:solidFill>
                  <a:srgbClr val="1E293B"/>
                </a:solidFill>
                <a:latin typeface="Lato"/>
                <a:ea typeface="Lato"/>
                <a:cs typeface="Lato"/>
                <a:sym typeface="Lato"/>
              </a:endParaRPr>
            </a:p>
          </p:txBody>
        </p:sp>
        <p:sp>
          <p:nvSpPr>
            <p:cNvPr id="644" name="Google Shape;644;p48"/>
            <p:cNvSpPr txBox="1"/>
            <p:nvPr/>
          </p:nvSpPr>
          <p:spPr>
            <a:xfrm>
              <a:off x="6762750" y="2143125"/>
              <a:ext cx="952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4990</a:t>
              </a:r>
              <a:endParaRPr b="0" sz="900">
                <a:solidFill>
                  <a:srgbClr val="1E293B"/>
                </a:solidFill>
                <a:latin typeface="Lato"/>
                <a:ea typeface="Lato"/>
                <a:cs typeface="Lato"/>
                <a:sym typeface="Lato"/>
              </a:endParaRPr>
            </a:p>
          </p:txBody>
        </p:sp>
        <p:sp>
          <p:nvSpPr>
            <p:cNvPr id="645" name="Google Shape;645;p48"/>
            <p:cNvSpPr txBox="1"/>
            <p:nvPr/>
          </p:nvSpPr>
          <p:spPr>
            <a:xfrm>
              <a:off x="7715250" y="2143125"/>
              <a:ext cx="952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14.93</a:t>
              </a:r>
              <a:endParaRPr b="0" sz="900">
                <a:solidFill>
                  <a:srgbClr val="1E293B"/>
                </a:solidFill>
                <a:latin typeface="Lato"/>
                <a:ea typeface="Lato"/>
                <a:cs typeface="Lato"/>
                <a:sym typeface="Lato"/>
              </a:endParaRPr>
            </a:p>
          </p:txBody>
        </p:sp>
      </p:grpSp>
      <p:grpSp>
        <p:nvGrpSpPr>
          <p:cNvPr id="646" name="Google Shape;646;p48"/>
          <p:cNvGrpSpPr/>
          <p:nvPr/>
        </p:nvGrpSpPr>
        <p:grpSpPr>
          <a:xfrm>
            <a:off x="381000" y="2524125"/>
            <a:ext cx="8382000" cy="381000"/>
            <a:chOff x="381000" y="2524125"/>
            <a:chExt cx="8382000" cy="381000"/>
          </a:xfrm>
        </p:grpSpPr>
        <p:cxnSp>
          <p:nvCxnSpPr>
            <p:cNvPr id="647" name="Google Shape;647;p48"/>
            <p:cNvCxnSpPr/>
            <p:nvPr/>
          </p:nvCxnSpPr>
          <p:spPr>
            <a:xfrm>
              <a:off x="381000" y="2905125"/>
              <a:ext cx="8382000" cy="0"/>
            </a:xfrm>
            <a:prstGeom prst="straightConnector1">
              <a:avLst/>
            </a:prstGeom>
            <a:solidFill>
              <a:srgbClr val="FFFFFF"/>
            </a:solidFill>
            <a:ln cap="flat" cmpd="sng" w="9525">
              <a:solidFill>
                <a:srgbClr val="E2E8F0"/>
              </a:solidFill>
              <a:prstDash val="solid"/>
              <a:round/>
              <a:headEnd len="sm" w="sm" type="none"/>
              <a:tailEnd len="sm" w="sm" type="none"/>
            </a:ln>
          </p:spPr>
        </p:cxnSp>
        <p:sp>
          <p:nvSpPr>
            <p:cNvPr id="648" name="Google Shape;648;p48"/>
            <p:cNvSpPr txBox="1"/>
            <p:nvPr/>
          </p:nvSpPr>
          <p:spPr>
            <a:xfrm>
              <a:off x="571500" y="2524125"/>
              <a:ext cx="1143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900">
                  <a:solidFill>
                    <a:srgbClr val="1E293B"/>
                  </a:solidFill>
                  <a:latin typeface="Lato"/>
                  <a:ea typeface="Lato"/>
                  <a:cs typeface="Lato"/>
                  <a:sym typeface="Lato"/>
                </a:rPr>
                <a:t>hi_minmax</a:t>
              </a:r>
              <a:endParaRPr b="1" sz="900">
                <a:solidFill>
                  <a:srgbClr val="1E293B"/>
                </a:solidFill>
                <a:latin typeface="Lato"/>
                <a:ea typeface="Lato"/>
                <a:cs typeface="Lato"/>
                <a:sym typeface="Lato"/>
              </a:endParaRPr>
            </a:p>
          </p:txBody>
        </p:sp>
        <p:sp>
          <p:nvSpPr>
            <p:cNvPr id="649" name="Google Shape;649;p48"/>
            <p:cNvSpPr txBox="1"/>
            <p:nvPr/>
          </p:nvSpPr>
          <p:spPr>
            <a:xfrm>
              <a:off x="1714500" y="2524125"/>
              <a:ext cx="6669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27</a:t>
              </a:r>
              <a:endParaRPr b="0" sz="900">
                <a:solidFill>
                  <a:srgbClr val="1E293B"/>
                </a:solidFill>
                <a:latin typeface="Lato"/>
                <a:ea typeface="Lato"/>
                <a:cs typeface="Lato"/>
                <a:sym typeface="Lato"/>
              </a:endParaRPr>
            </a:p>
          </p:txBody>
        </p:sp>
        <p:sp>
          <p:nvSpPr>
            <p:cNvPr id="650" name="Google Shape;650;p48"/>
            <p:cNvSpPr txBox="1"/>
            <p:nvPr/>
          </p:nvSpPr>
          <p:spPr>
            <a:xfrm>
              <a:off x="2381250" y="2524125"/>
              <a:ext cx="6669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32</a:t>
              </a:r>
              <a:endParaRPr b="0" sz="900">
                <a:solidFill>
                  <a:srgbClr val="1E293B"/>
                </a:solidFill>
                <a:latin typeface="Lato"/>
                <a:ea typeface="Lato"/>
                <a:cs typeface="Lato"/>
                <a:sym typeface="Lato"/>
              </a:endParaRPr>
            </a:p>
          </p:txBody>
        </p:sp>
        <p:sp>
          <p:nvSpPr>
            <p:cNvPr id="651" name="Google Shape;651;p48"/>
            <p:cNvSpPr txBox="1"/>
            <p:nvPr/>
          </p:nvSpPr>
          <p:spPr>
            <a:xfrm>
              <a:off x="3048000" y="2524125"/>
              <a:ext cx="571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1</a:t>
              </a:r>
              <a:endParaRPr b="0" sz="900">
                <a:solidFill>
                  <a:srgbClr val="1E293B"/>
                </a:solidFill>
                <a:latin typeface="Lato"/>
                <a:ea typeface="Lato"/>
                <a:cs typeface="Lato"/>
                <a:sym typeface="Lato"/>
              </a:endParaRPr>
            </a:p>
          </p:txBody>
        </p:sp>
        <p:sp>
          <p:nvSpPr>
            <p:cNvPr id="652" name="Google Shape;652;p48"/>
            <p:cNvSpPr txBox="1"/>
            <p:nvPr/>
          </p:nvSpPr>
          <p:spPr>
            <a:xfrm>
              <a:off x="3619500" y="2524125"/>
              <a:ext cx="762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000">
                  <a:solidFill>
                    <a:srgbClr val="EB5600"/>
                  </a:solidFill>
                  <a:latin typeface="Lato"/>
                  <a:ea typeface="Lato"/>
                  <a:cs typeface="Lato"/>
                  <a:sym typeface="Lato"/>
                </a:rPr>
                <a:t>45 %</a:t>
              </a:r>
              <a:endParaRPr b="1" sz="1000">
                <a:solidFill>
                  <a:srgbClr val="EB5600"/>
                </a:solidFill>
                <a:latin typeface="Lato"/>
                <a:ea typeface="Lato"/>
                <a:cs typeface="Lato"/>
                <a:sym typeface="Lato"/>
              </a:endParaRPr>
            </a:p>
          </p:txBody>
        </p:sp>
        <p:sp>
          <p:nvSpPr>
            <p:cNvPr id="653" name="Google Shape;653;p48"/>
            <p:cNvSpPr txBox="1"/>
            <p:nvPr/>
          </p:nvSpPr>
          <p:spPr>
            <a:xfrm>
              <a:off x="4381500" y="2524125"/>
              <a:ext cx="762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0.53</a:t>
              </a:r>
              <a:endParaRPr b="0" sz="900">
                <a:solidFill>
                  <a:srgbClr val="1E293B"/>
                </a:solidFill>
                <a:latin typeface="Lato"/>
                <a:ea typeface="Lato"/>
                <a:cs typeface="Lato"/>
                <a:sym typeface="Lato"/>
              </a:endParaRPr>
            </a:p>
          </p:txBody>
        </p:sp>
        <p:sp>
          <p:nvSpPr>
            <p:cNvPr id="654" name="Google Shape;654;p48"/>
            <p:cNvSpPr txBox="1"/>
            <p:nvPr/>
          </p:nvSpPr>
          <p:spPr>
            <a:xfrm>
              <a:off x="5143500" y="2524125"/>
              <a:ext cx="762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0.02</a:t>
              </a:r>
              <a:endParaRPr b="0" sz="900">
                <a:solidFill>
                  <a:srgbClr val="1E293B"/>
                </a:solidFill>
                <a:latin typeface="Lato"/>
                <a:ea typeface="Lato"/>
                <a:cs typeface="Lato"/>
                <a:sym typeface="Lato"/>
              </a:endParaRPr>
            </a:p>
          </p:txBody>
        </p:sp>
        <p:sp>
          <p:nvSpPr>
            <p:cNvPr id="655" name="Google Shape;655;p48"/>
            <p:cNvSpPr txBox="1"/>
            <p:nvPr/>
          </p:nvSpPr>
          <p:spPr>
            <a:xfrm>
              <a:off x="5905500" y="2524125"/>
              <a:ext cx="8574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5.14</a:t>
              </a:r>
              <a:endParaRPr b="0" sz="900">
                <a:solidFill>
                  <a:srgbClr val="1E293B"/>
                </a:solidFill>
                <a:latin typeface="Lato"/>
                <a:ea typeface="Lato"/>
                <a:cs typeface="Lato"/>
                <a:sym typeface="Lato"/>
              </a:endParaRPr>
            </a:p>
          </p:txBody>
        </p:sp>
        <p:sp>
          <p:nvSpPr>
            <p:cNvPr id="656" name="Google Shape;656;p48"/>
            <p:cNvSpPr txBox="1"/>
            <p:nvPr/>
          </p:nvSpPr>
          <p:spPr>
            <a:xfrm>
              <a:off x="6762750" y="2524125"/>
              <a:ext cx="952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5141</a:t>
              </a:r>
              <a:endParaRPr b="0" sz="900">
                <a:solidFill>
                  <a:srgbClr val="1E293B"/>
                </a:solidFill>
                <a:latin typeface="Lato"/>
                <a:ea typeface="Lato"/>
                <a:cs typeface="Lato"/>
                <a:sym typeface="Lato"/>
              </a:endParaRPr>
            </a:p>
          </p:txBody>
        </p:sp>
        <p:sp>
          <p:nvSpPr>
            <p:cNvPr id="657" name="Google Shape;657;p48"/>
            <p:cNvSpPr txBox="1"/>
            <p:nvPr/>
          </p:nvSpPr>
          <p:spPr>
            <a:xfrm>
              <a:off x="7715250" y="2524125"/>
              <a:ext cx="952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17.60</a:t>
              </a:r>
              <a:endParaRPr b="0" sz="900">
                <a:solidFill>
                  <a:srgbClr val="1E293B"/>
                </a:solidFill>
                <a:latin typeface="Lato"/>
                <a:ea typeface="Lato"/>
                <a:cs typeface="Lato"/>
                <a:sym typeface="Lato"/>
              </a:endParaRPr>
            </a:p>
          </p:txBody>
        </p:sp>
      </p:grpSp>
      <p:grpSp>
        <p:nvGrpSpPr>
          <p:cNvPr id="658" name="Google Shape;658;p48"/>
          <p:cNvGrpSpPr/>
          <p:nvPr/>
        </p:nvGrpSpPr>
        <p:grpSpPr>
          <a:xfrm>
            <a:off x="381000" y="2905125"/>
            <a:ext cx="8382000" cy="381000"/>
            <a:chOff x="381000" y="2905125"/>
            <a:chExt cx="8382000" cy="381000"/>
          </a:xfrm>
        </p:grpSpPr>
        <p:cxnSp>
          <p:nvCxnSpPr>
            <p:cNvPr id="659" name="Google Shape;659;p48"/>
            <p:cNvCxnSpPr/>
            <p:nvPr/>
          </p:nvCxnSpPr>
          <p:spPr>
            <a:xfrm>
              <a:off x="381000" y="3286125"/>
              <a:ext cx="8382000" cy="0"/>
            </a:xfrm>
            <a:prstGeom prst="straightConnector1">
              <a:avLst/>
            </a:prstGeom>
            <a:solidFill>
              <a:srgbClr val="FFFFFF"/>
            </a:solidFill>
            <a:ln cap="flat" cmpd="sng" w="9525">
              <a:solidFill>
                <a:srgbClr val="E2E8F0"/>
              </a:solidFill>
              <a:prstDash val="solid"/>
              <a:round/>
              <a:headEnd len="sm" w="sm" type="none"/>
              <a:tailEnd len="sm" w="sm" type="none"/>
            </a:ln>
          </p:spPr>
        </p:cxnSp>
        <p:sp>
          <p:nvSpPr>
            <p:cNvPr id="660" name="Google Shape;660;p48"/>
            <p:cNvSpPr txBox="1"/>
            <p:nvPr/>
          </p:nvSpPr>
          <p:spPr>
            <a:xfrm>
              <a:off x="571500" y="2905125"/>
              <a:ext cx="1143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900">
                  <a:solidFill>
                    <a:srgbClr val="1E293B"/>
                  </a:solidFill>
                  <a:latin typeface="Lato"/>
                  <a:ea typeface="Lato"/>
                  <a:cs typeface="Lato"/>
                  <a:sym typeface="Lato"/>
                </a:rPr>
                <a:t>hi_min_budget</a:t>
              </a:r>
              <a:endParaRPr b="1" sz="900">
                <a:solidFill>
                  <a:srgbClr val="1E293B"/>
                </a:solidFill>
                <a:latin typeface="Lato"/>
                <a:ea typeface="Lato"/>
                <a:cs typeface="Lato"/>
                <a:sym typeface="Lato"/>
              </a:endParaRPr>
            </a:p>
          </p:txBody>
        </p:sp>
        <p:sp>
          <p:nvSpPr>
            <p:cNvPr id="661" name="Google Shape;661;p48"/>
            <p:cNvSpPr txBox="1"/>
            <p:nvPr/>
          </p:nvSpPr>
          <p:spPr>
            <a:xfrm>
              <a:off x="1714500" y="2905125"/>
              <a:ext cx="6669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32</a:t>
              </a:r>
              <a:endParaRPr b="0" sz="900">
                <a:solidFill>
                  <a:srgbClr val="1E293B"/>
                </a:solidFill>
                <a:latin typeface="Lato"/>
                <a:ea typeface="Lato"/>
                <a:cs typeface="Lato"/>
                <a:sym typeface="Lato"/>
              </a:endParaRPr>
            </a:p>
          </p:txBody>
        </p:sp>
        <p:sp>
          <p:nvSpPr>
            <p:cNvPr id="662" name="Google Shape;662;p48"/>
            <p:cNvSpPr txBox="1"/>
            <p:nvPr/>
          </p:nvSpPr>
          <p:spPr>
            <a:xfrm>
              <a:off x="2381250" y="2905125"/>
              <a:ext cx="6669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28</a:t>
              </a:r>
              <a:endParaRPr b="0" sz="900">
                <a:solidFill>
                  <a:srgbClr val="1E293B"/>
                </a:solidFill>
                <a:latin typeface="Lato"/>
                <a:ea typeface="Lato"/>
                <a:cs typeface="Lato"/>
                <a:sym typeface="Lato"/>
              </a:endParaRPr>
            </a:p>
          </p:txBody>
        </p:sp>
        <p:sp>
          <p:nvSpPr>
            <p:cNvPr id="663" name="Google Shape;663;p48"/>
            <p:cNvSpPr txBox="1"/>
            <p:nvPr/>
          </p:nvSpPr>
          <p:spPr>
            <a:xfrm>
              <a:off x="3048000" y="2905125"/>
              <a:ext cx="571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0</a:t>
              </a:r>
              <a:endParaRPr b="0" sz="900">
                <a:solidFill>
                  <a:srgbClr val="1E293B"/>
                </a:solidFill>
                <a:latin typeface="Lato"/>
                <a:ea typeface="Lato"/>
                <a:cs typeface="Lato"/>
                <a:sym typeface="Lato"/>
              </a:endParaRPr>
            </a:p>
          </p:txBody>
        </p:sp>
        <p:sp>
          <p:nvSpPr>
            <p:cNvPr id="664" name="Google Shape;664;p48"/>
            <p:cNvSpPr txBox="1"/>
            <p:nvPr/>
          </p:nvSpPr>
          <p:spPr>
            <a:xfrm>
              <a:off x="3619500" y="2905125"/>
              <a:ext cx="762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000">
                  <a:solidFill>
                    <a:srgbClr val="EB5600"/>
                  </a:solidFill>
                  <a:latin typeface="Lato"/>
                  <a:ea typeface="Lato"/>
                  <a:cs typeface="Lato"/>
                  <a:sym typeface="Lato"/>
                </a:rPr>
                <a:t>53 %</a:t>
              </a:r>
              <a:endParaRPr b="1" sz="1000">
                <a:solidFill>
                  <a:srgbClr val="EB5600"/>
                </a:solidFill>
                <a:latin typeface="Lato"/>
                <a:ea typeface="Lato"/>
                <a:cs typeface="Lato"/>
                <a:sym typeface="Lato"/>
              </a:endParaRPr>
            </a:p>
          </p:txBody>
        </p:sp>
        <p:sp>
          <p:nvSpPr>
            <p:cNvPr id="665" name="Google Shape;665;p48"/>
            <p:cNvSpPr txBox="1"/>
            <p:nvPr/>
          </p:nvSpPr>
          <p:spPr>
            <a:xfrm>
              <a:off x="4381500" y="2905125"/>
              <a:ext cx="762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0.47</a:t>
              </a:r>
              <a:endParaRPr b="0" sz="900">
                <a:solidFill>
                  <a:srgbClr val="1E293B"/>
                </a:solidFill>
                <a:latin typeface="Lato"/>
                <a:ea typeface="Lato"/>
                <a:cs typeface="Lato"/>
                <a:sym typeface="Lato"/>
              </a:endParaRPr>
            </a:p>
          </p:txBody>
        </p:sp>
        <p:sp>
          <p:nvSpPr>
            <p:cNvPr id="666" name="Google Shape;666;p48"/>
            <p:cNvSpPr txBox="1"/>
            <p:nvPr/>
          </p:nvSpPr>
          <p:spPr>
            <a:xfrm>
              <a:off x="5143500" y="2905125"/>
              <a:ext cx="762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0.00</a:t>
              </a:r>
              <a:endParaRPr b="0" sz="900">
                <a:solidFill>
                  <a:srgbClr val="1E293B"/>
                </a:solidFill>
                <a:latin typeface="Lato"/>
                <a:ea typeface="Lato"/>
                <a:cs typeface="Lato"/>
                <a:sym typeface="Lato"/>
              </a:endParaRPr>
            </a:p>
          </p:txBody>
        </p:sp>
        <p:sp>
          <p:nvSpPr>
            <p:cNvPr id="667" name="Google Shape;667;p48"/>
            <p:cNvSpPr txBox="1"/>
            <p:nvPr/>
          </p:nvSpPr>
          <p:spPr>
            <a:xfrm>
              <a:off x="5905500" y="2905125"/>
              <a:ext cx="8574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5.02</a:t>
              </a:r>
              <a:endParaRPr b="0" sz="900">
                <a:solidFill>
                  <a:srgbClr val="1E293B"/>
                </a:solidFill>
                <a:latin typeface="Lato"/>
                <a:ea typeface="Lato"/>
                <a:cs typeface="Lato"/>
                <a:sym typeface="Lato"/>
              </a:endParaRPr>
            </a:p>
          </p:txBody>
        </p:sp>
        <p:sp>
          <p:nvSpPr>
            <p:cNvPr id="668" name="Google Shape;668;p48"/>
            <p:cNvSpPr txBox="1"/>
            <p:nvPr/>
          </p:nvSpPr>
          <p:spPr>
            <a:xfrm>
              <a:off x="6762750" y="2905125"/>
              <a:ext cx="952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5141</a:t>
              </a:r>
              <a:endParaRPr b="0" sz="900">
                <a:solidFill>
                  <a:srgbClr val="1E293B"/>
                </a:solidFill>
                <a:latin typeface="Lato"/>
                <a:ea typeface="Lato"/>
                <a:cs typeface="Lato"/>
                <a:sym typeface="Lato"/>
              </a:endParaRPr>
            </a:p>
          </p:txBody>
        </p:sp>
        <p:sp>
          <p:nvSpPr>
            <p:cNvPr id="669" name="Google Shape;669;p48"/>
            <p:cNvSpPr txBox="1"/>
            <p:nvPr/>
          </p:nvSpPr>
          <p:spPr>
            <a:xfrm>
              <a:off x="7715250" y="2905125"/>
              <a:ext cx="952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17.60</a:t>
              </a:r>
              <a:endParaRPr b="0" sz="900">
                <a:solidFill>
                  <a:srgbClr val="1E293B"/>
                </a:solidFill>
                <a:latin typeface="Lato"/>
                <a:ea typeface="Lato"/>
                <a:cs typeface="Lato"/>
                <a:sym typeface="Lato"/>
              </a:endParaRPr>
            </a:p>
          </p:txBody>
        </p:sp>
      </p:grpSp>
      <p:grpSp>
        <p:nvGrpSpPr>
          <p:cNvPr id="670" name="Google Shape;670;p48"/>
          <p:cNvGrpSpPr/>
          <p:nvPr/>
        </p:nvGrpSpPr>
        <p:grpSpPr>
          <a:xfrm>
            <a:off x="381000" y="3286125"/>
            <a:ext cx="8382000" cy="381000"/>
            <a:chOff x="381000" y="3286125"/>
            <a:chExt cx="8382000" cy="381000"/>
          </a:xfrm>
        </p:grpSpPr>
        <p:cxnSp>
          <p:nvCxnSpPr>
            <p:cNvPr id="671" name="Google Shape;671;p48"/>
            <p:cNvCxnSpPr/>
            <p:nvPr/>
          </p:nvCxnSpPr>
          <p:spPr>
            <a:xfrm>
              <a:off x="381000" y="3667125"/>
              <a:ext cx="8382000" cy="0"/>
            </a:xfrm>
            <a:prstGeom prst="straightConnector1">
              <a:avLst/>
            </a:prstGeom>
            <a:solidFill>
              <a:srgbClr val="FFFFFF"/>
            </a:solidFill>
            <a:ln cap="flat" cmpd="sng" w="9525">
              <a:solidFill>
                <a:srgbClr val="E2E8F0"/>
              </a:solidFill>
              <a:prstDash val="solid"/>
              <a:round/>
              <a:headEnd len="sm" w="sm" type="none"/>
              <a:tailEnd len="sm" w="sm" type="none"/>
            </a:ln>
          </p:spPr>
        </p:cxnSp>
        <p:sp>
          <p:nvSpPr>
            <p:cNvPr id="672" name="Google Shape;672;p48"/>
            <p:cNvSpPr txBox="1"/>
            <p:nvPr/>
          </p:nvSpPr>
          <p:spPr>
            <a:xfrm>
              <a:off x="571500" y="3286125"/>
              <a:ext cx="1143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900">
                  <a:solidFill>
                    <a:srgbClr val="1E293B"/>
                  </a:solidFill>
                  <a:latin typeface="Lato"/>
                  <a:ea typeface="Lato"/>
                  <a:cs typeface="Lato"/>
                  <a:sym typeface="Lato"/>
                </a:rPr>
                <a:t>hi_rerank</a:t>
              </a:r>
              <a:endParaRPr b="1" sz="900">
                <a:solidFill>
                  <a:srgbClr val="1E293B"/>
                </a:solidFill>
                <a:latin typeface="Lato"/>
                <a:ea typeface="Lato"/>
                <a:cs typeface="Lato"/>
                <a:sym typeface="Lato"/>
              </a:endParaRPr>
            </a:p>
          </p:txBody>
        </p:sp>
        <p:sp>
          <p:nvSpPr>
            <p:cNvPr id="673" name="Google Shape;673;p48"/>
            <p:cNvSpPr txBox="1"/>
            <p:nvPr/>
          </p:nvSpPr>
          <p:spPr>
            <a:xfrm>
              <a:off x="1714500" y="3286125"/>
              <a:ext cx="6669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26</a:t>
              </a:r>
              <a:endParaRPr b="0" sz="900">
                <a:solidFill>
                  <a:srgbClr val="1E293B"/>
                </a:solidFill>
                <a:latin typeface="Lato"/>
                <a:ea typeface="Lato"/>
                <a:cs typeface="Lato"/>
                <a:sym typeface="Lato"/>
              </a:endParaRPr>
            </a:p>
          </p:txBody>
        </p:sp>
        <p:sp>
          <p:nvSpPr>
            <p:cNvPr id="674" name="Google Shape;674;p48"/>
            <p:cNvSpPr txBox="1"/>
            <p:nvPr/>
          </p:nvSpPr>
          <p:spPr>
            <a:xfrm>
              <a:off x="2381250" y="3286125"/>
              <a:ext cx="6669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34</a:t>
              </a:r>
              <a:endParaRPr b="0" sz="900">
                <a:solidFill>
                  <a:srgbClr val="1E293B"/>
                </a:solidFill>
                <a:latin typeface="Lato"/>
                <a:ea typeface="Lato"/>
                <a:cs typeface="Lato"/>
                <a:sym typeface="Lato"/>
              </a:endParaRPr>
            </a:p>
          </p:txBody>
        </p:sp>
        <p:sp>
          <p:nvSpPr>
            <p:cNvPr id="675" name="Google Shape;675;p48"/>
            <p:cNvSpPr txBox="1"/>
            <p:nvPr/>
          </p:nvSpPr>
          <p:spPr>
            <a:xfrm>
              <a:off x="3048000" y="3286125"/>
              <a:ext cx="571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0</a:t>
              </a:r>
              <a:endParaRPr b="0" sz="900">
                <a:solidFill>
                  <a:srgbClr val="1E293B"/>
                </a:solidFill>
                <a:latin typeface="Lato"/>
                <a:ea typeface="Lato"/>
                <a:cs typeface="Lato"/>
                <a:sym typeface="Lato"/>
              </a:endParaRPr>
            </a:p>
          </p:txBody>
        </p:sp>
        <p:sp>
          <p:nvSpPr>
            <p:cNvPr id="676" name="Google Shape;676;p48"/>
            <p:cNvSpPr txBox="1"/>
            <p:nvPr/>
          </p:nvSpPr>
          <p:spPr>
            <a:xfrm>
              <a:off x="3619500" y="3286125"/>
              <a:ext cx="762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000">
                  <a:solidFill>
                    <a:srgbClr val="EB5600"/>
                  </a:solidFill>
                  <a:latin typeface="Lato"/>
                  <a:ea typeface="Lato"/>
                  <a:cs typeface="Lato"/>
                  <a:sym typeface="Lato"/>
                </a:rPr>
                <a:t>43 %</a:t>
              </a:r>
              <a:endParaRPr b="1" sz="1000">
                <a:solidFill>
                  <a:srgbClr val="EB5600"/>
                </a:solidFill>
                <a:latin typeface="Lato"/>
                <a:ea typeface="Lato"/>
                <a:cs typeface="Lato"/>
                <a:sym typeface="Lato"/>
              </a:endParaRPr>
            </a:p>
          </p:txBody>
        </p:sp>
        <p:sp>
          <p:nvSpPr>
            <p:cNvPr id="677" name="Google Shape;677;p48"/>
            <p:cNvSpPr txBox="1"/>
            <p:nvPr/>
          </p:nvSpPr>
          <p:spPr>
            <a:xfrm>
              <a:off x="4381500" y="3286125"/>
              <a:ext cx="762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0.57</a:t>
              </a:r>
              <a:endParaRPr b="0" sz="900">
                <a:solidFill>
                  <a:srgbClr val="1E293B"/>
                </a:solidFill>
                <a:latin typeface="Lato"/>
                <a:ea typeface="Lato"/>
                <a:cs typeface="Lato"/>
                <a:sym typeface="Lato"/>
              </a:endParaRPr>
            </a:p>
          </p:txBody>
        </p:sp>
        <p:sp>
          <p:nvSpPr>
            <p:cNvPr id="678" name="Google Shape;678;p48"/>
            <p:cNvSpPr txBox="1"/>
            <p:nvPr/>
          </p:nvSpPr>
          <p:spPr>
            <a:xfrm>
              <a:off x="5143500" y="3286125"/>
              <a:ext cx="762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0.00</a:t>
              </a:r>
              <a:endParaRPr b="0" sz="900">
                <a:solidFill>
                  <a:srgbClr val="1E293B"/>
                </a:solidFill>
                <a:latin typeface="Lato"/>
                <a:ea typeface="Lato"/>
                <a:cs typeface="Lato"/>
                <a:sym typeface="Lato"/>
              </a:endParaRPr>
            </a:p>
          </p:txBody>
        </p:sp>
        <p:sp>
          <p:nvSpPr>
            <p:cNvPr id="679" name="Google Shape;679;p48"/>
            <p:cNvSpPr txBox="1"/>
            <p:nvPr/>
          </p:nvSpPr>
          <p:spPr>
            <a:xfrm>
              <a:off x="5905500" y="3286125"/>
              <a:ext cx="8574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7.54</a:t>
              </a:r>
              <a:endParaRPr b="0" sz="900">
                <a:solidFill>
                  <a:srgbClr val="1E293B"/>
                </a:solidFill>
                <a:latin typeface="Lato"/>
                <a:ea typeface="Lato"/>
                <a:cs typeface="Lato"/>
                <a:sym typeface="Lato"/>
              </a:endParaRPr>
            </a:p>
          </p:txBody>
        </p:sp>
        <p:sp>
          <p:nvSpPr>
            <p:cNvPr id="680" name="Google Shape;680;p48"/>
            <p:cNvSpPr txBox="1"/>
            <p:nvPr/>
          </p:nvSpPr>
          <p:spPr>
            <a:xfrm>
              <a:off x="6762750" y="3286125"/>
              <a:ext cx="952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5800</a:t>
              </a:r>
              <a:endParaRPr b="0" sz="900">
                <a:solidFill>
                  <a:srgbClr val="1E293B"/>
                </a:solidFill>
                <a:latin typeface="Lato"/>
                <a:ea typeface="Lato"/>
                <a:cs typeface="Lato"/>
                <a:sym typeface="Lato"/>
              </a:endParaRPr>
            </a:p>
          </p:txBody>
        </p:sp>
        <p:sp>
          <p:nvSpPr>
            <p:cNvPr id="681" name="Google Shape;681;p48"/>
            <p:cNvSpPr txBox="1"/>
            <p:nvPr/>
          </p:nvSpPr>
          <p:spPr>
            <a:xfrm>
              <a:off x="7715250" y="3286125"/>
              <a:ext cx="952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14.80</a:t>
              </a:r>
              <a:endParaRPr b="0" sz="900">
                <a:solidFill>
                  <a:srgbClr val="1E293B"/>
                </a:solidFill>
                <a:latin typeface="Lato"/>
                <a:ea typeface="Lato"/>
                <a:cs typeface="Lato"/>
                <a:sym typeface="Lato"/>
              </a:endParaRPr>
            </a:p>
          </p:txBody>
        </p:sp>
      </p:grpSp>
      <p:grpSp>
        <p:nvGrpSpPr>
          <p:cNvPr id="682" name="Google Shape;682;p48"/>
          <p:cNvGrpSpPr/>
          <p:nvPr/>
        </p:nvGrpSpPr>
        <p:grpSpPr>
          <a:xfrm>
            <a:off x="381000" y="3667125"/>
            <a:ext cx="8382000" cy="381000"/>
            <a:chOff x="381000" y="3667125"/>
            <a:chExt cx="8382000" cy="381000"/>
          </a:xfrm>
        </p:grpSpPr>
        <p:cxnSp>
          <p:nvCxnSpPr>
            <p:cNvPr id="683" name="Google Shape;683;p48"/>
            <p:cNvCxnSpPr/>
            <p:nvPr/>
          </p:nvCxnSpPr>
          <p:spPr>
            <a:xfrm>
              <a:off x="381000" y="4048125"/>
              <a:ext cx="8382000" cy="0"/>
            </a:xfrm>
            <a:prstGeom prst="straightConnector1">
              <a:avLst/>
            </a:prstGeom>
            <a:solidFill>
              <a:srgbClr val="FFFFFF"/>
            </a:solidFill>
            <a:ln cap="flat" cmpd="sng" w="9525">
              <a:solidFill>
                <a:srgbClr val="E2E8F0"/>
              </a:solidFill>
              <a:prstDash val="solid"/>
              <a:round/>
              <a:headEnd len="sm" w="sm" type="none"/>
              <a:tailEnd len="sm" w="sm" type="none"/>
            </a:ln>
          </p:spPr>
        </p:cxnSp>
        <p:sp>
          <p:nvSpPr>
            <p:cNvPr id="684" name="Google Shape;684;p48"/>
            <p:cNvSpPr txBox="1"/>
            <p:nvPr/>
          </p:nvSpPr>
          <p:spPr>
            <a:xfrm>
              <a:off x="571500" y="3667125"/>
              <a:ext cx="1143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900">
                  <a:solidFill>
                    <a:srgbClr val="1E293B"/>
                  </a:solidFill>
                  <a:latin typeface="Lato"/>
                  <a:ea typeface="Lato"/>
                  <a:cs typeface="Lato"/>
                  <a:sym typeface="Lato"/>
                </a:rPr>
                <a:t>hi_weighted</a:t>
              </a:r>
              <a:endParaRPr b="1" sz="900">
                <a:solidFill>
                  <a:srgbClr val="1E293B"/>
                </a:solidFill>
                <a:latin typeface="Lato"/>
                <a:ea typeface="Lato"/>
                <a:cs typeface="Lato"/>
                <a:sym typeface="Lato"/>
              </a:endParaRPr>
            </a:p>
          </p:txBody>
        </p:sp>
        <p:sp>
          <p:nvSpPr>
            <p:cNvPr id="685" name="Google Shape;685;p48"/>
            <p:cNvSpPr txBox="1"/>
            <p:nvPr/>
          </p:nvSpPr>
          <p:spPr>
            <a:xfrm>
              <a:off x="1714500" y="3667125"/>
              <a:ext cx="6669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33</a:t>
              </a:r>
              <a:endParaRPr b="0" sz="900">
                <a:solidFill>
                  <a:srgbClr val="1E293B"/>
                </a:solidFill>
                <a:latin typeface="Lato"/>
                <a:ea typeface="Lato"/>
                <a:cs typeface="Lato"/>
                <a:sym typeface="Lato"/>
              </a:endParaRPr>
            </a:p>
          </p:txBody>
        </p:sp>
        <p:sp>
          <p:nvSpPr>
            <p:cNvPr id="686" name="Google Shape;686;p48"/>
            <p:cNvSpPr txBox="1"/>
            <p:nvPr/>
          </p:nvSpPr>
          <p:spPr>
            <a:xfrm>
              <a:off x="2381250" y="3667125"/>
              <a:ext cx="6669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26</a:t>
              </a:r>
              <a:endParaRPr b="0" sz="900">
                <a:solidFill>
                  <a:srgbClr val="1E293B"/>
                </a:solidFill>
                <a:latin typeface="Lato"/>
                <a:ea typeface="Lato"/>
                <a:cs typeface="Lato"/>
                <a:sym typeface="Lato"/>
              </a:endParaRPr>
            </a:p>
          </p:txBody>
        </p:sp>
        <p:sp>
          <p:nvSpPr>
            <p:cNvPr id="687" name="Google Shape;687;p48"/>
            <p:cNvSpPr txBox="1"/>
            <p:nvPr/>
          </p:nvSpPr>
          <p:spPr>
            <a:xfrm>
              <a:off x="3048000" y="3667125"/>
              <a:ext cx="571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1</a:t>
              </a:r>
              <a:endParaRPr b="0" sz="900">
                <a:solidFill>
                  <a:srgbClr val="1E293B"/>
                </a:solidFill>
                <a:latin typeface="Lato"/>
                <a:ea typeface="Lato"/>
                <a:cs typeface="Lato"/>
                <a:sym typeface="Lato"/>
              </a:endParaRPr>
            </a:p>
          </p:txBody>
        </p:sp>
        <p:sp>
          <p:nvSpPr>
            <p:cNvPr id="688" name="Google Shape;688;p48"/>
            <p:cNvSpPr txBox="1"/>
            <p:nvPr/>
          </p:nvSpPr>
          <p:spPr>
            <a:xfrm>
              <a:off x="3619500" y="3667125"/>
              <a:ext cx="762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000">
                  <a:solidFill>
                    <a:srgbClr val="EB5600"/>
                  </a:solidFill>
                  <a:latin typeface="Lato"/>
                  <a:ea typeface="Lato"/>
                  <a:cs typeface="Lato"/>
                  <a:sym typeface="Lato"/>
                </a:rPr>
                <a:t>55 %</a:t>
              </a:r>
              <a:endParaRPr b="1" sz="1000">
                <a:solidFill>
                  <a:srgbClr val="EB5600"/>
                </a:solidFill>
                <a:latin typeface="Lato"/>
                <a:ea typeface="Lato"/>
                <a:cs typeface="Lato"/>
                <a:sym typeface="Lato"/>
              </a:endParaRPr>
            </a:p>
          </p:txBody>
        </p:sp>
        <p:sp>
          <p:nvSpPr>
            <p:cNvPr id="689" name="Google Shape;689;p48"/>
            <p:cNvSpPr txBox="1"/>
            <p:nvPr/>
          </p:nvSpPr>
          <p:spPr>
            <a:xfrm>
              <a:off x="4381500" y="3667125"/>
              <a:ext cx="762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0.43</a:t>
              </a:r>
              <a:endParaRPr b="0" sz="900">
                <a:solidFill>
                  <a:srgbClr val="1E293B"/>
                </a:solidFill>
                <a:latin typeface="Lato"/>
                <a:ea typeface="Lato"/>
                <a:cs typeface="Lato"/>
                <a:sym typeface="Lato"/>
              </a:endParaRPr>
            </a:p>
          </p:txBody>
        </p:sp>
        <p:sp>
          <p:nvSpPr>
            <p:cNvPr id="690" name="Google Shape;690;p48"/>
            <p:cNvSpPr txBox="1"/>
            <p:nvPr/>
          </p:nvSpPr>
          <p:spPr>
            <a:xfrm>
              <a:off x="5143500" y="3667125"/>
              <a:ext cx="762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0.02</a:t>
              </a:r>
              <a:endParaRPr b="0" sz="900">
                <a:solidFill>
                  <a:srgbClr val="1E293B"/>
                </a:solidFill>
                <a:latin typeface="Lato"/>
                <a:ea typeface="Lato"/>
                <a:cs typeface="Lato"/>
                <a:sym typeface="Lato"/>
              </a:endParaRPr>
            </a:p>
          </p:txBody>
        </p:sp>
        <p:sp>
          <p:nvSpPr>
            <p:cNvPr id="691" name="Google Shape;691;p48"/>
            <p:cNvSpPr txBox="1"/>
            <p:nvPr/>
          </p:nvSpPr>
          <p:spPr>
            <a:xfrm>
              <a:off x="5905500" y="3667125"/>
              <a:ext cx="8574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2.48</a:t>
              </a:r>
              <a:endParaRPr b="0" sz="900">
                <a:solidFill>
                  <a:srgbClr val="1E293B"/>
                </a:solidFill>
                <a:latin typeface="Lato"/>
                <a:ea typeface="Lato"/>
                <a:cs typeface="Lato"/>
                <a:sym typeface="Lato"/>
              </a:endParaRPr>
            </a:p>
          </p:txBody>
        </p:sp>
        <p:sp>
          <p:nvSpPr>
            <p:cNvPr id="692" name="Google Shape;692;p48"/>
            <p:cNvSpPr txBox="1"/>
            <p:nvPr/>
          </p:nvSpPr>
          <p:spPr>
            <a:xfrm>
              <a:off x="6762750" y="3667125"/>
              <a:ext cx="952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4976</a:t>
              </a:r>
              <a:endParaRPr b="0" sz="900">
                <a:solidFill>
                  <a:srgbClr val="1E293B"/>
                </a:solidFill>
                <a:latin typeface="Lato"/>
                <a:ea typeface="Lato"/>
                <a:cs typeface="Lato"/>
                <a:sym typeface="Lato"/>
              </a:endParaRPr>
            </a:p>
          </p:txBody>
        </p:sp>
        <p:sp>
          <p:nvSpPr>
            <p:cNvPr id="693" name="Google Shape;693;p48"/>
            <p:cNvSpPr txBox="1"/>
            <p:nvPr/>
          </p:nvSpPr>
          <p:spPr>
            <a:xfrm>
              <a:off x="7715250" y="3667125"/>
              <a:ext cx="952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14.20</a:t>
              </a:r>
              <a:endParaRPr b="0" sz="900">
                <a:solidFill>
                  <a:srgbClr val="1E293B"/>
                </a:solidFill>
                <a:latin typeface="Lato"/>
                <a:ea typeface="Lato"/>
                <a:cs typeface="Lato"/>
                <a:sym typeface="Lato"/>
              </a:endParaRPr>
            </a:p>
          </p:txBody>
        </p:sp>
      </p:grpSp>
      <p:grpSp>
        <p:nvGrpSpPr>
          <p:cNvPr id="694" name="Google Shape;694;p48"/>
          <p:cNvGrpSpPr/>
          <p:nvPr/>
        </p:nvGrpSpPr>
        <p:grpSpPr>
          <a:xfrm>
            <a:off x="381000" y="4048125"/>
            <a:ext cx="8382000" cy="381000"/>
            <a:chOff x="381000" y="4048125"/>
            <a:chExt cx="8382000" cy="381000"/>
          </a:xfrm>
        </p:grpSpPr>
        <p:sp>
          <p:nvSpPr>
            <p:cNvPr id="695" name="Google Shape;695;p48"/>
            <p:cNvSpPr/>
            <p:nvPr/>
          </p:nvSpPr>
          <p:spPr>
            <a:xfrm>
              <a:off x="381000" y="4048125"/>
              <a:ext cx="8382000" cy="381000"/>
            </a:xfrm>
            <a:prstGeom prst="roundRect">
              <a:avLst>
                <a:gd fmla="val 21818" name="adj"/>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6" name="Google Shape;696;p48"/>
            <p:cNvSpPr txBox="1"/>
            <p:nvPr/>
          </p:nvSpPr>
          <p:spPr>
            <a:xfrm>
              <a:off x="571500" y="4048125"/>
              <a:ext cx="1143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900">
                  <a:solidFill>
                    <a:srgbClr val="1A9988"/>
                  </a:solidFill>
                  <a:latin typeface="Lato"/>
                  <a:ea typeface="Lato"/>
                  <a:cs typeface="Lato"/>
                  <a:sym typeface="Lato"/>
                </a:rPr>
                <a:t>naive (Baseline)</a:t>
              </a:r>
              <a:endParaRPr b="1" sz="900">
                <a:solidFill>
                  <a:srgbClr val="1A9988"/>
                </a:solidFill>
                <a:latin typeface="Lato"/>
                <a:ea typeface="Lato"/>
                <a:cs typeface="Lato"/>
                <a:sym typeface="Lato"/>
              </a:endParaRPr>
            </a:p>
          </p:txBody>
        </p:sp>
        <p:sp>
          <p:nvSpPr>
            <p:cNvPr id="697" name="Google Shape;697;p48"/>
            <p:cNvSpPr txBox="1"/>
            <p:nvPr/>
          </p:nvSpPr>
          <p:spPr>
            <a:xfrm>
              <a:off x="1714500" y="4048125"/>
              <a:ext cx="6669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A9988"/>
                  </a:solidFill>
                  <a:latin typeface="Lato"/>
                  <a:ea typeface="Lato"/>
                  <a:cs typeface="Lato"/>
                  <a:sym typeface="Lato"/>
                </a:rPr>
                <a:t>53</a:t>
              </a:r>
              <a:endParaRPr b="0" sz="900">
                <a:solidFill>
                  <a:srgbClr val="1A9988"/>
                </a:solidFill>
                <a:latin typeface="Lato"/>
                <a:ea typeface="Lato"/>
                <a:cs typeface="Lato"/>
                <a:sym typeface="Lato"/>
              </a:endParaRPr>
            </a:p>
          </p:txBody>
        </p:sp>
        <p:sp>
          <p:nvSpPr>
            <p:cNvPr id="698" name="Google Shape;698;p48"/>
            <p:cNvSpPr txBox="1"/>
            <p:nvPr/>
          </p:nvSpPr>
          <p:spPr>
            <a:xfrm>
              <a:off x="2381250" y="4048125"/>
              <a:ext cx="6669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A9988"/>
                  </a:solidFill>
                  <a:latin typeface="Lato"/>
                  <a:ea typeface="Lato"/>
                  <a:cs typeface="Lato"/>
                  <a:sym typeface="Lato"/>
                </a:rPr>
                <a:t>7</a:t>
              </a:r>
              <a:endParaRPr b="0" sz="900">
                <a:solidFill>
                  <a:srgbClr val="1A9988"/>
                </a:solidFill>
                <a:latin typeface="Lato"/>
                <a:ea typeface="Lato"/>
                <a:cs typeface="Lato"/>
                <a:sym typeface="Lato"/>
              </a:endParaRPr>
            </a:p>
          </p:txBody>
        </p:sp>
        <p:sp>
          <p:nvSpPr>
            <p:cNvPr id="699" name="Google Shape;699;p48"/>
            <p:cNvSpPr txBox="1"/>
            <p:nvPr/>
          </p:nvSpPr>
          <p:spPr>
            <a:xfrm>
              <a:off x="3048000" y="4048125"/>
              <a:ext cx="571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A9988"/>
                  </a:solidFill>
                  <a:latin typeface="Lato"/>
                  <a:ea typeface="Lato"/>
                  <a:cs typeface="Lato"/>
                  <a:sym typeface="Lato"/>
                </a:rPr>
                <a:t>0</a:t>
              </a:r>
              <a:endParaRPr b="0" sz="900">
                <a:solidFill>
                  <a:srgbClr val="1A9988"/>
                </a:solidFill>
                <a:latin typeface="Lato"/>
                <a:ea typeface="Lato"/>
                <a:cs typeface="Lato"/>
                <a:sym typeface="Lato"/>
              </a:endParaRPr>
            </a:p>
          </p:txBody>
        </p:sp>
        <p:sp>
          <p:nvSpPr>
            <p:cNvPr id="700" name="Google Shape;700;p48"/>
            <p:cNvSpPr txBox="1"/>
            <p:nvPr/>
          </p:nvSpPr>
          <p:spPr>
            <a:xfrm>
              <a:off x="3619500" y="4048125"/>
              <a:ext cx="762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000" u="sng">
                  <a:solidFill>
                    <a:srgbClr val="1A9988"/>
                  </a:solidFill>
                  <a:latin typeface="Lato"/>
                  <a:ea typeface="Lato"/>
                  <a:cs typeface="Lato"/>
                  <a:sym typeface="Lato"/>
                </a:rPr>
                <a:t>88 %</a:t>
              </a:r>
              <a:endParaRPr b="1" sz="1000" u="sng">
                <a:solidFill>
                  <a:srgbClr val="1A9988"/>
                </a:solidFill>
                <a:latin typeface="Lato"/>
                <a:ea typeface="Lato"/>
                <a:cs typeface="Lato"/>
                <a:sym typeface="Lato"/>
              </a:endParaRPr>
            </a:p>
          </p:txBody>
        </p:sp>
        <p:sp>
          <p:nvSpPr>
            <p:cNvPr id="701" name="Google Shape;701;p48"/>
            <p:cNvSpPr txBox="1"/>
            <p:nvPr/>
          </p:nvSpPr>
          <p:spPr>
            <a:xfrm>
              <a:off x="4381500" y="4048125"/>
              <a:ext cx="762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A9988"/>
                  </a:solidFill>
                  <a:latin typeface="Lato"/>
                  <a:ea typeface="Lato"/>
                  <a:cs typeface="Lato"/>
                  <a:sym typeface="Lato"/>
                </a:rPr>
                <a:t>0.12</a:t>
              </a:r>
              <a:endParaRPr b="0" sz="900">
                <a:solidFill>
                  <a:srgbClr val="1A9988"/>
                </a:solidFill>
                <a:latin typeface="Lato"/>
                <a:ea typeface="Lato"/>
                <a:cs typeface="Lato"/>
                <a:sym typeface="Lato"/>
              </a:endParaRPr>
            </a:p>
          </p:txBody>
        </p:sp>
        <p:sp>
          <p:nvSpPr>
            <p:cNvPr id="702" name="Google Shape;702;p48"/>
            <p:cNvSpPr txBox="1"/>
            <p:nvPr/>
          </p:nvSpPr>
          <p:spPr>
            <a:xfrm>
              <a:off x="5143500" y="4048125"/>
              <a:ext cx="762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A9988"/>
                  </a:solidFill>
                  <a:latin typeface="Lato"/>
                  <a:ea typeface="Lato"/>
                  <a:cs typeface="Lato"/>
                  <a:sym typeface="Lato"/>
                </a:rPr>
                <a:t>0.00</a:t>
              </a:r>
              <a:endParaRPr b="0" sz="900">
                <a:solidFill>
                  <a:srgbClr val="1A9988"/>
                </a:solidFill>
                <a:latin typeface="Lato"/>
                <a:ea typeface="Lato"/>
                <a:cs typeface="Lato"/>
                <a:sym typeface="Lato"/>
              </a:endParaRPr>
            </a:p>
          </p:txBody>
        </p:sp>
        <p:sp>
          <p:nvSpPr>
            <p:cNvPr id="703" name="Google Shape;703;p48"/>
            <p:cNvSpPr txBox="1"/>
            <p:nvPr/>
          </p:nvSpPr>
          <p:spPr>
            <a:xfrm>
              <a:off x="5905500" y="4048125"/>
              <a:ext cx="8574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A9988"/>
                  </a:solidFill>
                  <a:latin typeface="Lato"/>
                  <a:ea typeface="Lato"/>
                  <a:cs typeface="Lato"/>
                  <a:sym typeface="Lato"/>
                </a:rPr>
                <a:t>0.51</a:t>
              </a:r>
              <a:endParaRPr b="0" sz="900">
                <a:solidFill>
                  <a:srgbClr val="1A9988"/>
                </a:solidFill>
                <a:latin typeface="Lato"/>
                <a:ea typeface="Lato"/>
                <a:cs typeface="Lato"/>
                <a:sym typeface="Lato"/>
              </a:endParaRPr>
            </a:p>
          </p:txBody>
        </p:sp>
        <p:sp>
          <p:nvSpPr>
            <p:cNvPr id="704" name="Google Shape;704;p48"/>
            <p:cNvSpPr txBox="1"/>
            <p:nvPr/>
          </p:nvSpPr>
          <p:spPr>
            <a:xfrm>
              <a:off x="6762750" y="4048125"/>
              <a:ext cx="952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A9988"/>
                  </a:solidFill>
                  <a:latin typeface="Lato"/>
                  <a:ea typeface="Lato"/>
                  <a:cs typeface="Lato"/>
                  <a:sym typeface="Lato"/>
                </a:rPr>
                <a:t>6016</a:t>
              </a:r>
              <a:endParaRPr b="0" sz="900">
                <a:solidFill>
                  <a:srgbClr val="1A9988"/>
                </a:solidFill>
                <a:latin typeface="Lato"/>
                <a:ea typeface="Lato"/>
                <a:cs typeface="Lato"/>
                <a:sym typeface="Lato"/>
              </a:endParaRPr>
            </a:p>
          </p:txBody>
        </p:sp>
        <p:sp>
          <p:nvSpPr>
            <p:cNvPr id="705" name="Google Shape;705;p48"/>
            <p:cNvSpPr txBox="1"/>
            <p:nvPr/>
          </p:nvSpPr>
          <p:spPr>
            <a:xfrm>
              <a:off x="7715250" y="4048125"/>
              <a:ext cx="952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A9988"/>
                  </a:solidFill>
                  <a:latin typeface="Lato"/>
                  <a:ea typeface="Lato"/>
                  <a:cs typeface="Lato"/>
                  <a:sym typeface="Lato"/>
                </a:rPr>
                <a:t>0.00</a:t>
              </a:r>
              <a:endParaRPr b="0" sz="900">
                <a:solidFill>
                  <a:srgbClr val="1A9988"/>
                </a:solidFill>
                <a:latin typeface="Lato"/>
                <a:ea typeface="Lato"/>
                <a:cs typeface="Lato"/>
                <a:sym typeface="Lato"/>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p49"/>
          <p:cNvSpPr/>
          <p:nvPr/>
        </p:nvSpPr>
        <p:spPr>
          <a:xfrm>
            <a:off x="0" y="0"/>
            <a:ext cx="9144000" cy="485700"/>
          </a:xfrm>
          <a:prstGeom prst="rect">
            <a:avLst/>
          </a:prstGeom>
          <a:solidFill>
            <a:srgbClr val="E9ED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1" name="Google Shape;711;p49"/>
          <p:cNvSpPr/>
          <p:nvPr/>
        </p:nvSpPr>
        <p:spPr>
          <a:xfrm rot="-5400000">
            <a:off x="833475" y="23775"/>
            <a:ext cx="381000" cy="47700"/>
          </a:xfrm>
          <a:prstGeom prst="rect">
            <a:avLst/>
          </a:prstGeom>
          <a:solidFill>
            <a:srgbClr val="1A99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2" name="Google Shape;712;p49"/>
          <p:cNvSpPr/>
          <p:nvPr/>
        </p:nvSpPr>
        <p:spPr>
          <a:xfrm rot="-5400000">
            <a:off x="900150" y="23775"/>
            <a:ext cx="381000" cy="47700"/>
          </a:xfrm>
          <a:prstGeom prst="rect">
            <a:avLst/>
          </a:prstGeom>
          <a:solidFill>
            <a:srgbClr val="EB5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3" name="Google Shape;713;p49"/>
          <p:cNvSpPr txBox="1"/>
          <p:nvPr/>
        </p:nvSpPr>
        <p:spPr>
          <a:xfrm>
            <a:off x="728663" y="428625"/>
            <a:ext cx="7686600" cy="533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2200">
                <a:solidFill>
                  <a:srgbClr val="1A1A1A"/>
                </a:solidFill>
                <a:latin typeface="Raleway"/>
                <a:ea typeface="Raleway"/>
                <a:cs typeface="Raleway"/>
                <a:sym typeface="Raleway"/>
              </a:rPr>
              <a:t>Évaluation : Performance LLMaJ</a:t>
            </a:r>
            <a:endParaRPr b="1" sz="2200">
              <a:solidFill>
                <a:srgbClr val="1A1A1A"/>
              </a:solidFill>
              <a:latin typeface="Raleway"/>
              <a:ea typeface="Raleway"/>
              <a:cs typeface="Raleway"/>
              <a:sym typeface="Raleway"/>
            </a:endParaRPr>
          </a:p>
        </p:txBody>
      </p:sp>
      <p:sp>
        <p:nvSpPr>
          <p:cNvPr id="714" name="Google Shape;714;p49"/>
          <p:cNvSpPr txBox="1"/>
          <p:nvPr/>
        </p:nvSpPr>
        <p:spPr>
          <a:xfrm>
            <a:off x="776288" y="952500"/>
            <a:ext cx="7620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1100">
                <a:solidFill>
                  <a:srgbClr val="595959"/>
                </a:solidFill>
                <a:latin typeface="Lato"/>
                <a:ea typeface="Lato"/>
                <a:cs typeface="Lato"/>
                <a:sym typeface="Lato"/>
              </a:rPr>
              <a:t>Mix : </a:t>
            </a:r>
            <a:r>
              <a:rPr b="0" lang="en-GB" sz="1100">
                <a:solidFill>
                  <a:srgbClr val="595959"/>
                </a:solidFill>
                <a:latin typeface="Lato"/>
                <a:ea typeface="Lato"/>
                <a:cs typeface="Lato"/>
                <a:sym typeface="Lato"/>
              </a:rPr>
              <a:t>Analyse comparative des variantes sur un échantillon de </a:t>
            </a:r>
            <a:r>
              <a:rPr b="0" lang="en-GB" sz="1100" u="sng">
                <a:solidFill>
                  <a:srgbClr val="595959"/>
                </a:solidFill>
                <a:latin typeface="Lato"/>
                <a:ea typeface="Lato"/>
                <a:cs typeface="Lato"/>
                <a:sym typeface="Lato"/>
              </a:rPr>
              <a:t>30 questions</a:t>
            </a:r>
            <a:r>
              <a:rPr b="0" lang="en-GB" sz="1100">
                <a:solidFill>
                  <a:srgbClr val="595959"/>
                </a:solidFill>
                <a:latin typeface="Lato"/>
                <a:ea typeface="Lato"/>
                <a:cs typeface="Lato"/>
                <a:sym typeface="Lato"/>
              </a:rPr>
              <a:t>.</a:t>
            </a:r>
            <a:endParaRPr b="1" sz="1100">
              <a:solidFill>
                <a:srgbClr val="595959"/>
              </a:solidFill>
              <a:latin typeface="Lato"/>
              <a:ea typeface="Lato"/>
              <a:cs typeface="Lato"/>
              <a:sym typeface="Lato"/>
            </a:endParaRPr>
          </a:p>
        </p:txBody>
      </p:sp>
      <p:sp>
        <p:nvSpPr>
          <p:cNvPr id="715" name="Google Shape;715;p49"/>
          <p:cNvSpPr/>
          <p:nvPr/>
        </p:nvSpPr>
        <p:spPr>
          <a:xfrm>
            <a:off x="762000" y="1333500"/>
            <a:ext cx="571500" cy="266700"/>
          </a:xfrm>
          <a:prstGeom prst="roundRect">
            <a:avLst>
              <a:gd fmla="val 50000" name="adj"/>
            </a:avLst>
          </a:prstGeom>
          <a:solidFill>
            <a:srgbClr val="1A99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6" name="Google Shape;716;p49"/>
          <p:cNvSpPr txBox="1"/>
          <p:nvPr/>
        </p:nvSpPr>
        <p:spPr>
          <a:xfrm>
            <a:off x="762000" y="1333500"/>
            <a:ext cx="571500" cy="266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000">
                <a:solidFill>
                  <a:srgbClr val="FFFFFF"/>
                </a:solidFill>
                <a:latin typeface="Raleway"/>
                <a:ea typeface="Raleway"/>
                <a:cs typeface="Raleway"/>
                <a:sym typeface="Raleway"/>
              </a:rPr>
              <a:t>MIX</a:t>
            </a:r>
            <a:endParaRPr b="1" sz="1000">
              <a:solidFill>
                <a:srgbClr val="FFFFFF"/>
              </a:solidFill>
              <a:latin typeface="Raleway"/>
              <a:ea typeface="Raleway"/>
              <a:cs typeface="Raleway"/>
              <a:sym typeface="Raleway"/>
            </a:endParaRPr>
          </a:p>
        </p:txBody>
      </p:sp>
      <p:sp>
        <p:nvSpPr>
          <p:cNvPr id="717" name="Google Shape;717;p49"/>
          <p:cNvSpPr/>
          <p:nvPr/>
        </p:nvSpPr>
        <p:spPr>
          <a:xfrm>
            <a:off x="381000" y="1714500"/>
            <a:ext cx="8382000" cy="2714700"/>
          </a:xfrm>
          <a:prstGeom prst="roundRect">
            <a:avLst>
              <a:gd fmla="val 385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8" name="Google Shape;718;p49"/>
          <p:cNvSpPr/>
          <p:nvPr/>
        </p:nvSpPr>
        <p:spPr>
          <a:xfrm>
            <a:off x="381000" y="1714500"/>
            <a:ext cx="8382000" cy="428700"/>
          </a:xfrm>
          <a:prstGeom prst="roundRect">
            <a:avLst>
              <a:gd fmla="val 26666"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719" name="Google Shape;719;p49"/>
          <p:cNvGrpSpPr/>
          <p:nvPr/>
        </p:nvGrpSpPr>
        <p:grpSpPr>
          <a:xfrm>
            <a:off x="571500" y="1714500"/>
            <a:ext cx="8096250" cy="428700"/>
            <a:chOff x="571500" y="1714500"/>
            <a:chExt cx="8096250" cy="428700"/>
          </a:xfrm>
        </p:grpSpPr>
        <p:sp>
          <p:nvSpPr>
            <p:cNvPr id="720" name="Google Shape;720;p49"/>
            <p:cNvSpPr txBox="1"/>
            <p:nvPr/>
          </p:nvSpPr>
          <p:spPr>
            <a:xfrm>
              <a:off x="571500" y="1714500"/>
              <a:ext cx="1143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1000">
                  <a:solidFill>
                    <a:srgbClr val="475569"/>
                  </a:solidFill>
                  <a:latin typeface="Raleway"/>
                  <a:ea typeface="Raleway"/>
                  <a:cs typeface="Raleway"/>
                  <a:sym typeface="Raleway"/>
                </a:rPr>
                <a:t>Variant</a:t>
              </a:r>
              <a:endParaRPr b="1" sz="1000">
                <a:solidFill>
                  <a:srgbClr val="475569"/>
                </a:solidFill>
                <a:latin typeface="Raleway"/>
                <a:ea typeface="Raleway"/>
                <a:cs typeface="Raleway"/>
                <a:sym typeface="Raleway"/>
              </a:endParaRPr>
            </a:p>
          </p:txBody>
        </p:sp>
        <p:sp>
          <p:nvSpPr>
            <p:cNvPr id="721" name="Google Shape;721;p49"/>
            <p:cNvSpPr txBox="1"/>
            <p:nvPr/>
          </p:nvSpPr>
          <p:spPr>
            <a:xfrm>
              <a:off x="1714500" y="1714500"/>
              <a:ext cx="6669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000">
                  <a:solidFill>
                    <a:srgbClr val="475569"/>
                  </a:solidFill>
                  <a:latin typeface="Raleway"/>
                  <a:ea typeface="Raleway"/>
                  <a:cs typeface="Raleway"/>
                  <a:sym typeface="Raleway"/>
                </a:rPr>
                <a:t>Wins</a:t>
              </a:r>
              <a:endParaRPr b="1" sz="1000">
                <a:solidFill>
                  <a:srgbClr val="475569"/>
                </a:solidFill>
                <a:latin typeface="Raleway"/>
                <a:ea typeface="Raleway"/>
                <a:cs typeface="Raleway"/>
                <a:sym typeface="Raleway"/>
              </a:endParaRPr>
            </a:p>
          </p:txBody>
        </p:sp>
        <p:sp>
          <p:nvSpPr>
            <p:cNvPr id="722" name="Google Shape;722;p49"/>
            <p:cNvSpPr txBox="1"/>
            <p:nvPr/>
          </p:nvSpPr>
          <p:spPr>
            <a:xfrm>
              <a:off x="2381250" y="1714500"/>
              <a:ext cx="6669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000">
                  <a:solidFill>
                    <a:srgbClr val="475569"/>
                  </a:solidFill>
                  <a:latin typeface="Raleway"/>
                  <a:ea typeface="Raleway"/>
                  <a:cs typeface="Raleway"/>
                  <a:sym typeface="Raleway"/>
                </a:rPr>
                <a:t>Losses</a:t>
              </a:r>
              <a:endParaRPr b="1" sz="1000">
                <a:solidFill>
                  <a:srgbClr val="475569"/>
                </a:solidFill>
                <a:latin typeface="Raleway"/>
                <a:ea typeface="Raleway"/>
                <a:cs typeface="Raleway"/>
                <a:sym typeface="Raleway"/>
              </a:endParaRPr>
            </a:p>
          </p:txBody>
        </p:sp>
        <p:sp>
          <p:nvSpPr>
            <p:cNvPr id="723" name="Google Shape;723;p49"/>
            <p:cNvSpPr txBox="1"/>
            <p:nvPr/>
          </p:nvSpPr>
          <p:spPr>
            <a:xfrm>
              <a:off x="3048000" y="1714500"/>
              <a:ext cx="5715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000">
                  <a:solidFill>
                    <a:srgbClr val="475569"/>
                  </a:solidFill>
                  <a:latin typeface="Raleway"/>
                  <a:ea typeface="Raleway"/>
                  <a:cs typeface="Raleway"/>
                  <a:sym typeface="Raleway"/>
                </a:rPr>
                <a:t>Ties</a:t>
              </a:r>
              <a:endParaRPr b="1" sz="1000">
                <a:solidFill>
                  <a:srgbClr val="475569"/>
                </a:solidFill>
                <a:latin typeface="Raleway"/>
                <a:ea typeface="Raleway"/>
                <a:cs typeface="Raleway"/>
                <a:sym typeface="Raleway"/>
              </a:endParaRPr>
            </a:p>
          </p:txBody>
        </p:sp>
        <p:sp>
          <p:nvSpPr>
            <p:cNvPr id="724" name="Google Shape;724;p49"/>
            <p:cNvSpPr txBox="1"/>
            <p:nvPr/>
          </p:nvSpPr>
          <p:spPr>
            <a:xfrm>
              <a:off x="3619500" y="1714500"/>
              <a:ext cx="7620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000">
                  <a:solidFill>
                    <a:srgbClr val="475569"/>
                  </a:solidFill>
                  <a:latin typeface="Raleway"/>
                  <a:ea typeface="Raleway"/>
                  <a:cs typeface="Raleway"/>
                  <a:sym typeface="Raleway"/>
                </a:rPr>
                <a:t>Win Rate</a:t>
              </a:r>
              <a:endParaRPr b="1" sz="1000">
                <a:solidFill>
                  <a:srgbClr val="475569"/>
                </a:solidFill>
                <a:latin typeface="Raleway"/>
                <a:ea typeface="Raleway"/>
                <a:cs typeface="Raleway"/>
                <a:sym typeface="Raleway"/>
              </a:endParaRPr>
            </a:p>
          </p:txBody>
        </p:sp>
        <p:sp>
          <p:nvSpPr>
            <p:cNvPr id="725" name="Google Shape;725;p49"/>
            <p:cNvSpPr txBox="1"/>
            <p:nvPr/>
          </p:nvSpPr>
          <p:spPr>
            <a:xfrm>
              <a:off x="4381500" y="1714500"/>
              <a:ext cx="7620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000">
                  <a:solidFill>
                    <a:srgbClr val="475569"/>
                  </a:solidFill>
                  <a:latin typeface="Raleway"/>
                  <a:ea typeface="Raleway"/>
                  <a:cs typeface="Raleway"/>
                  <a:sym typeface="Raleway"/>
                </a:rPr>
                <a:t>Loss Rate</a:t>
              </a:r>
              <a:endParaRPr b="1" sz="1000">
                <a:solidFill>
                  <a:srgbClr val="475569"/>
                </a:solidFill>
                <a:latin typeface="Raleway"/>
                <a:ea typeface="Raleway"/>
                <a:cs typeface="Raleway"/>
                <a:sym typeface="Raleway"/>
              </a:endParaRPr>
            </a:p>
          </p:txBody>
        </p:sp>
        <p:sp>
          <p:nvSpPr>
            <p:cNvPr id="726" name="Google Shape;726;p49"/>
            <p:cNvSpPr txBox="1"/>
            <p:nvPr/>
          </p:nvSpPr>
          <p:spPr>
            <a:xfrm>
              <a:off x="5143500" y="1714500"/>
              <a:ext cx="7620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000">
                  <a:solidFill>
                    <a:srgbClr val="475569"/>
                  </a:solidFill>
                  <a:latin typeface="Raleway"/>
                  <a:ea typeface="Raleway"/>
                  <a:cs typeface="Raleway"/>
                  <a:sym typeface="Raleway"/>
                </a:rPr>
                <a:t>Tie rate</a:t>
              </a:r>
              <a:endParaRPr b="1" sz="1000">
                <a:solidFill>
                  <a:srgbClr val="475569"/>
                </a:solidFill>
                <a:latin typeface="Raleway"/>
                <a:ea typeface="Raleway"/>
                <a:cs typeface="Raleway"/>
                <a:sym typeface="Raleway"/>
              </a:endParaRPr>
            </a:p>
          </p:txBody>
        </p:sp>
        <p:sp>
          <p:nvSpPr>
            <p:cNvPr id="727" name="Google Shape;727;p49"/>
            <p:cNvSpPr txBox="1"/>
            <p:nvPr/>
          </p:nvSpPr>
          <p:spPr>
            <a:xfrm>
              <a:off x="5905500" y="1714500"/>
              <a:ext cx="8574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000">
                  <a:solidFill>
                    <a:srgbClr val="475569"/>
                  </a:solidFill>
                  <a:latin typeface="Raleway"/>
                  <a:ea typeface="Raleway"/>
                  <a:cs typeface="Raleway"/>
                  <a:sym typeface="Raleway"/>
                </a:rPr>
                <a:t>Latency (s)</a:t>
              </a:r>
              <a:endParaRPr b="1" sz="1000">
                <a:solidFill>
                  <a:srgbClr val="475569"/>
                </a:solidFill>
                <a:latin typeface="Raleway"/>
                <a:ea typeface="Raleway"/>
                <a:cs typeface="Raleway"/>
                <a:sym typeface="Raleway"/>
              </a:endParaRPr>
            </a:p>
          </p:txBody>
        </p:sp>
        <p:sp>
          <p:nvSpPr>
            <p:cNvPr id="728" name="Google Shape;728;p49"/>
            <p:cNvSpPr txBox="1"/>
            <p:nvPr/>
          </p:nvSpPr>
          <p:spPr>
            <a:xfrm>
              <a:off x="6762750" y="1714500"/>
              <a:ext cx="9525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000">
                  <a:solidFill>
                    <a:srgbClr val="475569"/>
                  </a:solidFill>
                  <a:latin typeface="Raleway"/>
                  <a:ea typeface="Raleway"/>
                  <a:cs typeface="Raleway"/>
                  <a:sym typeface="Raleway"/>
                </a:rPr>
                <a:t>Tokens</a:t>
              </a:r>
              <a:endParaRPr b="1" sz="1000">
                <a:solidFill>
                  <a:srgbClr val="475569"/>
                </a:solidFill>
                <a:latin typeface="Raleway"/>
                <a:ea typeface="Raleway"/>
                <a:cs typeface="Raleway"/>
                <a:sym typeface="Raleway"/>
              </a:endParaRPr>
            </a:p>
          </p:txBody>
        </p:sp>
        <p:sp>
          <p:nvSpPr>
            <p:cNvPr id="729" name="Google Shape;729;p49"/>
            <p:cNvSpPr txBox="1"/>
            <p:nvPr/>
          </p:nvSpPr>
          <p:spPr>
            <a:xfrm>
              <a:off x="7715250" y="1714500"/>
              <a:ext cx="9525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000">
                  <a:solidFill>
                    <a:srgbClr val="475569"/>
                  </a:solidFill>
                  <a:latin typeface="Raleway"/>
                  <a:ea typeface="Raleway"/>
                  <a:cs typeface="Raleway"/>
                  <a:sym typeface="Raleway"/>
                </a:rPr>
                <a:t>Bridge Edges</a:t>
              </a:r>
              <a:endParaRPr b="1" sz="1000">
                <a:solidFill>
                  <a:srgbClr val="475569"/>
                </a:solidFill>
                <a:latin typeface="Raleway"/>
                <a:ea typeface="Raleway"/>
                <a:cs typeface="Raleway"/>
                <a:sym typeface="Raleway"/>
              </a:endParaRPr>
            </a:p>
          </p:txBody>
        </p:sp>
      </p:grpSp>
      <p:grpSp>
        <p:nvGrpSpPr>
          <p:cNvPr id="730" name="Google Shape;730;p49"/>
          <p:cNvGrpSpPr/>
          <p:nvPr/>
        </p:nvGrpSpPr>
        <p:grpSpPr>
          <a:xfrm>
            <a:off x="381000" y="2519363"/>
            <a:ext cx="8382000" cy="385763"/>
            <a:chOff x="381000" y="2519363"/>
            <a:chExt cx="8382000" cy="385763"/>
          </a:xfrm>
        </p:grpSpPr>
        <p:pic>
          <p:nvPicPr>
            <p:cNvPr id="731" name="Google Shape;731;p49"/>
            <p:cNvPicPr preferRelativeResize="0"/>
            <p:nvPr/>
          </p:nvPicPr>
          <p:blipFill rotWithShape="1">
            <a:blip r:embed="rId3">
              <a:alphaModFix/>
            </a:blip>
            <a:srcRect b="0" l="0" r="0" t="0"/>
            <a:stretch/>
          </p:blipFill>
          <p:spPr>
            <a:xfrm>
              <a:off x="381000" y="2519363"/>
              <a:ext cx="8382000" cy="9600"/>
            </a:xfrm>
            <a:prstGeom prst="rect">
              <a:avLst/>
            </a:prstGeom>
            <a:noFill/>
            <a:ln>
              <a:noFill/>
            </a:ln>
          </p:spPr>
        </p:pic>
        <p:sp>
          <p:nvSpPr>
            <p:cNvPr id="732" name="Google Shape;732;p49"/>
            <p:cNvSpPr txBox="1"/>
            <p:nvPr/>
          </p:nvSpPr>
          <p:spPr>
            <a:xfrm>
              <a:off x="571500" y="2524125"/>
              <a:ext cx="1143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900">
                  <a:solidFill>
                    <a:srgbClr val="1E293B"/>
                  </a:solidFill>
                  <a:latin typeface="Lato"/>
                  <a:ea typeface="Lato"/>
                  <a:cs typeface="Lato"/>
                  <a:sym typeface="Lato"/>
                </a:rPr>
                <a:t>hi_minmax</a:t>
              </a:r>
              <a:endParaRPr b="1" sz="900">
                <a:solidFill>
                  <a:srgbClr val="1E293B"/>
                </a:solidFill>
                <a:latin typeface="Lato"/>
                <a:ea typeface="Lato"/>
                <a:cs typeface="Lato"/>
                <a:sym typeface="Lato"/>
              </a:endParaRPr>
            </a:p>
          </p:txBody>
        </p:sp>
        <p:sp>
          <p:nvSpPr>
            <p:cNvPr id="733" name="Google Shape;733;p49"/>
            <p:cNvSpPr txBox="1"/>
            <p:nvPr/>
          </p:nvSpPr>
          <p:spPr>
            <a:xfrm>
              <a:off x="1714500" y="2524125"/>
              <a:ext cx="6669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26</a:t>
              </a:r>
              <a:endParaRPr b="0" sz="900">
                <a:solidFill>
                  <a:srgbClr val="1E293B"/>
                </a:solidFill>
                <a:latin typeface="Lato"/>
                <a:ea typeface="Lato"/>
                <a:cs typeface="Lato"/>
                <a:sym typeface="Lato"/>
              </a:endParaRPr>
            </a:p>
          </p:txBody>
        </p:sp>
        <p:sp>
          <p:nvSpPr>
            <p:cNvPr id="734" name="Google Shape;734;p49"/>
            <p:cNvSpPr txBox="1"/>
            <p:nvPr/>
          </p:nvSpPr>
          <p:spPr>
            <a:xfrm>
              <a:off x="2381250" y="2524125"/>
              <a:ext cx="6669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34</a:t>
              </a:r>
              <a:endParaRPr b="0" sz="900">
                <a:solidFill>
                  <a:srgbClr val="1E293B"/>
                </a:solidFill>
                <a:latin typeface="Lato"/>
                <a:ea typeface="Lato"/>
                <a:cs typeface="Lato"/>
                <a:sym typeface="Lato"/>
              </a:endParaRPr>
            </a:p>
          </p:txBody>
        </p:sp>
        <p:sp>
          <p:nvSpPr>
            <p:cNvPr id="735" name="Google Shape;735;p49"/>
            <p:cNvSpPr txBox="1"/>
            <p:nvPr/>
          </p:nvSpPr>
          <p:spPr>
            <a:xfrm>
              <a:off x="3048000" y="2524125"/>
              <a:ext cx="571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0</a:t>
              </a:r>
              <a:endParaRPr b="0" sz="900">
                <a:solidFill>
                  <a:srgbClr val="1E293B"/>
                </a:solidFill>
                <a:latin typeface="Lato"/>
                <a:ea typeface="Lato"/>
                <a:cs typeface="Lato"/>
                <a:sym typeface="Lato"/>
              </a:endParaRPr>
            </a:p>
          </p:txBody>
        </p:sp>
        <p:sp>
          <p:nvSpPr>
            <p:cNvPr id="736" name="Google Shape;736;p49"/>
            <p:cNvSpPr txBox="1"/>
            <p:nvPr/>
          </p:nvSpPr>
          <p:spPr>
            <a:xfrm>
              <a:off x="3619500" y="2524125"/>
              <a:ext cx="762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000">
                  <a:solidFill>
                    <a:srgbClr val="1A9988"/>
                  </a:solidFill>
                  <a:latin typeface="Lato"/>
                  <a:ea typeface="Lato"/>
                  <a:cs typeface="Lato"/>
                  <a:sym typeface="Lato"/>
                </a:rPr>
                <a:t>43 %</a:t>
              </a:r>
              <a:endParaRPr b="1" sz="1000">
                <a:solidFill>
                  <a:srgbClr val="1A9988"/>
                </a:solidFill>
                <a:latin typeface="Lato"/>
                <a:ea typeface="Lato"/>
                <a:cs typeface="Lato"/>
                <a:sym typeface="Lato"/>
              </a:endParaRPr>
            </a:p>
          </p:txBody>
        </p:sp>
        <p:sp>
          <p:nvSpPr>
            <p:cNvPr id="737" name="Google Shape;737;p49"/>
            <p:cNvSpPr txBox="1"/>
            <p:nvPr/>
          </p:nvSpPr>
          <p:spPr>
            <a:xfrm>
              <a:off x="4381500" y="2524125"/>
              <a:ext cx="762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0.57</a:t>
              </a:r>
              <a:endParaRPr b="0" sz="900">
                <a:solidFill>
                  <a:srgbClr val="1E293B"/>
                </a:solidFill>
                <a:latin typeface="Lato"/>
                <a:ea typeface="Lato"/>
                <a:cs typeface="Lato"/>
                <a:sym typeface="Lato"/>
              </a:endParaRPr>
            </a:p>
          </p:txBody>
        </p:sp>
        <p:sp>
          <p:nvSpPr>
            <p:cNvPr id="738" name="Google Shape;738;p49"/>
            <p:cNvSpPr txBox="1"/>
            <p:nvPr/>
          </p:nvSpPr>
          <p:spPr>
            <a:xfrm>
              <a:off x="5143500" y="2524125"/>
              <a:ext cx="762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0.00</a:t>
              </a:r>
              <a:endParaRPr b="0" sz="900">
                <a:solidFill>
                  <a:srgbClr val="1E293B"/>
                </a:solidFill>
                <a:latin typeface="Lato"/>
                <a:ea typeface="Lato"/>
                <a:cs typeface="Lato"/>
                <a:sym typeface="Lato"/>
              </a:endParaRPr>
            </a:p>
          </p:txBody>
        </p:sp>
        <p:sp>
          <p:nvSpPr>
            <p:cNvPr id="739" name="Google Shape;739;p49"/>
            <p:cNvSpPr txBox="1"/>
            <p:nvPr/>
          </p:nvSpPr>
          <p:spPr>
            <a:xfrm>
              <a:off x="5905500" y="2524125"/>
              <a:ext cx="8574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2.49</a:t>
              </a:r>
              <a:endParaRPr b="0" sz="900">
                <a:solidFill>
                  <a:srgbClr val="1E293B"/>
                </a:solidFill>
                <a:latin typeface="Lato"/>
                <a:ea typeface="Lato"/>
                <a:cs typeface="Lato"/>
                <a:sym typeface="Lato"/>
              </a:endParaRPr>
            </a:p>
          </p:txBody>
        </p:sp>
        <p:sp>
          <p:nvSpPr>
            <p:cNvPr id="740" name="Google Shape;740;p49"/>
            <p:cNvSpPr txBox="1"/>
            <p:nvPr/>
          </p:nvSpPr>
          <p:spPr>
            <a:xfrm>
              <a:off x="6762750" y="2524125"/>
              <a:ext cx="952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4576</a:t>
              </a:r>
              <a:endParaRPr b="0" sz="900">
                <a:solidFill>
                  <a:srgbClr val="1E293B"/>
                </a:solidFill>
                <a:latin typeface="Lato"/>
                <a:ea typeface="Lato"/>
                <a:cs typeface="Lato"/>
                <a:sym typeface="Lato"/>
              </a:endParaRPr>
            </a:p>
          </p:txBody>
        </p:sp>
        <p:sp>
          <p:nvSpPr>
            <p:cNvPr id="741" name="Google Shape;741;p49"/>
            <p:cNvSpPr txBox="1"/>
            <p:nvPr/>
          </p:nvSpPr>
          <p:spPr>
            <a:xfrm>
              <a:off x="7715250" y="2524125"/>
              <a:ext cx="952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12.33</a:t>
              </a:r>
              <a:endParaRPr b="0" sz="900">
                <a:solidFill>
                  <a:srgbClr val="1E293B"/>
                </a:solidFill>
                <a:latin typeface="Lato"/>
                <a:ea typeface="Lato"/>
                <a:cs typeface="Lato"/>
                <a:sym typeface="Lato"/>
              </a:endParaRPr>
            </a:p>
          </p:txBody>
        </p:sp>
      </p:grpSp>
      <p:grpSp>
        <p:nvGrpSpPr>
          <p:cNvPr id="742" name="Google Shape;742;p49"/>
          <p:cNvGrpSpPr/>
          <p:nvPr/>
        </p:nvGrpSpPr>
        <p:grpSpPr>
          <a:xfrm>
            <a:off x="381000" y="2900363"/>
            <a:ext cx="8382000" cy="385763"/>
            <a:chOff x="381000" y="2900363"/>
            <a:chExt cx="8382000" cy="385763"/>
          </a:xfrm>
        </p:grpSpPr>
        <p:pic>
          <p:nvPicPr>
            <p:cNvPr id="743" name="Google Shape;743;p49"/>
            <p:cNvPicPr preferRelativeResize="0"/>
            <p:nvPr/>
          </p:nvPicPr>
          <p:blipFill rotWithShape="1">
            <a:blip r:embed="rId3">
              <a:alphaModFix/>
            </a:blip>
            <a:srcRect b="0" l="0" r="0" t="0"/>
            <a:stretch/>
          </p:blipFill>
          <p:spPr>
            <a:xfrm>
              <a:off x="381000" y="2900363"/>
              <a:ext cx="8382000" cy="9600"/>
            </a:xfrm>
            <a:prstGeom prst="rect">
              <a:avLst/>
            </a:prstGeom>
            <a:noFill/>
            <a:ln>
              <a:noFill/>
            </a:ln>
          </p:spPr>
        </p:pic>
        <p:sp>
          <p:nvSpPr>
            <p:cNvPr id="744" name="Google Shape;744;p49"/>
            <p:cNvSpPr txBox="1"/>
            <p:nvPr/>
          </p:nvSpPr>
          <p:spPr>
            <a:xfrm>
              <a:off x="571500" y="2905125"/>
              <a:ext cx="1143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900">
                  <a:solidFill>
                    <a:srgbClr val="1E293B"/>
                  </a:solidFill>
                  <a:latin typeface="Lato"/>
                  <a:ea typeface="Lato"/>
                  <a:cs typeface="Lato"/>
                  <a:sym typeface="Lato"/>
                </a:rPr>
                <a:t>hi_min_budget</a:t>
              </a:r>
              <a:endParaRPr b="1" sz="900">
                <a:solidFill>
                  <a:srgbClr val="1E293B"/>
                </a:solidFill>
                <a:latin typeface="Lato"/>
                <a:ea typeface="Lato"/>
                <a:cs typeface="Lato"/>
                <a:sym typeface="Lato"/>
              </a:endParaRPr>
            </a:p>
          </p:txBody>
        </p:sp>
        <p:sp>
          <p:nvSpPr>
            <p:cNvPr id="745" name="Google Shape;745;p49"/>
            <p:cNvSpPr txBox="1"/>
            <p:nvPr/>
          </p:nvSpPr>
          <p:spPr>
            <a:xfrm>
              <a:off x="1714500" y="2905125"/>
              <a:ext cx="6669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23</a:t>
              </a:r>
              <a:endParaRPr b="0" sz="900">
                <a:solidFill>
                  <a:srgbClr val="1E293B"/>
                </a:solidFill>
                <a:latin typeface="Lato"/>
                <a:ea typeface="Lato"/>
                <a:cs typeface="Lato"/>
                <a:sym typeface="Lato"/>
              </a:endParaRPr>
            </a:p>
          </p:txBody>
        </p:sp>
        <p:sp>
          <p:nvSpPr>
            <p:cNvPr id="746" name="Google Shape;746;p49"/>
            <p:cNvSpPr txBox="1"/>
            <p:nvPr/>
          </p:nvSpPr>
          <p:spPr>
            <a:xfrm>
              <a:off x="2381250" y="2905125"/>
              <a:ext cx="6669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37</a:t>
              </a:r>
              <a:endParaRPr b="0" sz="900">
                <a:solidFill>
                  <a:srgbClr val="1E293B"/>
                </a:solidFill>
                <a:latin typeface="Lato"/>
                <a:ea typeface="Lato"/>
                <a:cs typeface="Lato"/>
                <a:sym typeface="Lato"/>
              </a:endParaRPr>
            </a:p>
          </p:txBody>
        </p:sp>
        <p:sp>
          <p:nvSpPr>
            <p:cNvPr id="747" name="Google Shape;747;p49"/>
            <p:cNvSpPr txBox="1"/>
            <p:nvPr/>
          </p:nvSpPr>
          <p:spPr>
            <a:xfrm>
              <a:off x="3048000" y="2905125"/>
              <a:ext cx="571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0</a:t>
              </a:r>
              <a:endParaRPr b="0" sz="900">
                <a:solidFill>
                  <a:srgbClr val="1E293B"/>
                </a:solidFill>
                <a:latin typeface="Lato"/>
                <a:ea typeface="Lato"/>
                <a:cs typeface="Lato"/>
                <a:sym typeface="Lato"/>
              </a:endParaRPr>
            </a:p>
          </p:txBody>
        </p:sp>
        <p:sp>
          <p:nvSpPr>
            <p:cNvPr id="748" name="Google Shape;748;p49"/>
            <p:cNvSpPr txBox="1"/>
            <p:nvPr/>
          </p:nvSpPr>
          <p:spPr>
            <a:xfrm>
              <a:off x="3619500" y="2905125"/>
              <a:ext cx="762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000">
                  <a:solidFill>
                    <a:srgbClr val="1A9988"/>
                  </a:solidFill>
                  <a:latin typeface="Lato"/>
                  <a:ea typeface="Lato"/>
                  <a:cs typeface="Lato"/>
                  <a:sym typeface="Lato"/>
                </a:rPr>
                <a:t>38 %</a:t>
              </a:r>
              <a:endParaRPr b="1" sz="1000">
                <a:solidFill>
                  <a:srgbClr val="1A9988"/>
                </a:solidFill>
                <a:latin typeface="Lato"/>
                <a:ea typeface="Lato"/>
                <a:cs typeface="Lato"/>
                <a:sym typeface="Lato"/>
              </a:endParaRPr>
            </a:p>
          </p:txBody>
        </p:sp>
        <p:sp>
          <p:nvSpPr>
            <p:cNvPr id="749" name="Google Shape;749;p49"/>
            <p:cNvSpPr txBox="1"/>
            <p:nvPr/>
          </p:nvSpPr>
          <p:spPr>
            <a:xfrm>
              <a:off x="4381500" y="2905125"/>
              <a:ext cx="762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0.62</a:t>
              </a:r>
              <a:endParaRPr b="0" sz="900">
                <a:solidFill>
                  <a:srgbClr val="1E293B"/>
                </a:solidFill>
                <a:latin typeface="Lato"/>
                <a:ea typeface="Lato"/>
                <a:cs typeface="Lato"/>
                <a:sym typeface="Lato"/>
              </a:endParaRPr>
            </a:p>
          </p:txBody>
        </p:sp>
        <p:sp>
          <p:nvSpPr>
            <p:cNvPr id="750" name="Google Shape;750;p49"/>
            <p:cNvSpPr txBox="1"/>
            <p:nvPr/>
          </p:nvSpPr>
          <p:spPr>
            <a:xfrm>
              <a:off x="5143500" y="2905125"/>
              <a:ext cx="762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0.00</a:t>
              </a:r>
              <a:endParaRPr b="0" sz="900">
                <a:solidFill>
                  <a:srgbClr val="1E293B"/>
                </a:solidFill>
                <a:latin typeface="Lato"/>
                <a:ea typeface="Lato"/>
                <a:cs typeface="Lato"/>
                <a:sym typeface="Lato"/>
              </a:endParaRPr>
            </a:p>
          </p:txBody>
        </p:sp>
        <p:sp>
          <p:nvSpPr>
            <p:cNvPr id="751" name="Google Shape;751;p49"/>
            <p:cNvSpPr txBox="1"/>
            <p:nvPr/>
          </p:nvSpPr>
          <p:spPr>
            <a:xfrm>
              <a:off x="5905500" y="2905125"/>
              <a:ext cx="8574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2.43</a:t>
              </a:r>
              <a:endParaRPr b="0" sz="900">
                <a:solidFill>
                  <a:srgbClr val="1E293B"/>
                </a:solidFill>
                <a:latin typeface="Lato"/>
                <a:ea typeface="Lato"/>
                <a:cs typeface="Lato"/>
                <a:sym typeface="Lato"/>
              </a:endParaRPr>
            </a:p>
          </p:txBody>
        </p:sp>
        <p:sp>
          <p:nvSpPr>
            <p:cNvPr id="752" name="Google Shape;752;p49"/>
            <p:cNvSpPr txBox="1"/>
            <p:nvPr/>
          </p:nvSpPr>
          <p:spPr>
            <a:xfrm>
              <a:off x="6762750" y="2905125"/>
              <a:ext cx="952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4576</a:t>
              </a:r>
              <a:endParaRPr b="0" sz="900">
                <a:solidFill>
                  <a:srgbClr val="1E293B"/>
                </a:solidFill>
                <a:latin typeface="Lato"/>
                <a:ea typeface="Lato"/>
                <a:cs typeface="Lato"/>
                <a:sym typeface="Lato"/>
              </a:endParaRPr>
            </a:p>
          </p:txBody>
        </p:sp>
        <p:sp>
          <p:nvSpPr>
            <p:cNvPr id="753" name="Google Shape;753;p49"/>
            <p:cNvSpPr txBox="1"/>
            <p:nvPr/>
          </p:nvSpPr>
          <p:spPr>
            <a:xfrm>
              <a:off x="7715250" y="2905125"/>
              <a:ext cx="952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12.33</a:t>
              </a:r>
              <a:endParaRPr b="0" sz="900">
                <a:solidFill>
                  <a:srgbClr val="1E293B"/>
                </a:solidFill>
                <a:latin typeface="Lato"/>
                <a:ea typeface="Lato"/>
                <a:cs typeface="Lato"/>
                <a:sym typeface="Lato"/>
              </a:endParaRPr>
            </a:p>
          </p:txBody>
        </p:sp>
      </p:grpSp>
      <p:grpSp>
        <p:nvGrpSpPr>
          <p:cNvPr id="754" name="Google Shape;754;p49"/>
          <p:cNvGrpSpPr/>
          <p:nvPr/>
        </p:nvGrpSpPr>
        <p:grpSpPr>
          <a:xfrm>
            <a:off x="381000" y="3281363"/>
            <a:ext cx="8382000" cy="385763"/>
            <a:chOff x="381000" y="3281363"/>
            <a:chExt cx="8382000" cy="385763"/>
          </a:xfrm>
        </p:grpSpPr>
        <p:pic>
          <p:nvPicPr>
            <p:cNvPr id="755" name="Google Shape;755;p49"/>
            <p:cNvPicPr preferRelativeResize="0"/>
            <p:nvPr/>
          </p:nvPicPr>
          <p:blipFill rotWithShape="1">
            <a:blip r:embed="rId3">
              <a:alphaModFix/>
            </a:blip>
            <a:srcRect b="0" l="0" r="0" t="0"/>
            <a:stretch/>
          </p:blipFill>
          <p:spPr>
            <a:xfrm>
              <a:off x="381000" y="3281363"/>
              <a:ext cx="8382000" cy="9600"/>
            </a:xfrm>
            <a:prstGeom prst="rect">
              <a:avLst/>
            </a:prstGeom>
            <a:noFill/>
            <a:ln>
              <a:noFill/>
            </a:ln>
          </p:spPr>
        </p:pic>
        <p:sp>
          <p:nvSpPr>
            <p:cNvPr id="756" name="Google Shape;756;p49"/>
            <p:cNvSpPr txBox="1"/>
            <p:nvPr/>
          </p:nvSpPr>
          <p:spPr>
            <a:xfrm>
              <a:off x="571500" y="3286125"/>
              <a:ext cx="1143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900">
                  <a:solidFill>
                    <a:srgbClr val="1E293B"/>
                  </a:solidFill>
                  <a:latin typeface="Lato"/>
                  <a:ea typeface="Lato"/>
                  <a:cs typeface="Lato"/>
                  <a:sym typeface="Lato"/>
                </a:rPr>
                <a:t>hi_rerank</a:t>
              </a:r>
              <a:endParaRPr b="1" sz="900">
                <a:solidFill>
                  <a:srgbClr val="1E293B"/>
                </a:solidFill>
                <a:latin typeface="Lato"/>
                <a:ea typeface="Lato"/>
                <a:cs typeface="Lato"/>
                <a:sym typeface="Lato"/>
              </a:endParaRPr>
            </a:p>
          </p:txBody>
        </p:sp>
        <p:sp>
          <p:nvSpPr>
            <p:cNvPr id="757" name="Google Shape;757;p49"/>
            <p:cNvSpPr txBox="1"/>
            <p:nvPr/>
          </p:nvSpPr>
          <p:spPr>
            <a:xfrm>
              <a:off x="1714500" y="3286125"/>
              <a:ext cx="6669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25</a:t>
              </a:r>
              <a:endParaRPr b="0" sz="900">
                <a:solidFill>
                  <a:srgbClr val="1E293B"/>
                </a:solidFill>
                <a:latin typeface="Lato"/>
                <a:ea typeface="Lato"/>
                <a:cs typeface="Lato"/>
                <a:sym typeface="Lato"/>
              </a:endParaRPr>
            </a:p>
          </p:txBody>
        </p:sp>
        <p:sp>
          <p:nvSpPr>
            <p:cNvPr id="758" name="Google Shape;758;p49"/>
            <p:cNvSpPr txBox="1"/>
            <p:nvPr/>
          </p:nvSpPr>
          <p:spPr>
            <a:xfrm>
              <a:off x="2381250" y="3286125"/>
              <a:ext cx="6669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35</a:t>
              </a:r>
              <a:endParaRPr b="0" sz="900">
                <a:solidFill>
                  <a:srgbClr val="1E293B"/>
                </a:solidFill>
                <a:latin typeface="Lato"/>
                <a:ea typeface="Lato"/>
                <a:cs typeface="Lato"/>
                <a:sym typeface="Lato"/>
              </a:endParaRPr>
            </a:p>
          </p:txBody>
        </p:sp>
        <p:sp>
          <p:nvSpPr>
            <p:cNvPr id="759" name="Google Shape;759;p49"/>
            <p:cNvSpPr txBox="1"/>
            <p:nvPr/>
          </p:nvSpPr>
          <p:spPr>
            <a:xfrm>
              <a:off x="3048000" y="3286125"/>
              <a:ext cx="571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0</a:t>
              </a:r>
              <a:endParaRPr b="0" sz="900">
                <a:solidFill>
                  <a:srgbClr val="1E293B"/>
                </a:solidFill>
                <a:latin typeface="Lato"/>
                <a:ea typeface="Lato"/>
                <a:cs typeface="Lato"/>
                <a:sym typeface="Lato"/>
              </a:endParaRPr>
            </a:p>
          </p:txBody>
        </p:sp>
        <p:sp>
          <p:nvSpPr>
            <p:cNvPr id="760" name="Google Shape;760;p49"/>
            <p:cNvSpPr txBox="1"/>
            <p:nvPr/>
          </p:nvSpPr>
          <p:spPr>
            <a:xfrm>
              <a:off x="3619500" y="3286125"/>
              <a:ext cx="762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000">
                  <a:solidFill>
                    <a:srgbClr val="1A9988"/>
                  </a:solidFill>
                  <a:latin typeface="Lato"/>
                  <a:ea typeface="Lato"/>
                  <a:cs typeface="Lato"/>
                  <a:sym typeface="Lato"/>
                </a:rPr>
                <a:t>42 %</a:t>
              </a:r>
              <a:endParaRPr b="1" sz="1000">
                <a:solidFill>
                  <a:srgbClr val="1A9988"/>
                </a:solidFill>
                <a:latin typeface="Lato"/>
                <a:ea typeface="Lato"/>
                <a:cs typeface="Lato"/>
                <a:sym typeface="Lato"/>
              </a:endParaRPr>
            </a:p>
          </p:txBody>
        </p:sp>
        <p:sp>
          <p:nvSpPr>
            <p:cNvPr id="761" name="Google Shape;761;p49"/>
            <p:cNvSpPr txBox="1"/>
            <p:nvPr/>
          </p:nvSpPr>
          <p:spPr>
            <a:xfrm>
              <a:off x="4381500" y="3286125"/>
              <a:ext cx="762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0.58</a:t>
              </a:r>
              <a:endParaRPr b="0" sz="900">
                <a:solidFill>
                  <a:srgbClr val="1E293B"/>
                </a:solidFill>
                <a:latin typeface="Lato"/>
                <a:ea typeface="Lato"/>
                <a:cs typeface="Lato"/>
                <a:sym typeface="Lato"/>
              </a:endParaRPr>
            </a:p>
          </p:txBody>
        </p:sp>
        <p:sp>
          <p:nvSpPr>
            <p:cNvPr id="762" name="Google Shape;762;p49"/>
            <p:cNvSpPr txBox="1"/>
            <p:nvPr/>
          </p:nvSpPr>
          <p:spPr>
            <a:xfrm>
              <a:off x="5143500" y="3286125"/>
              <a:ext cx="762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0.00</a:t>
              </a:r>
              <a:endParaRPr b="0" sz="900">
                <a:solidFill>
                  <a:srgbClr val="1E293B"/>
                </a:solidFill>
                <a:latin typeface="Lato"/>
                <a:ea typeface="Lato"/>
                <a:cs typeface="Lato"/>
                <a:sym typeface="Lato"/>
              </a:endParaRPr>
            </a:p>
          </p:txBody>
        </p:sp>
        <p:sp>
          <p:nvSpPr>
            <p:cNvPr id="763" name="Google Shape;763;p49"/>
            <p:cNvSpPr txBox="1"/>
            <p:nvPr/>
          </p:nvSpPr>
          <p:spPr>
            <a:xfrm>
              <a:off x="5905500" y="3286125"/>
              <a:ext cx="8574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5.01</a:t>
              </a:r>
              <a:endParaRPr b="0" sz="900">
                <a:solidFill>
                  <a:srgbClr val="1E293B"/>
                </a:solidFill>
                <a:latin typeface="Lato"/>
                <a:ea typeface="Lato"/>
                <a:cs typeface="Lato"/>
                <a:sym typeface="Lato"/>
              </a:endParaRPr>
            </a:p>
          </p:txBody>
        </p:sp>
        <p:sp>
          <p:nvSpPr>
            <p:cNvPr id="764" name="Google Shape;764;p49"/>
            <p:cNvSpPr txBox="1"/>
            <p:nvPr/>
          </p:nvSpPr>
          <p:spPr>
            <a:xfrm>
              <a:off x="6762750" y="3286125"/>
              <a:ext cx="952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4974</a:t>
              </a:r>
              <a:endParaRPr b="0" sz="900">
                <a:solidFill>
                  <a:srgbClr val="1E293B"/>
                </a:solidFill>
                <a:latin typeface="Lato"/>
                <a:ea typeface="Lato"/>
                <a:cs typeface="Lato"/>
                <a:sym typeface="Lato"/>
              </a:endParaRPr>
            </a:p>
          </p:txBody>
        </p:sp>
        <p:sp>
          <p:nvSpPr>
            <p:cNvPr id="765" name="Google Shape;765;p49"/>
            <p:cNvSpPr txBox="1"/>
            <p:nvPr/>
          </p:nvSpPr>
          <p:spPr>
            <a:xfrm>
              <a:off x="7715250" y="3286125"/>
              <a:ext cx="952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12.13</a:t>
              </a:r>
              <a:endParaRPr b="0" sz="900">
                <a:solidFill>
                  <a:srgbClr val="1E293B"/>
                </a:solidFill>
                <a:latin typeface="Lato"/>
                <a:ea typeface="Lato"/>
                <a:cs typeface="Lato"/>
                <a:sym typeface="Lato"/>
              </a:endParaRPr>
            </a:p>
          </p:txBody>
        </p:sp>
      </p:grpSp>
      <p:grpSp>
        <p:nvGrpSpPr>
          <p:cNvPr id="766" name="Google Shape;766;p49"/>
          <p:cNvGrpSpPr/>
          <p:nvPr/>
        </p:nvGrpSpPr>
        <p:grpSpPr>
          <a:xfrm>
            <a:off x="381000" y="3662363"/>
            <a:ext cx="8382000" cy="385763"/>
            <a:chOff x="381000" y="3662363"/>
            <a:chExt cx="8382000" cy="385763"/>
          </a:xfrm>
        </p:grpSpPr>
        <p:pic>
          <p:nvPicPr>
            <p:cNvPr id="767" name="Google Shape;767;p49"/>
            <p:cNvPicPr preferRelativeResize="0"/>
            <p:nvPr/>
          </p:nvPicPr>
          <p:blipFill rotWithShape="1">
            <a:blip r:embed="rId3">
              <a:alphaModFix/>
            </a:blip>
            <a:srcRect b="0" l="0" r="0" t="0"/>
            <a:stretch/>
          </p:blipFill>
          <p:spPr>
            <a:xfrm>
              <a:off x="381000" y="3662363"/>
              <a:ext cx="8382000" cy="9600"/>
            </a:xfrm>
            <a:prstGeom prst="rect">
              <a:avLst/>
            </a:prstGeom>
            <a:noFill/>
            <a:ln>
              <a:noFill/>
            </a:ln>
          </p:spPr>
        </p:pic>
        <p:sp>
          <p:nvSpPr>
            <p:cNvPr id="768" name="Google Shape;768;p49"/>
            <p:cNvSpPr txBox="1"/>
            <p:nvPr/>
          </p:nvSpPr>
          <p:spPr>
            <a:xfrm>
              <a:off x="571500" y="3667125"/>
              <a:ext cx="1143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900">
                  <a:solidFill>
                    <a:srgbClr val="1E293B"/>
                  </a:solidFill>
                  <a:latin typeface="Lato"/>
                  <a:ea typeface="Lato"/>
                  <a:cs typeface="Lato"/>
                  <a:sym typeface="Lato"/>
                </a:rPr>
                <a:t>hi_weighted</a:t>
              </a:r>
              <a:endParaRPr b="1" sz="900">
                <a:solidFill>
                  <a:srgbClr val="1E293B"/>
                </a:solidFill>
                <a:latin typeface="Lato"/>
                <a:ea typeface="Lato"/>
                <a:cs typeface="Lato"/>
                <a:sym typeface="Lato"/>
              </a:endParaRPr>
            </a:p>
          </p:txBody>
        </p:sp>
        <p:sp>
          <p:nvSpPr>
            <p:cNvPr id="769" name="Google Shape;769;p49"/>
            <p:cNvSpPr txBox="1"/>
            <p:nvPr/>
          </p:nvSpPr>
          <p:spPr>
            <a:xfrm>
              <a:off x="1714500" y="3667125"/>
              <a:ext cx="6669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24</a:t>
              </a:r>
              <a:endParaRPr b="0" sz="900">
                <a:solidFill>
                  <a:srgbClr val="1E293B"/>
                </a:solidFill>
                <a:latin typeface="Lato"/>
                <a:ea typeface="Lato"/>
                <a:cs typeface="Lato"/>
                <a:sym typeface="Lato"/>
              </a:endParaRPr>
            </a:p>
          </p:txBody>
        </p:sp>
        <p:sp>
          <p:nvSpPr>
            <p:cNvPr id="770" name="Google Shape;770;p49"/>
            <p:cNvSpPr txBox="1"/>
            <p:nvPr/>
          </p:nvSpPr>
          <p:spPr>
            <a:xfrm>
              <a:off x="2381250" y="3667125"/>
              <a:ext cx="6669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36</a:t>
              </a:r>
              <a:endParaRPr b="0" sz="900">
                <a:solidFill>
                  <a:srgbClr val="1E293B"/>
                </a:solidFill>
                <a:latin typeface="Lato"/>
                <a:ea typeface="Lato"/>
                <a:cs typeface="Lato"/>
                <a:sym typeface="Lato"/>
              </a:endParaRPr>
            </a:p>
          </p:txBody>
        </p:sp>
        <p:sp>
          <p:nvSpPr>
            <p:cNvPr id="771" name="Google Shape;771;p49"/>
            <p:cNvSpPr txBox="1"/>
            <p:nvPr/>
          </p:nvSpPr>
          <p:spPr>
            <a:xfrm>
              <a:off x="3048000" y="3667125"/>
              <a:ext cx="571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0</a:t>
              </a:r>
              <a:endParaRPr b="0" sz="900">
                <a:solidFill>
                  <a:srgbClr val="1E293B"/>
                </a:solidFill>
                <a:latin typeface="Lato"/>
                <a:ea typeface="Lato"/>
                <a:cs typeface="Lato"/>
                <a:sym typeface="Lato"/>
              </a:endParaRPr>
            </a:p>
          </p:txBody>
        </p:sp>
        <p:sp>
          <p:nvSpPr>
            <p:cNvPr id="772" name="Google Shape;772;p49"/>
            <p:cNvSpPr txBox="1"/>
            <p:nvPr/>
          </p:nvSpPr>
          <p:spPr>
            <a:xfrm>
              <a:off x="3619500" y="3667125"/>
              <a:ext cx="762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000">
                  <a:solidFill>
                    <a:srgbClr val="1A9988"/>
                  </a:solidFill>
                  <a:latin typeface="Lato"/>
                  <a:ea typeface="Lato"/>
                  <a:cs typeface="Lato"/>
                  <a:sym typeface="Lato"/>
                </a:rPr>
                <a:t>40 %</a:t>
              </a:r>
              <a:endParaRPr b="1" sz="1000">
                <a:solidFill>
                  <a:srgbClr val="1A9988"/>
                </a:solidFill>
                <a:latin typeface="Lato"/>
                <a:ea typeface="Lato"/>
                <a:cs typeface="Lato"/>
                <a:sym typeface="Lato"/>
              </a:endParaRPr>
            </a:p>
          </p:txBody>
        </p:sp>
        <p:sp>
          <p:nvSpPr>
            <p:cNvPr id="773" name="Google Shape;773;p49"/>
            <p:cNvSpPr txBox="1"/>
            <p:nvPr/>
          </p:nvSpPr>
          <p:spPr>
            <a:xfrm>
              <a:off x="4381500" y="3667125"/>
              <a:ext cx="762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0.60</a:t>
              </a:r>
              <a:endParaRPr b="0" sz="900">
                <a:solidFill>
                  <a:srgbClr val="1E293B"/>
                </a:solidFill>
                <a:latin typeface="Lato"/>
                <a:ea typeface="Lato"/>
                <a:cs typeface="Lato"/>
                <a:sym typeface="Lato"/>
              </a:endParaRPr>
            </a:p>
          </p:txBody>
        </p:sp>
        <p:sp>
          <p:nvSpPr>
            <p:cNvPr id="774" name="Google Shape;774;p49"/>
            <p:cNvSpPr txBox="1"/>
            <p:nvPr/>
          </p:nvSpPr>
          <p:spPr>
            <a:xfrm>
              <a:off x="5143500" y="3667125"/>
              <a:ext cx="762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0.00</a:t>
              </a:r>
              <a:endParaRPr b="0" sz="900">
                <a:solidFill>
                  <a:srgbClr val="1E293B"/>
                </a:solidFill>
                <a:latin typeface="Lato"/>
                <a:ea typeface="Lato"/>
                <a:cs typeface="Lato"/>
                <a:sym typeface="Lato"/>
              </a:endParaRPr>
            </a:p>
          </p:txBody>
        </p:sp>
        <p:sp>
          <p:nvSpPr>
            <p:cNvPr id="775" name="Google Shape;775;p49"/>
            <p:cNvSpPr txBox="1"/>
            <p:nvPr/>
          </p:nvSpPr>
          <p:spPr>
            <a:xfrm>
              <a:off x="5905500" y="3667125"/>
              <a:ext cx="8574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1.19</a:t>
              </a:r>
              <a:endParaRPr b="0" sz="900">
                <a:solidFill>
                  <a:srgbClr val="1E293B"/>
                </a:solidFill>
                <a:latin typeface="Lato"/>
                <a:ea typeface="Lato"/>
                <a:cs typeface="Lato"/>
                <a:sym typeface="Lato"/>
              </a:endParaRPr>
            </a:p>
          </p:txBody>
        </p:sp>
        <p:sp>
          <p:nvSpPr>
            <p:cNvPr id="776" name="Google Shape;776;p49"/>
            <p:cNvSpPr txBox="1"/>
            <p:nvPr/>
          </p:nvSpPr>
          <p:spPr>
            <a:xfrm>
              <a:off x="6762750" y="3667125"/>
              <a:ext cx="952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4551</a:t>
              </a:r>
              <a:endParaRPr b="0" sz="900">
                <a:solidFill>
                  <a:srgbClr val="1E293B"/>
                </a:solidFill>
                <a:latin typeface="Lato"/>
                <a:ea typeface="Lato"/>
                <a:cs typeface="Lato"/>
                <a:sym typeface="Lato"/>
              </a:endParaRPr>
            </a:p>
          </p:txBody>
        </p:sp>
        <p:sp>
          <p:nvSpPr>
            <p:cNvPr id="777" name="Google Shape;777;p49"/>
            <p:cNvSpPr txBox="1"/>
            <p:nvPr/>
          </p:nvSpPr>
          <p:spPr>
            <a:xfrm>
              <a:off x="7715250" y="3667125"/>
              <a:ext cx="952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12.00</a:t>
              </a:r>
              <a:endParaRPr b="0" sz="900">
                <a:solidFill>
                  <a:srgbClr val="1E293B"/>
                </a:solidFill>
                <a:latin typeface="Lato"/>
                <a:ea typeface="Lato"/>
                <a:cs typeface="Lato"/>
                <a:sym typeface="Lato"/>
              </a:endParaRPr>
            </a:p>
          </p:txBody>
        </p:sp>
      </p:grpSp>
      <p:grpSp>
        <p:nvGrpSpPr>
          <p:cNvPr id="778" name="Google Shape;778;p49"/>
          <p:cNvGrpSpPr/>
          <p:nvPr/>
        </p:nvGrpSpPr>
        <p:grpSpPr>
          <a:xfrm>
            <a:off x="381000" y="4048125"/>
            <a:ext cx="8382000" cy="381000"/>
            <a:chOff x="381000" y="4048125"/>
            <a:chExt cx="8382000" cy="381000"/>
          </a:xfrm>
        </p:grpSpPr>
        <p:sp>
          <p:nvSpPr>
            <p:cNvPr id="779" name="Google Shape;779;p49"/>
            <p:cNvSpPr/>
            <p:nvPr/>
          </p:nvSpPr>
          <p:spPr>
            <a:xfrm>
              <a:off x="381000" y="4048125"/>
              <a:ext cx="8382000" cy="381000"/>
            </a:xfrm>
            <a:prstGeom prst="roundRect">
              <a:avLst>
                <a:gd fmla="val 20000" name="adj"/>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0" name="Google Shape;780;p49"/>
            <p:cNvSpPr txBox="1"/>
            <p:nvPr/>
          </p:nvSpPr>
          <p:spPr>
            <a:xfrm>
              <a:off x="571500" y="4048125"/>
              <a:ext cx="1143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900">
                  <a:solidFill>
                    <a:srgbClr val="EB5600"/>
                  </a:solidFill>
                  <a:latin typeface="Lato"/>
                  <a:ea typeface="Lato"/>
                  <a:cs typeface="Lato"/>
                  <a:sym typeface="Lato"/>
                </a:rPr>
                <a:t>naive (Baseline)</a:t>
              </a:r>
              <a:endParaRPr b="1" sz="900">
                <a:solidFill>
                  <a:srgbClr val="EB5600"/>
                </a:solidFill>
                <a:latin typeface="Lato"/>
                <a:ea typeface="Lato"/>
                <a:cs typeface="Lato"/>
                <a:sym typeface="Lato"/>
              </a:endParaRPr>
            </a:p>
          </p:txBody>
        </p:sp>
        <p:sp>
          <p:nvSpPr>
            <p:cNvPr id="781" name="Google Shape;781;p49"/>
            <p:cNvSpPr txBox="1"/>
            <p:nvPr/>
          </p:nvSpPr>
          <p:spPr>
            <a:xfrm>
              <a:off x="1714500" y="4048125"/>
              <a:ext cx="6669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900">
                  <a:solidFill>
                    <a:srgbClr val="EB5600"/>
                  </a:solidFill>
                  <a:latin typeface="Lato"/>
                  <a:ea typeface="Lato"/>
                  <a:cs typeface="Lato"/>
                  <a:sym typeface="Lato"/>
                </a:rPr>
                <a:t>40</a:t>
              </a:r>
              <a:endParaRPr b="1" sz="900">
                <a:solidFill>
                  <a:srgbClr val="EB5600"/>
                </a:solidFill>
                <a:latin typeface="Lato"/>
                <a:ea typeface="Lato"/>
                <a:cs typeface="Lato"/>
                <a:sym typeface="Lato"/>
              </a:endParaRPr>
            </a:p>
          </p:txBody>
        </p:sp>
        <p:sp>
          <p:nvSpPr>
            <p:cNvPr id="782" name="Google Shape;782;p49"/>
            <p:cNvSpPr txBox="1"/>
            <p:nvPr/>
          </p:nvSpPr>
          <p:spPr>
            <a:xfrm>
              <a:off x="2381250" y="4048125"/>
              <a:ext cx="6669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900">
                  <a:solidFill>
                    <a:srgbClr val="EB5600"/>
                  </a:solidFill>
                  <a:latin typeface="Lato"/>
                  <a:ea typeface="Lato"/>
                  <a:cs typeface="Lato"/>
                  <a:sym typeface="Lato"/>
                </a:rPr>
                <a:t>20</a:t>
              </a:r>
              <a:endParaRPr b="1" sz="900">
                <a:solidFill>
                  <a:srgbClr val="EB5600"/>
                </a:solidFill>
                <a:latin typeface="Lato"/>
                <a:ea typeface="Lato"/>
                <a:cs typeface="Lato"/>
                <a:sym typeface="Lato"/>
              </a:endParaRPr>
            </a:p>
          </p:txBody>
        </p:sp>
        <p:sp>
          <p:nvSpPr>
            <p:cNvPr id="783" name="Google Shape;783;p49"/>
            <p:cNvSpPr txBox="1"/>
            <p:nvPr/>
          </p:nvSpPr>
          <p:spPr>
            <a:xfrm>
              <a:off x="3048000" y="4048125"/>
              <a:ext cx="571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900">
                  <a:solidFill>
                    <a:srgbClr val="EB5600"/>
                  </a:solidFill>
                  <a:latin typeface="Lato"/>
                  <a:ea typeface="Lato"/>
                  <a:cs typeface="Lato"/>
                  <a:sym typeface="Lato"/>
                </a:rPr>
                <a:t>0</a:t>
              </a:r>
              <a:endParaRPr b="1" sz="900">
                <a:solidFill>
                  <a:srgbClr val="EB5600"/>
                </a:solidFill>
                <a:latin typeface="Lato"/>
                <a:ea typeface="Lato"/>
                <a:cs typeface="Lato"/>
                <a:sym typeface="Lato"/>
              </a:endParaRPr>
            </a:p>
          </p:txBody>
        </p:sp>
        <p:sp>
          <p:nvSpPr>
            <p:cNvPr id="784" name="Google Shape;784;p49"/>
            <p:cNvSpPr txBox="1"/>
            <p:nvPr/>
          </p:nvSpPr>
          <p:spPr>
            <a:xfrm>
              <a:off x="3619500" y="4048125"/>
              <a:ext cx="762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000" u="sng" strike="noStrike">
                  <a:solidFill>
                    <a:srgbClr val="EB5600"/>
                  </a:solidFill>
                  <a:latin typeface="Lato"/>
                  <a:ea typeface="Lato"/>
                  <a:cs typeface="Lato"/>
                  <a:sym typeface="Lato"/>
                </a:rPr>
                <a:t>67 %</a:t>
              </a:r>
              <a:endParaRPr b="1" sz="1000" u="sng" strike="noStrike">
                <a:solidFill>
                  <a:srgbClr val="EB5600"/>
                </a:solidFill>
                <a:latin typeface="Lato"/>
                <a:ea typeface="Lato"/>
                <a:cs typeface="Lato"/>
                <a:sym typeface="Lato"/>
              </a:endParaRPr>
            </a:p>
          </p:txBody>
        </p:sp>
        <p:sp>
          <p:nvSpPr>
            <p:cNvPr id="785" name="Google Shape;785;p49"/>
            <p:cNvSpPr txBox="1"/>
            <p:nvPr/>
          </p:nvSpPr>
          <p:spPr>
            <a:xfrm>
              <a:off x="4381500" y="4048125"/>
              <a:ext cx="762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900">
                  <a:solidFill>
                    <a:srgbClr val="EB5600"/>
                  </a:solidFill>
                  <a:latin typeface="Lato"/>
                  <a:ea typeface="Lato"/>
                  <a:cs typeface="Lato"/>
                  <a:sym typeface="Lato"/>
                </a:rPr>
                <a:t>0.33</a:t>
              </a:r>
              <a:endParaRPr b="1" sz="900">
                <a:solidFill>
                  <a:srgbClr val="EB5600"/>
                </a:solidFill>
                <a:latin typeface="Lato"/>
                <a:ea typeface="Lato"/>
                <a:cs typeface="Lato"/>
                <a:sym typeface="Lato"/>
              </a:endParaRPr>
            </a:p>
          </p:txBody>
        </p:sp>
        <p:sp>
          <p:nvSpPr>
            <p:cNvPr id="786" name="Google Shape;786;p49"/>
            <p:cNvSpPr txBox="1"/>
            <p:nvPr/>
          </p:nvSpPr>
          <p:spPr>
            <a:xfrm>
              <a:off x="5143500" y="4048125"/>
              <a:ext cx="762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900">
                  <a:solidFill>
                    <a:srgbClr val="EB5600"/>
                  </a:solidFill>
                  <a:latin typeface="Lato"/>
                  <a:ea typeface="Lato"/>
                  <a:cs typeface="Lato"/>
                  <a:sym typeface="Lato"/>
                </a:rPr>
                <a:t>0.00</a:t>
              </a:r>
              <a:endParaRPr b="1" sz="900">
                <a:solidFill>
                  <a:srgbClr val="EB5600"/>
                </a:solidFill>
                <a:latin typeface="Lato"/>
                <a:ea typeface="Lato"/>
                <a:cs typeface="Lato"/>
                <a:sym typeface="Lato"/>
              </a:endParaRPr>
            </a:p>
          </p:txBody>
        </p:sp>
        <p:sp>
          <p:nvSpPr>
            <p:cNvPr id="787" name="Google Shape;787;p49"/>
            <p:cNvSpPr txBox="1"/>
            <p:nvPr/>
          </p:nvSpPr>
          <p:spPr>
            <a:xfrm>
              <a:off x="5905500" y="4048125"/>
              <a:ext cx="8574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900">
                  <a:solidFill>
                    <a:srgbClr val="EB5600"/>
                  </a:solidFill>
                  <a:latin typeface="Lato"/>
                  <a:ea typeface="Lato"/>
                  <a:cs typeface="Lato"/>
                  <a:sym typeface="Lato"/>
                </a:rPr>
                <a:t>0.41</a:t>
              </a:r>
              <a:endParaRPr b="1" sz="900">
                <a:solidFill>
                  <a:srgbClr val="EB5600"/>
                </a:solidFill>
                <a:latin typeface="Lato"/>
                <a:ea typeface="Lato"/>
                <a:cs typeface="Lato"/>
                <a:sym typeface="Lato"/>
              </a:endParaRPr>
            </a:p>
          </p:txBody>
        </p:sp>
        <p:sp>
          <p:nvSpPr>
            <p:cNvPr id="788" name="Google Shape;788;p49"/>
            <p:cNvSpPr txBox="1"/>
            <p:nvPr/>
          </p:nvSpPr>
          <p:spPr>
            <a:xfrm>
              <a:off x="6762750" y="4048125"/>
              <a:ext cx="952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900">
                  <a:solidFill>
                    <a:srgbClr val="EB5600"/>
                  </a:solidFill>
                  <a:latin typeface="Lato"/>
                  <a:ea typeface="Lato"/>
                  <a:cs typeface="Lato"/>
                  <a:sym typeface="Lato"/>
                </a:rPr>
                <a:t>6614</a:t>
              </a:r>
              <a:endParaRPr b="1" sz="900">
                <a:solidFill>
                  <a:srgbClr val="EB5600"/>
                </a:solidFill>
                <a:latin typeface="Lato"/>
                <a:ea typeface="Lato"/>
                <a:cs typeface="Lato"/>
                <a:sym typeface="Lato"/>
              </a:endParaRPr>
            </a:p>
          </p:txBody>
        </p:sp>
        <p:sp>
          <p:nvSpPr>
            <p:cNvPr id="789" name="Google Shape;789;p49"/>
            <p:cNvSpPr txBox="1"/>
            <p:nvPr/>
          </p:nvSpPr>
          <p:spPr>
            <a:xfrm>
              <a:off x="7715250" y="4048125"/>
              <a:ext cx="952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900">
                  <a:solidFill>
                    <a:srgbClr val="EB5600"/>
                  </a:solidFill>
                  <a:latin typeface="Lato"/>
                  <a:ea typeface="Lato"/>
                  <a:cs typeface="Lato"/>
                  <a:sym typeface="Lato"/>
                </a:rPr>
                <a:t>0.00</a:t>
              </a:r>
              <a:endParaRPr b="1" sz="900">
                <a:solidFill>
                  <a:srgbClr val="EB5600"/>
                </a:solidFill>
                <a:latin typeface="Lato"/>
                <a:ea typeface="Lato"/>
                <a:cs typeface="Lato"/>
                <a:sym typeface="Lato"/>
              </a:endParaRPr>
            </a:p>
          </p:txBody>
        </p:sp>
      </p:grpSp>
      <p:grpSp>
        <p:nvGrpSpPr>
          <p:cNvPr id="790" name="Google Shape;790;p49"/>
          <p:cNvGrpSpPr/>
          <p:nvPr/>
        </p:nvGrpSpPr>
        <p:grpSpPr>
          <a:xfrm>
            <a:off x="571500" y="2143125"/>
            <a:ext cx="8096250" cy="381000"/>
            <a:chOff x="571500" y="2143125"/>
            <a:chExt cx="8096250" cy="381000"/>
          </a:xfrm>
        </p:grpSpPr>
        <p:sp>
          <p:nvSpPr>
            <p:cNvPr id="791" name="Google Shape;791;p49"/>
            <p:cNvSpPr txBox="1"/>
            <p:nvPr/>
          </p:nvSpPr>
          <p:spPr>
            <a:xfrm>
              <a:off x="571500" y="2143125"/>
              <a:ext cx="1143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900">
                  <a:solidFill>
                    <a:srgbClr val="1E293B"/>
                  </a:solidFill>
                  <a:latin typeface="Lato"/>
                  <a:ea typeface="Lato"/>
                  <a:cs typeface="Lato"/>
                  <a:sym typeface="Lato"/>
                </a:rPr>
                <a:t>hi_mcts</a:t>
              </a:r>
              <a:endParaRPr b="1" sz="900">
                <a:solidFill>
                  <a:srgbClr val="1E293B"/>
                </a:solidFill>
                <a:latin typeface="Lato"/>
                <a:ea typeface="Lato"/>
                <a:cs typeface="Lato"/>
                <a:sym typeface="Lato"/>
              </a:endParaRPr>
            </a:p>
          </p:txBody>
        </p:sp>
        <p:sp>
          <p:nvSpPr>
            <p:cNvPr id="792" name="Google Shape;792;p49"/>
            <p:cNvSpPr txBox="1"/>
            <p:nvPr/>
          </p:nvSpPr>
          <p:spPr>
            <a:xfrm>
              <a:off x="1714500" y="2143125"/>
              <a:ext cx="6669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29</a:t>
              </a:r>
              <a:endParaRPr b="0" sz="900">
                <a:solidFill>
                  <a:srgbClr val="1E293B"/>
                </a:solidFill>
                <a:latin typeface="Lato"/>
                <a:ea typeface="Lato"/>
                <a:cs typeface="Lato"/>
                <a:sym typeface="Lato"/>
              </a:endParaRPr>
            </a:p>
          </p:txBody>
        </p:sp>
        <p:sp>
          <p:nvSpPr>
            <p:cNvPr id="793" name="Google Shape;793;p49"/>
            <p:cNvSpPr txBox="1"/>
            <p:nvPr/>
          </p:nvSpPr>
          <p:spPr>
            <a:xfrm>
              <a:off x="2381250" y="2143125"/>
              <a:ext cx="6669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31</a:t>
              </a:r>
              <a:endParaRPr b="0" sz="900">
                <a:solidFill>
                  <a:srgbClr val="1E293B"/>
                </a:solidFill>
                <a:latin typeface="Lato"/>
                <a:ea typeface="Lato"/>
                <a:cs typeface="Lato"/>
                <a:sym typeface="Lato"/>
              </a:endParaRPr>
            </a:p>
          </p:txBody>
        </p:sp>
        <p:sp>
          <p:nvSpPr>
            <p:cNvPr id="794" name="Google Shape;794;p49"/>
            <p:cNvSpPr txBox="1"/>
            <p:nvPr/>
          </p:nvSpPr>
          <p:spPr>
            <a:xfrm>
              <a:off x="3048000" y="2143125"/>
              <a:ext cx="571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0</a:t>
              </a:r>
              <a:endParaRPr b="0" sz="900">
                <a:solidFill>
                  <a:srgbClr val="1E293B"/>
                </a:solidFill>
                <a:latin typeface="Lato"/>
                <a:ea typeface="Lato"/>
                <a:cs typeface="Lato"/>
                <a:sym typeface="Lato"/>
              </a:endParaRPr>
            </a:p>
          </p:txBody>
        </p:sp>
        <p:sp>
          <p:nvSpPr>
            <p:cNvPr id="795" name="Google Shape;795;p49"/>
            <p:cNvSpPr txBox="1"/>
            <p:nvPr/>
          </p:nvSpPr>
          <p:spPr>
            <a:xfrm>
              <a:off x="3619500" y="2143125"/>
              <a:ext cx="762000" cy="381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GB" sz="1000">
                  <a:solidFill>
                    <a:srgbClr val="1A9988"/>
                  </a:solidFill>
                  <a:latin typeface="Lato"/>
                  <a:ea typeface="Lato"/>
                  <a:cs typeface="Lato"/>
                  <a:sym typeface="Lato"/>
                </a:rPr>
                <a:t>48 %</a:t>
              </a:r>
              <a:endParaRPr b="1" sz="1000">
                <a:solidFill>
                  <a:srgbClr val="1A9988"/>
                </a:solidFill>
                <a:latin typeface="Lato"/>
                <a:ea typeface="Lato"/>
                <a:cs typeface="Lato"/>
                <a:sym typeface="Lato"/>
              </a:endParaRPr>
            </a:p>
          </p:txBody>
        </p:sp>
        <p:sp>
          <p:nvSpPr>
            <p:cNvPr id="796" name="Google Shape;796;p49"/>
            <p:cNvSpPr txBox="1"/>
            <p:nvPr/>
          </p:nvSpPr>
          <p:spPr>
            <a:xfrm>
              <a:off x="4381500" y="2143125"/>
              <a:ext cx="762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0.52</a:t>
              </a:r>
              <a:endParaRPr b="0" sz="900">
                <a:solidFill>
                  <a:srgbClr val="1E293B"/>
                </a:solidFill>
                <a:latin typeface="Lato"/>
                <a:ea typeface="Lato"/>
                <a:cs typeface="Lato"/>
                <a:sym typeface="Lato"/>
              </a:endParaRPr>
            </a:p>
          </p:txBody>
        </p:sp>
        <p:sp>
          <p:nvSpPr>
            <p:cNvPr id="797" name="Google Shape;797;p49"/>
            <p:cNvSpPr txBox="1"/>
            <p:nvPr/>
          </p:nvSpPr>
          <p:spPr>
            <a:xfrm>
              <a:off x="5143500" y="2143125"/>
              <a:ext cx="762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0.00</a:t>
              </a:r>
              <a:endParaRPr b="0" sz="900">
                <a:solidFill>
                  <a:srgbClr val="1E293B"/>
                </a:solidFill>
                <a:latin typeface="Lato"/>
                <a:ea typeface="Lato"/>
                <a:cs typeface="Lato"/>
                <a:sym typeface="Lato"/>
              </a:endParaRPr>
            </a:p>
          </p:txBody>
        </p:sp>
        <p:sp>
          <p:nvSpPr>
            <p:cNvPr id="798" name="Google Shape;798;p49"/>
            <p:cNvSpPr txBox="1"/>
            <p:nvPr/>
          </p:nvSpPr>
          <p:spPr>
            <a:xfrm>
              <a:off x="5905500" y="2143125"/>
              <a:ext cx="8574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0.96</a:t>
              </a:r>
              <a:endParaRPr b="0" sz="900">
                <a:solidFill>
                  <a:srgbClr val="1E293B"/>
                </a:solidFill>
                <a:latin typeface="Lato"/>
                <a:ea typeface="Lato"/>
                <a:cs typeface="Lato"/>
                <a:sym typeface="Lato"/>
              </a:endParaRPr>
            </a:p>
          </p:txBody>
        </p:sp>
        <p:sp>
          <p:nvSpPr>
            <p:cNvPr id="799" name="Google Shape;799;p49"/>
            <p:cNvSpPr txBox="1"/>
            <p:nvPr/>
          </p:nvSpPr>
          <p:spPr>
            <a:xfrm>
              <a:off x="6762750" y="2143125"/>
              <a:ext cx="952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4573</a:t>
              </a:r>
              <a:endParaRPr b="0" sz="900">
                <a:solidFill>
                  <a:srgbClr val="1E293B"/>
                </a:solidFill>
                <a:latin typeface="Lato"/>
                <a:ea typeface="Lato"/>
                <a:cs typeface="Lato"/>
                <a:sym typeface="Lato"/>
              </a:endParaRPr>
            </a:p>
          </p:txBody>
        </p:sp>
        <p:sp>
          <p:nvSpPr>
            <p:cNvPr id="800" name="Google Shape;800;p49"/>
            <p:cNvSpPr txBox="1"/>
            <p:nvPr/>
          </p:nvSpPr>
          <p:spPr>
            <a:xfrm>
              <a:off x="7715250" y="2143125"/>
              <a:ext cx="952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1E293B"/>
                  </a:solidFill>
                  <a:latin typeface="Lato"/>
                  <a:ea typeface="Lato"/>
                  <a:cs typeface="Lato"/>
                  <a:sym typeface="Lato"/>
                </a:rPr>
                <a:t>12.40</a:t>
              </a:r>
              <a:endParaRPr b="0" sz="900">
                <a:solidFill>
                  <a:srgbClr val="1E293B"/>
                </a:solidFill>
                <a:latin typeface="Lato"/>
                <a:ea typeface="Lato"/>
                <a:cs typeface="Lato"/>
                <a:sym typeface="Lato"/>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4" name="Shape 804"/>
        <p:cNvGrpSpPr/>
        <p:nvPr/>
      </p:nvGrpSpPr>
      <p:grpSpPr>
        <a:xfrm>
          <a:off x="0" y="0"/>
          <a:ext cx="0" cy="0"/>
          <a:chOff x="0" y="0"/>
          <a:chExt cx="0" cy="0"/>
        </a:xfrm>
      </p:grpSpPr>
      <p:sp>
        <p:nvSpPr>
          <p:cNvPr id="805" name="Google Shape;805;p50"/>
          <p:cNvSpPr/>
          <p:nvPr/>
        </p:nvSpPr>
        <p:spPr>
          <a:xfrm>
            <a:off x="0" y="0"/>
            <a:ext cx="9144000" cy="487800"/>
          </a:xfrm>
          <a:prstGeom prst="rect">
            <a:avLst/>
          </a:prstGeom>
          <a:solidFill>
            <a:srgbClr val="E9ED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06" name="Google Shape;806;p50"/>
          <p:cNvSpPr/>
          <p:nvPr/>
        </p:nvSpPr>
        <p:spPr>
          <a:xfrm rot="-5400000">
            <a:off x="1366358" y="1028348"/>
            <a:ext cx="45600" cy="372300"/>
          </a:xfrm>
          <a:prstGeom prst="rect">
            <a:avLst/>
          </a:prstGeom>
          <a:solidFill>
            <a:srgbClr val="EB5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07" name="Google Shape;807;p50"/>
          <p:cNvSpPr/>
          <p:nvPr/>
        </p:nvSpPr>
        <p:spPr>
          <a:xfrm rot="-5400000">
            <a:off x="994928" y="1026398"/>
            <a:ext cx="45600" cy="376200"/>
          </a:xfrm>
          <a:prstGeom prst="rect">
            <a:avLst/>
          </a:prstGeom>
          <a:solidFill>
            <a:srgbClr val="1A99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08" name="Google Shape;808;p50"/>
          <p:cNvSpPr txBox="1"/>
          <p:nvPr/>
        </p:nvSpPr>
        <p:spPr>
          <a:xfrm>
            <a:off x="723900" y="666750"/>
            <a:ext cx="7686600" cy="533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2600">
                <a:solidFill>
                  <a:srgbClr val="1A1A1A"/>
                </a:solidFill>
                <a:latin typeface="Raleway"/>
                <a:ea typeface="Raleway"/>
                <a:cs typeface="Raleway"/>
                <a:sym typeface="Raleway"/>
              </a:rPr>
              <a:t>Évaluation. Annotation humaine</a:t>
            </a:r>
            <a:endParaRPr b="1" sz="2600">
              <a:solidFill>
                <a:srgbClr val="1A1A1A"/>
              </a:solidFill>
              <a:latin typeface="Raleway"/>
              <a:ea typeface="Raleway"/>
              <a:cs typeface="Raleway"/>
              <a:sym typeface="Raleway"/>
            </a:endParaRPr>
          </a:p>
        </p:txBody>
      </p:sp>
      <p:sp>
        <p:nvSpPr>
          <p:cNvPr id="809" name="Google Shape;809;p50"/>
          <p:cNvSpPr txBox="1"/>
          <p:nvPr/>
        </p:nvSpPr>
        <p:spPr>
          <a:xfrm>
            <a:off x="828675" y="1381125"/>
            <a:ext cx="38766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300">
                <a:solidFill>
                  <a:srgbClr val="595959"/>
                </a:solidFill>
                <a:latin typeface="Lato"/>
                <a:ea typeface="Lato"/>
                <a:cs typeface="Lato"/>
                <a:sym typeface="Lato"/>
              </a:rPr>
              <a:t>But : </a:t>
            </a:r>
            <a:r>
              <a:rPr b="0" lang="en-GB" sz="1300">
                <a:solidFill>
                  <a:srgbClr val="595959"/>
                </a:solidFill>
                <a:latin typeface="Lato"/>
                <a:ea typeface="Lato"/>
                <a:cs typeface="Lato"/>
                <a:sym typeface="Lato"/>
              </a:rPr>
              <a:t>comparer HiRAG classique à nos 3 variantes</a:t>
            </a:r>
            <a:endParaRPr b="1" sz="1300">
              <a:solidFill>
                <a:srgbClr val="595959"/>
              </a:solidFill>
              <a:latin typeface="Lato"/>
              <a:ea typeface="Lato"/>
              <a:cs typeface="Lato"/>
              <a:sym typeface="Lato"/>
            </a:endParaRPr>
          </a:p>
        </p:txBody>
      </p:sp>
      <p:grpSp>
        <p:nvGrpSpPr>
          <p:cNvPr id="810" name="Google Shape;810;p50"/>
          <p:cNvGrpSpPr/>
          <p:nvPr/>
        </p:nvGrpSpPr>
        <p:grpSpPr>
          <a:xfrm>
            <a:off x="571500" y="1905000"/>
            <a:ext cx="3619500" cy="2667000"/>
            <a:chOff x="0" y="0"/>
            <a:chExt cx="3619500" cy="2667000"/>
          </a:xfrm>
        </p:grpSpPr>
        <p:sp>
          <p:nvSpPr>
            <p:cNvPr id="811" name="Google Shape;811;p50"/>
            <p:cNvSpPr/>
            <p:nvPr/>
          </p:nvSpPr>
          <p:spPr>
            <a:xfrm>
              <a:off x="0" y="0"/>
              <a:ext cx="3619500" cy="2667000"/>
            </a:xfrm>
            <a:prstGeom prst="roundRect">
              <a:avLst>
                <a:gd fmla="val 4285" name="adj"/>
              </a:avLst>
            </a:prstGeom>
            <a:solidFill>
              <a:srgbClr val="FFFFFF"/>
            </a:solidFill>
            <a:ln cap="flat" cmpd="sng" w="9525">
              <a:solidFill>
                <a:srgbClr val="E9EDE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12" name="Google Shape;812;p50"/>
            <p:cNvSpPr txBox="1"/>
            <p:nvPr/>
          </p:nvSpPr>
          <p:spPr>
            <a:xfrm>
              <a:off x="190500" y="190500"/>
              <a:ext cx="1143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1200">
                  <a:solidFill>
                    <a:srgbClr val="1A9988"/>
                  </a:solidFill>
                  <a:latin typeface="Lato"/>
                  <a:ea typeface="Lato"/>
                  <a:cs typeface="Lato"/>
                  <a:sym typeface="Lato"/>
                </a:rPr>
                <a:t>Variante</a:t>
              </a:r>
              <a:endParaRPr b="1" sz="1200">
                <a:solidFill>
                  <a:srgbClr val="1A9988"/>
                </a:solidFill>
                <a:latin typeface="Lato"/>
                <a:ea typeface="Lato"/>
                <a:cs typeface="Lato"/>
                <a:sym typeface="Lato"/>
              </a:endParaRPr>
            </a:p>
          </p:txBody>
        </p:sp>
        <p:sp>
          <p:nvSpPr>
            <p:cNvPr id="813" name="Google Shape;813;p50"/>
            <p:cNvSpPr txBox="1"/>
            <p:nvPr/>
          </p:nvSpPr>
          <p:spPr>
            <a:xfrm>
              <a:off x="1428750" y="190500"/>
              <a:ext cx="666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200">
                  <a:solidFill>
                    <a:srgbClr val="1A9988"/>
                  </a:solidFill>
                  <a:latin typeface="Lato"/>
                  <a:ea typeface="Lato"/>
                  <a:cs typeface="Lato"/>
                  <a:sym typeface="Lato"/>
                </a:rPr>
                <a:t>Win rate</a:t>
              </a:r>
              <a:endParaRPr b="1" sz="1200">
                <a:solidFill>
                  <a:srgbClr val="1A9988"/>
                </a:solidFill>
                <a:latin typeface="Lato"/>
                <a:ea typeface="Lato"/>
                <a:cs typeface="Lato"/>
                <a:sym typeface="Lato"/>
              </a:endParaRPr>
            </a:p>
          </p:txBody>
        </p:sp>
        <p:sp>
          <p:nvSpPr>
            <p:cNvPr id="814" name="Google Shape;814;p50"/>
            <p:cNvSpPr txBox="1"/>
            <p:nvPr/>
          </p:nvSpPr>
          <p:spPr>
            <a:xfrm>
              <a:off x="2190750" y="142875"/>
              <a:ext cx="6669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000">
                  <a:solidFill>
                    <a:srgbClr val="1A9988"/>
                  </a:solidFill>
                  <a:latin typeface="Lato"/>
                  <a:ea typeface="Lato"/>
                  <a:cs typeface="Lato"/>
                  <a:sym typeface="Lato"/>
                </a:rPr>
                <a:t>Densité span</a:t>
              </a:r>
              <a:endParaRPr b="1" sz="1000">
                <a:solidFill>
                  <a:srgbClr val="1A9988"/>
                </a:solidFill>
                <a:latin typeface="Lato"/>
                <a:ea typeface="Lato"/>
                <a:cs typeface="Lato"/>
                <a:sym typeface="Lato"/>
              </a:endParaRPr>
            </a:p>
          </p:txBody>
        </p:sp>
        <p:sp>
          <p:nvSpPr>
            <p:cNvPr id="815" name="Google Shape;815;p50"/>
            <p:cNvSpPr txBox="1"/>
            <p:nvPr/>
          </p:nvSpPr>
          <p:spPr>
            <a:xfrm>
              <a:off x="2952750" y="190500"/>
              <a:ext cx="4764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200">
                  <a:solidFill>
                    <a:srgbClr val="1A9988"/>
                  </a:solidFill>
                  <a:latin typeface="Lato"/>
                  <a:ea typeface="Lato"/>
                  <a:cs typeface="Lato"/>
                  <a:sym typeface="Lato"/>
                </a:rPr>
                <a:t>Gain</a:t>
              </a:r>
              <a:endParaRPr b="1" sz="1200">
                <a:solidFill>
                  <a:srgbClr val="1A9988"/>
                </a:solidFill>
                <a:latin typeface="Lato"/>
                <a:ea typeface="Lato"/>
                <a:cs typeface="Lato"/>
                <a:sym typeface="Lato"/>
              </a:endParaRPr>
            </a:p>
          </p:txBody>
        </p:sp>
        <p:cxnSp>
          <p:nvCxnSpPr>
            <p:cNvPr id="816" name="Google Shape;816;p50"/>
            <p:cNvCxnSpPr/>
            <p:nvPr/>
          </p:nvCxnSpPr>
          <p:spPr>
            <a:xfrm>
              <a:off x="190500" y="523875"/>
              <a:ext cx="3238500" cy="0"/>
            </a:xfrm>
            <a:prstGeom prst="straightConnector1">
              <a:avLst/>
            </a:prstGeom>
            <a:solidFill>
              <a:srgbClr val="FFFFFF"/>
            </a:solidFill>
            <a:ln cap="flat" cmpd="sng" w="9525">
              <a:solidFill>
                <a:srgbClr val="E9EDEE"/>
              </a:solidFill>
              <a:prstDash val="solid"/>
              <a:round/>
              <a:headEnd len="sm" w="sm" type="none"/>
              <a:tailEnd len="sm" w="sm" type="none"/>
            </a:ln>
          </p:spPr>
        </p:cxnSp>
        <p:grpSp>
          <p:nvGrpSpPr>
            <p:cNvPr id="817" name="Google Shape;817;p50"/>
            <p:cNvGrpSpPr/>
            <p:nvPr/>
          </p:nvGrpSpPr>
          <p:grpSpPr>
            <a:xfrm>
              <a:off x="190500" y="571500"/>
              <a:ext cx="3238650" cy="381000"/>
              <a:chOff x="190500" y="0"/>
              <a:chExt cx="3238650" cy="381000"/>
            </a:xfrm>
          </p:grpSpPr>
          <p:sp>
            <p:nvSpPr>
              <p:cNvPr id="818" name="Google Shape;818;p50"/>
              <p:cNvSpPr txBox="1"/>
              <p:nvPr/>
            </p:nvSpPr>
            <p:spPr>
              <a:xfrm>
                <a:off x="190500" y="0"/>
                <a:ext cx="1143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1100">
                    <a:solidFill>
                      <a:srgbClr val="1A1A1A"/>
                    </a:solidFill>
                    <a:latin typeface="Lato"/>
                    <a:ea typeface="Lato"/>
                    <a:cs typeface="Lato"/>
                    <a:sym typeface="Lato"/>
                  </a:rPr>
                  <a:t>HiRAG classique</a:t>
                </a:r>
                <a:endParaRPr b="1" sz="1100">
                  <a:solidFill>
                    <a:srgbClr val="1A1A1A"/>
                  </a:solidFill>
                  <a:latin typeface="Lato"/>
                  <a:ea typeface="Lato"/>
                  <a:cs typeface="Lato"/>
                  <a:sym typeface="Lato"/>
                </a:endParaRPr>
              </a:p>
            </p:txBody>
          </p:sp>
          <p:sp>
            <p:nvSpPr>
              <p:cNvPr id="819" name="Google Shape;819;p50"/>
              <p:cNvSpPr txBox="1"/>
              <p:nvPr/>
            </p:nvSpPr>
            <p:spPr>
              <a:xfrm>
                <a:off x="1428750" y="0"/>
                <a:ext cx="6669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1100">
                    <a:solidFill>
                      <a:srgbClr val="1A1A1A"/>
                    </a:solidFill>
                    <a:latin typeface="Lato"/>
                    <a:ea typeface="Lato"/>
                    <a:cs typeface="Lato"/>
                    <a:sym typeface="Lato"/>
                  </a:rPr>
                  <a:t>-</a:t>
                </a:r>
                <a:endParaRPr b="0" sz="1100">
                  <a:solidFill>
                    <a:srgbClr val="1A1A1A"/>
                  </a:solidFill>
                  <a:latin typeface="Lato"/>
                  <a:ea typeface="Lato"/>
                  <a:cs typeface="Lato"/>
                  <a:sym typeface="Lato"/>
                </a:endParaRPr>
              </a:p>
            </p:txBody>
          </p:sp>
          <p:sp>
            <p:nvSpPr>
              <p:cNvPr id="820" name="Google Shape;820;p50"/>
              <p:cNvSpPr txBox="1"/>
              <p:nvPr/>
            </p:nvSpPr>
            <p:spPr>
              <a:xfrm>
                <a:off x="2190750" y="0"/>
                <a:ext cx="6669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1100">
                    <a:solidFill>
                      <a:srgbClr val="1A1A1A"/>
                    </a:solidFill>
                    <a:latin typeface="Lato"/>
                    <a:ea typeface="Lato"/>
                    <a:cs typeface="Lato"/>
                    <a:sym typeface="Lato"/>
                  </a:rPr>
                  <a:t>28.7%</a:t>
                </a:r>
                <a:endParaRPr b="0" sz="1100">
                  <a:solidFill>
                    <a:srgbClr val="1A1A1A"/>
                  </a:solidFill>
                  <a:latin typeface="Lato"/>
                  <a:ea typeface="Lato"/>
                  <a:cs typeface="Lato"/>
                  <a:sym typeface="Lato"/>
                </a:endParaRPr>
              </a:p>
            </p:txBody>
          </p:sp>
          <p:sp>
            <p:nvSpPr>
              <p:cNvPr id="821" name="Google Shape;821;p50"/>
              <p:cNvSpPr txBox="1"/>
              <p:nvPr/>
            </p:nvSpPr>
            <p:spPr>
              <a:xfrm>
                <a:off x="2952750" y="0"/>
                <a:ext cx="4764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1100">
                    <a:solidFill>
                      <a:srgbClr val="1A1A1A"/>
                    </a:solidFill>
                    <a:latin typeface="Lato"/>
                    <a:ea typeface="Lato"/>
                    <a:cs typeface="Lato"/>
                    <a:sym typeface="Lato"/>
                  </a:rPr>
                  <a:t>-</a:t>
                </a:r>
                <a:endParaRPr b="0" sz="1100">
                  <a:solidFill>
                    <a:srgbClr val="1A1A1A"/>
                  </a:solidFill>
                  <a:latin typeface="Lato"/>
                  <a:ea typeface="Lato"/>
                  <a:cs typeface="Lato"/>
                  <a:sym typeface="Lato"/>
                </a:endParaRPr>
              </a:p>
            </p:txBody>
          </p:sp>
        </p:grpSp>
        <p:grpSp>
          <p:nvGrpSpPr>
            <p:cNvPr id="822" name="Google Shape;822;p50"/>
            <p:cNvGrpSpPr/>
            <p:nvPr/>
          </p:nvGrpSpPr>
          <p:grpSpPr>
            <a:xfrm>
              <a:off x="190500" y="1000125"/>
              <a:ext cx="3238650" cy="381000"/>
              <a:chOff x="190500" y="0"/>
              <a:chExt cx="3238650" cy="381000"/>
            </a:xfrm>
          </p:grpSpPr>
          <p:sp>
            <p:nvSpPr>
              <p:cNvPr id="823" name="Google Shape;823;p50"/>
              <p:cNvSpPr txBox="1"/>
              <p:nvPr/>
            </p:nvSpPr>
            <p:spPr>
              <a:xfrm>
                <a:off x="190500" y="0"/>
                <a:ext cx="1143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1100">
                    <a:solidFill>
                      <a:srgbClr val="1A1A1A"/>
                    </a:solidFill>
                    <a:latin typeface="Lato"/>
                    <a:ea typeface="Lato"/>
                    <a:cs typeface="Lato"/>
                    <a:sym typeface="Lato"/>
                  </a:rPr>
                  <a:t>Naive</a:t>
                </a:r>
                <a:endParaRPr b="1" sz="1100">
                  <a:solidFill>
                    <a:srgbClr val="1A1A1A"/>
                  </a:solidFill>
                  <a:latin typeface="Lato"/>
                  <a:ea typeface="Lato"/>
                  <a:cs typeface="Lato"/>
                  <a:sym typeface="Lato"/>
                </a:endParaRPr>
              </a:p>
            </p:txBody>
          </p:sp>
          <p:sp>
            <p:nvSpPr>
              <p:cNvPr id="824" name="Google Shape;824;p50"/>
              <p:cNvSpPr txBox="1"/>
              <p:nvPr/>
            </p:nvSpPr>
            <p:spPr>
              <a:xfrm>
                <a:off x="1428750" y="0"/>
                <a:ext cx="6669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1100">
                    <a:solidFill>
                      <a:srgbClr val="1A1A1A"/>
                    </a:solidFill>
                    <a:latin typeface="Lato"/>
                    <a:ea typeface="Lato"/>
                    <a:cs typeface="Lato"/>
                    <a:sym typeface="Lato"/>
                  </a:rPr>
                  <a:t>65.0%</a:t>
                </a:r>
                <a:endParaRPr b="0" sz="1100">
                  <a:solidFill>
                    <a:srgbClr val="1A1A1A"/>
                  </a:solidFill>
                  <a:latin typeface="Lato"/>
                  <a:ea typeface="Lato"/>
                  <a:cs typeface="Lato"/>
                  <a:sym typeface="Lato"/>
                </a:endParaRPr>
              </a:p>
            </p:txBody>
          </p:sp>
          <p:sp>
            <p:nvSpPr>
              <p:cNvPr id="825" name="Google Shape;825;p50"/>
              <p:cNvSpPr txBox="1"/>
              <p:nvPr/>
            </p:nvSpPr>
            <p:spPr>
              <a:xfrm>
                <a:off x="2190750" y="0"/>
                <a:ext cx="6669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1100">
                    <a:solidFill>
                      <a:srgbClr val="1A1A1A"/>
                    </a:solidFill>
                    <a:latin typeface="Lato"/>
                    <a:ea typeface="Lato"/>
                    <a:cs typeface="Lato"/>
                    <a:sym typeface="Lato"/>
                  </a:rPr>
                  <a:t>32.0%</a:t>
                </a:r>
                <a:endParaRPr b="0" sz="1100">
                  <a:solidFill>
                    <a:srgbClr val="1A1A1A"/>
                  </a:solidFill>
                  <a:latin typeface="Lato"/>
                  <a:ea typeface="Lato"/>
                  <a:cs typeface="Lato"/>
                  <a:sym typeface="Lato"/>
                </a:endParaRPr>
              </a:p>
            </p:txBody>
          </p:sp>
          <p:sp>
            <p:nvSpPr>
              <p:cNvPr id="826" name="Google Shape;826;p50"/>
              <p:cNvSpPr txBox="1"/>
              <p:nvPr/>
            </p:nvSpPr>
            <p:spPr>
              <a:xfrm>
                <a:off x="2952750" y="0"/>
                <a:ext cx="4764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100">
                    <a:solidFill>
                      <a:srgbClr val="1A9988"/>
                    </a:solidFill>
                    <a:latin typeface="Lato"/>
                    <a:ea typeface="Lato"/>
                    <a:cs typeface="Lato"/>
                    <a:sym typeface="Lato"/>
                  </a:rPr>
                  <a:t>+0.30</a:t>
                </a:r>
                <a:endParaRPr b="1" sz="1100">
                  <a:solidFill>
                    <a:srgbClr val="1A9988"/>
                  </a:solidFill>
                  <a:latin typeface="Lato"/>
                  <a:ea typeface="Lato"/>
                  <a:cs typeface="Lato"/>
                  <a:sym typeface="Lato"/>
                </a:endParaRPr>
              </a:p>
            </p:txBody>
          </p:sp>
        </p:grpSp>
        <p:grpSp>
          <p:nvGrpSpPr>
            <p:cNvPr id="827" name="Google Shape;827;p50"/>
            <p:cNvGrpSpPr/>
            <p:nvPr/>
          </p:nvGrpSpPr>
          <p:grpSpPr>
            <a:xfrm>
              <a:off x="190500" y="1428750"/>
              <a:ext cx="3238650" cy="381000"/>
              <a:chOff x="190500" y="0"/>
              <a:chExt cx="3238650" cy="381000"/>
            </a:xfrm>
          </p:grpSpPr>
          <p:sp>
            <p:nvSpPr>
              <p:cNvPr id="828" name="Google Shape;828;p50"/>
              <p:cNvSpPr txBox="1"/>
              <p:nvPr/>
            </p:nvSpPr>
            <p:spPr>
              <a:xfrm>
                <a:off x="190500" y="0"/>
                <a:ext cx="1143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1000">
                    <a:solidFill>
                      <a:srgbClr val="1A1A1A"/>
                    </a:solidFill>
                    <a:latin typeface="Lato"/>
                    <a:ea typeface="Lato"/>
                    <a:cs typeface="Lato"/>
                    <a:sym typeface="Lato"/>
                  </a:rPr>
                  <a:t>Minmax budgeted</a:t>
                </a:r>
                <a:endParaRPr b="1" sz="1000">
                  <a:solidFill>
                    <a:srgbClr val="1A1A1A"/>
                  </a:solidFill>
                  <a:latin typeface="Lato"/>
                  <a:ea typeface="Lato"/>
                  <a:cs typeface="Lato"/>
                  <a:sym typeface="Lato"/>
                </a:endParaRPr>
              </a:p>
            </p:txBody>
          </p:sp>
          <p:sp>
            <p:nvSpPr>
              <p:cNvPr id="829" name="Google Shape;829;p50"/>
              <p:cNvSpPr txBox="1"/>
              <p:nvPr/>
            </p:nvSpPr>
            <p:spPr>
              <a:xfrm>
                <a:off x="1428750" y="0"/>
                <a:ext cx="6669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1100">
                    <a:solidFill>
                      <a:srgbClr val="1A1A1A"/>
                    </a:solidFill>
                    <a:latin typeface="Lato"/>
                    <a:ea typeface="Lato"/>
                    <a:cs typeface="Lato"/>
                    <a:sym typeface="Lato"/>
                  </a:rPr>
                  <a:t>45.0%</a:t>
                </a:r>
                <a:endParaRPr b="0" sz="1100">
                  <a:solidFill>
                    <a:srgbClr val="1A1A1A"/>
                  </a:solidFill>
                  <a:latin typeface="Lato"/>
                  <a:ea typeface="Lato"/>
                  <a:cs typeface="Lato"/>
                  <a:sym typeface="Lato"/>
                </a:endParaRPr>
              </a:p>
            </p:txBody>
          </p:sp>
          <p:sp>
            <p:nvSpPr>
              <p:cNvPr id="830" name="Google Shape;830;p50"/>
              <p:cNvSpPr txBox="1"/>
              <p:nvPr/>
            </p:nvSpPr>
            <p:spPr>
              <a:xfrm>
                <a:off x="2190750" y="0"/>
                <a:ext cx="6669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1100">
                    <a:solidFill>
                      <a:srgbClr val="1A1A1A"/>
                    </a:solidFill>
                    <a:latin typeface="Lato"/>
                    <a:ea typeface="Lato"/>
                    <a:cs typeface="Lato"/>
                    <a:sym typeface="Lato"/>
                  </a:rPr>
                  <a:t>32.1%</a:t>
                </a:r>
                <a:endParaRPr b="0" sz="1100">
                  <a:solidFill>
                    <a:srgbClr val="1A1A1A"/>
                  </a:solidFill>
                  <a:latin typeface="Lato"/>
                  <a:ea typeface="Lato"/>
                  <a:cs typeface="Lato"/>
                  <a:sym typeface="Lato"/>
                </a:endParaRPr>
              </a:p>
            </p:txBody>
          </p:sp>
          <p:sp>
            <p:nvSpPr>
              <p:cNvPr id="831" name="Google Shape;831;p50"/>
              <p:cNvSpPr txBox="1"/>
              <p:nvPr/>
            </p:nvSpPr>
            <p:spPr>
              <a:xfrm>
                <a:off x="2952750" y="0"/>
                <a:ext cx="4764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100">
                    <a:solidFill>
                      <a:srgbClr val="EB5600"/>
                    </a:solidFill>
                    <a:latin typeface="Lato"/>
                    <a:ea typeface="Lato"/>
                    <a:cs typeface="Lato"/>
                    <a:sym typeface="Lato"/>
                  </a:rPr>
                  <a:t>-0.10</a:t>
                </a:r>
                <a:endParaRPr b="1" sz="1100">
                  <a:solidFill>
                    <a:srgbClr val="EB5600"/>
                  </a:solidFill>
                  <a:latin typeface="Lato"/>
                  <a:ea typeface="Lato"/>
                  <a:cs typeface="Lato"/>
                  <a:sym typeface="Lato"/>
                </a:endParaRPr>
              </a:p>
            </p:txBody>
          </p:sp>
        </p:grpSp>
        <p:grpSp>
          <p:nvGrpSpPr>
            <p:cNvPr id="832" name="Google Shape;832;p50"/>
            <p:cNvGrpSpPr/>
            <p:nvPr/>
          </p:nvGrpSpPr>
          <p:grpSpPr>
            <a:xfrm>
              <a:off x="190500" y="1857375"/>
              <a:ext cx="3238650" cy="381000"/>
              <a:chOff x="190500" y="0"/>
              <a:chExt cx="3238650" cy="381000"/>
            </a:xfrm>
          </p:grpSpPr>
          <p:sp>
            <p:nvSpPr>
              <p:cNvPr id="833" name="Google Shape;833;p50"/>
              <p:cNvSpPr txBox="1"/>
              <p:nvPr/>
            </p:nvSpPr>
            <p:spPr>
              <a:xfrm>
                <a:off x="190500" y="0"/>
                <a:ext cx="1143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1100">
                    <a:solidFill>
                      <a:srgbClr val="1A1A1A"/>
                    </a:solidFill>
                    <a:latin typeface="Lato"/>
                    <a:ea typeface="Lato"/>
                    <a:cs typeface="Lato"/>
                    <a:sym typeface="Lato"/>
                  </a:rPr>
                  <a:t>MCTS</a:t>
                </a:r>
                <a:endParaRPr b="1" sz="1100">
                  <a:solidFill>
                    <a:srgbClr val="1A1A1A"/>
                  </a:solidFill>
                  <a:latin typeface="Lato"/>
                  <a:ea typeface="Lato"/>
                  <a:cs typeface="Lato"/>
                  <a:sym typeface="Lato"/>
                </a:endParaRPr>
              </a:p>
            </p:txBody>
          </p:sp>
          <p:sp>
            <p:nvSpPr>
              <p:cNvPr id="834" name="Google Shape;834;p50"/>
              <p:cNvSpPr txBox="1"/>
              <p:nvPr/>
            </p:nvSpPr>
            <p:spPr>
              <a:xfrm>
                <a:off x="1428750" y="0"/>
                <a:ext cx="6669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1100">
                    <a:solidFill>
                      <a:srgbClr val="1A1A1A"/>
                    </a:solidFill>
                    <a:latin typeface="Lato"/>
                    <a:ea typeface="Lato"/>
                    <a:cs typeface="Lato"/>
                    <a:sym typeface="Lato"/>
                  </a:rPr>
                  <a:t>52.5%</a:t>
                </a:r>
                <a:endParaRPr b="0" sz="1100">
                  <a:solidFill>
                    <a:srgbClr val="1A1A1A"/>
                  </a:solidFill>
                  <a:latin typeface="Lato"/>
                  <a:ea typeface="Lato"/>
                  <a:cs typeface="Lato"/>
                  <a:sym typeface="Lato"/>
                </a:endParaRPr>
              </a:p>
            </p:txBody>
          </p:sp>
          <p:sp>
            <p:nvSpPr>
              <p:cNvPr id="835" name="Google Shape;835;p50"/>
              <p:cNvSpPr txBox="1"/>
              <p:nvPr/>
            </p:nvSpPr>
            <p:spPr>
              <a:xfrm>
                <a:off x="2190750" y="0"/>
                <a:ext cx="6669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1100">
                    <a:solidFill>
                      <a:srgbClr val="1A1A1A"/>
                    </a:solidFill>
                    <a:latin typeface="Lato"/>
                    <a:ea typeface="Lato"/>
                    <a:cs typeface="Lato"/>
                    <a:sym typeface="Lato"/>
                  </a:rPr>
                  <a:t>30.4%</a:t>
                </a:r>
                <a:endParaRPr b="0" sz="1100">
                  <a:solidFill>
                    <a:srgbClr val="1A1A1A"/>
                  </a:solidFill>
                  <a:latin typeface="Lato"/>
                  <a:ea typeface="Lato"/>
                  <a:cs typeface="Lato"/>
                  <a:sym typeface="Lato"/>
                </a:endParaRPr>
              </a:p>
            </p:txBody>
          </p:sp>
          <p:sp>
            <p:nvSpPr>
              <p:cNvPr id="836" name="Google Shape;836;p50"/>
              <p:cNvSpPr txBox="1"/>
              <p:nvPr/>
            </p:nvSpPr>
            <p:spPr>
              <a:xfrm>
                <a:off x="2952750" y="0"/>
                <a:ext cx="4764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100">
                    <a:solidFill>
                      <a:srgbClr val="1A9988"/>
                    </a:solidFill>
                    <a:latin typeface="Lato"/>
                    <a:ea typeface="Lato"/>
                    <a:cs typeface="Lato"/>
                    <a:sym typeface="Lato"/>
                  </a:rPr>
                  <a:t>+0.05</a:t>
                </a:r>
                <a:endParaRPr b="1" sz="1100">
                  <a:solidFill>
                    <a:srgbClr val="1A9988"/>
                  </a:solidFill>
                  <a:latin typeface="Lato"/>
                  <a:ea typeface="Lato"/>
                  <a:cs typeface="Lato"/>
                  <a:sym typeface="Lato"/>
                </a:endParaRPr>
              </a:p>
            </p:txBody>
          </p:sp>
        </p:grpSp>
      </p:grpSp>
      <p:grpSp>
        <p:nvGrpSpPr>
          <p:cNvPr id="837" name="Google Shape;837;p50"/>
          <p:cNvGrpSpPr/>
          <p:nvPr/>
        </p:nvGrpSpPr>
        <p:grpSpPr>
          <a:xfrm>
            <a:off x="4476750" y="1333500"/>
            <a:ext cx="4095900" cy="3524325"/>
            <a:chOff x="0" y="0"/>
            <a:chExt cx="4095900" cy="3524325"/>
          </a:xfrm>
        </p:grpSpPr>
        <p:sp>
          <p:nvSpPr>
            <p:cNvPr id="838" name="Google Shape;838;p50"/>
            <p:cNvSpPr txBox="1"/>
            <p:nvPr/>
          </p:nvSpPr>
          <p:spPr>
            <a:xfrm>
              <a:off x="95250" y="0"/>
              <a:ext cx="1905000" cy="190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GB" sz="900">
                  <a:solidFill>
                    <a:srgbClr val="B7B7B7"/>
                  </a:solidFill>
                  <a:latin typeface="Raleway"/>
                  <a:ea typeface="Raleway"/>
                  <a:cs typeface="Raleway"/>
                  <a:sym typeface="Raleway"/>
                </a:rPr>
                <a:t>Interface d'annotation</a:t>
              </a:r>
              <a:endParaRPr b="1" i="0" sz="900">
                <a:solidFill>
                  <a:srgbClr val="B7B7B7"/>
                </a:solidFill>
                <a:latin typeface="Raleway"/>
                <a:ea typeface="Raleway"/>
                <a:cs typeface="Raleway"/>
                <a:sym typeface="Raleway"/>
              </a:endParaRPr>
            </a:p>
          </p:txBody>
        </p:sp>
        <p:grpSp>
          <p:nvGrpSpPr>
            <p:cNvPr id="839" name="Google Shape;839;p50"/>
            <p:cNvGrpSpPr/>
            <p:nvPr/>
          </p:nvGrpSpPr>
          <p:grpSpPr>
            <a:xfrm>
              <a:off x="0" y="238125"/>
              <a:ext cx="4095900" cy="3286200"/>
              <a:chOff x="0" y="0"/>
              <a:chExt cx="4095900" cy="3286200"/>
            </a:xfrm>
          </p:grpSpPr>
          <p:sp>
            <p:nvSpPr>
              <p:cNvPr id="840" name="Google Shape;840;p50"/>
              <p:cNvSpPr/>
              <p:nvPr/>
            </p:nvSpPr>
            <p:spPr>
              <a:xfrm>
                <a:off x="0" y="0"/>
                <a:ext cx="4095900" cy="3286200"/>
              </a:xfrm>
              <a:prstGeom prst="roundRect">
                <a:avLst>
                  <a:gd fmla="val 3478" name="adj"/>
                </a:avLst>
              </a:prstGeom>
              <a:solidFill>
                <a:srgbClr val="FFFFFF"/>
              </a:solidFill>
              <a:ln cap="flat" cmpd="sng" w="9525">
                <a:solidFill>
                  <a:srgbClr val="E9EDE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841" name="Google Shape;841;p50"/>
              <p:cNvGrpSpPr/>
              <p:nvPr/>
            </p:nvGrpSpPr>
            <p:grpSpPr>
              <a:xfrm>
                <a:off x="95250" y="85728"/>
                <a:ext cx="3905400" cy="3029958"/>
                <a:chOff x="0" y="-9522"/>
                <a:chExt cx="3905400" cy="3029958"/>
              </a:xfrm>
            </p:grpSpPr>
            <p:pic>
              <p:nvPicPr>
                <p:cNvPr id="842" name="Google Shape;842;p50"/>
                <p:cNvPicPr preferRelativeResize="0"/>
                <p:nvPr/>
              </p:nvPicPr>
              <p:blipFill rotWithShape="1">
                <a:blip r:embed="rId3">
                  <a:alphaModFix/>
                </a:blip>
                <a:srcRect b="16121" l="0" r="0" t="0"/>
                <a:stretch/>
              </p:blipFill>
              <p:spPr>
                <a:xfrm>
                  <a:off x="0" y="-9522"/>
                  <a:ext cx="3905400" cy="1476300"/>
                </a:xfrm>
                <a:prstGeom prst="roundRect">
                  <a:avLst>
                    <a:gd fmla="val 6451" name="adj"/>
                  </a:avLst>
                </a:prstGeom>
                <a:noFill/>
                <a:ln>
                  <a:noFill/>
                </a:ln>
              </p:spPr>
            </p:pic>
            <p:pic>
              <p:nvPicPr>
                <p:cNvPr id="843" name="Google Shape;843;p50"/>
                <p:cNvPicPr preferRelativeResize="0"/>
                <p:nvPr/>
              </p:nvPicPr>
              <p:blipFill rotWithShape="1">
                <a:blip r:embed="rId4">
                  <a:alphaModFix/>
                </a:blip>
                <a:srcRect b="13599" l="0" r="0" t="0"/>
                <a:stretch/>
              </p:blipFill>
              <p:spPr>
                <a:xfrm>
                  <a:off x="0" y="1496436"/>
                  <a:ext cx="3905400" cy="1524000"/>
                </a:xfrm>
                <a:prstGeom prst="roundRect">
                  <a:avLst>
                    <a:gd fmla="val 6250" name="adj"/>
                  </a:avLst>
                </a:prstGeom>
                <a:noFill/>
                <a:ln>
                  <a:noFill/>
                </a:ln>
              </p:spPr>
            </p:pic>
          </p:grpSp>
        </p:gr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7" name="Shape 847"/>
        <p:cNvGrpSpPr/>
        <p:nvPr/>
      </p:nvGrpSpPr>
      <p:grpSpPr>
        <a:xfrm>
          <a:off x="0" y="0"/>
          <a:ext cx="0" cy="0"/>
          <a:chOff x="0" y="0"/>
          <a:chExt cx="0" cy="0"/>
        </a:xfrm>
      </p:grpSpPr>
      <p:sp>
        <p:nvSpPr>
          <p:cNvPr id="848" name="Google Shape;848;p51"/>
          <p:cNvSpPr/>
          <p:nvPr/>
        </p:nvSpPr>
        <p:spPr>
          <a:xfrm>
            <a:off x="0" y="0"/>
            <a:ext cx="9144000" cy="476400"/>
          </a:xfrm>
          <a:prstGeom prst="rect">
            <a:avLst/>
          </a:prstGeom>
          <a:solidFill>
            <a:srgbClr val="E9ED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849" name="Google Shape;849;p51"/>
          <p:cNvGrpSpPr/>
          <p:nvPr/>
        </p:nvGrpSpPr>
        <p:grpSpPr>
          <a:xfrm>
            <a:off x="971550" y="-142875"/>
            <a:ext cx="114375" cy="381000"/>
            <a:chOff x="971550" y="-142875"/>
            <a:chExt cx="114375" cy="381000"/>
          </a:xfrm>
        </p:grpSpPr>
        <p:sp>
          <p:nvSpPr>
            <p:cNvPr id="850" name="Google Shape;850;p51"/>
            <p:cNvSpPr/>
            <p:nvPr/>
          </p:nvSpPr>
          <p:spPr>
            <a:xfrm rot="-5400000">
              <a:off x="804900" y="23775"/>
              <a:ext cx="381000" cy="47700"/>
            </a:xfrm>
            <a:prstGeom prst="rect">
              <a:avLst/>
            </a:prstGeom>
            <a:solidFill>
              <a:srgbClr val="1A99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51" name="Google Shape;851;p51"/>
            <p:cNvSpPr/>
            <p:nvPr/>
          </p:nvSpPr>
          <p:spPr>
            <a:xfrm rot="-5400000">
              <a:off x="871575" y="23775"/>
              <a:ext cx="381000" cy="47700"/>
            </a:xfrm>
            <a:prstGeom prst="rect">
              <a:avLst/>
            </a:prstGeom>
            <a:solidFill>
              <a:srgbClr val="EB5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852" name="Google Shape;852;p51"/>
          <p:cNvSpPr txBox="1"/>
          <p:nvPr/>
        </p:nvSpPr>
        <p:spPr>
          <a:xfrm>
            <a:off x="666750" y="523875"/>
            <a:ext cx="7810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2400">
                <a:solidFill>
                  <a:srgbClr val="1A1A1A"/>
                </a:solidFill>
                <a:latin typeface="Raleway"/>
                <a:ea typeface="Raleway"/>
                <a:cs typeface="Raleway"/>
                <a:sym typeface="Raleway"/>
              </a:rPr>
              <a:t>Évaluation : Performance et Préférences</a:t>
            </a:r>
            <a:endParaRPr b="1" sz="2400">
              <a:solidFill>
                <a:srgbClr val="1A1A1A"/>
              </a:solidFill>
              <a:latin typeface="Raleway"/>
              <a:ea typeface="Raleway"/>
              <a:cs typeface="Raleway"/>
              <a:sym typeface="Raleway"/>
            </a:endParaRPr>
          </a:p>
        </p:txBody>
      </p:sp>
      <p:sp>
        <p:nvSpPr>
          <p:cNvPr id="853" name="Google Shape;853;p51"/>
          <p:cNvSpPr txBox="1"/>
          <p:nvPr/>
        </p:nvSpPr>
        <p:spPr>
          <a:xfrm>
            <a:off x="666750" y="1000125"/>
            <a:ext cx="78105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200">
                <a:solidFill>
                  <a:srgbClr val="595959"/>
                </a:solidFill>
                <a:latin typeface="Lato"/>
                <a:ea typeface="Lato"/>
                <a:cs typeface="Lato"/>
                <a:sym typeface="Lato"/>
              </a:rPr>
              <a:t>Analyse comparative des scores de réponse et des préférences humain vs LLM-as-judge.</a:t>
            </a:r>
            <a:endParaRPr b="0" sz="1200">
              <a:solidFill>
                <a:srgbClr val="595959"/>
              </a:solidFill>
              <a:latin typeface="Lato"/>
              <a:ea typeface="Lato"/>
              <a:cs typeface="Lato"/>
              <a:sym typeface="Lato"/>
            </a:endParaRPr>
          </a:p>
        </p:txBody>
      </p:sp>
      <p:grpSp>
        <p:nvGrpSpPr>
          <p:cNvPr id="854" name="Google Shape;854;p51"/>
          <p:cNvGrpSpPr/>
          <p:nvPr/>
        </p:nvGrpSpPr>
        <p:grpSpPr>
          <a:xfrm>
            <a:off x="476250" y="1428750"/>
            <a:ext cx="2667000" cy="3238500"/>
            <a:chOff x="476250" y="1428750"/>
            <a:chExt cx="2667000" cy="3238500"/>
          </a:xfrm>
        </p:grpSpPr>
        <p:sp>
          <p:nvSpPr>
            <p:cNvPr id="855" name="Google Shape;855;p51"/>
            <p:cNvSpPr/>
            <p:nvPr/>
          </p:nvSpPr>
          <p:spPr>
            <a:xfrm>
              <a:off x="476250" y="1428750"/>
              <a:ext cx="2667000" cy="3238500"/>
            </a:xfrm>
            <a:prstGeom prst="roundRect">
              <a:avLst>
                <a:gd fmla="val 428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56" name="Google Shape;856;p51"/>
            <p:cNvSpPr txBox="1"/>
            <p:nvPr/>
          </p:nvSpPr>
          <p:spPr>
            <a:xfrm>
              <a:off x="666750" y="1619250"/>
              <a:ext cx="2286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1100">
                  <a:solidFill>
                    <a:srgbClr val="475569"/>
                  </a:solidFill>
                  <a:latin typeface="Raleway"/>
                  <a:ea typeface="Raleway"/>
                  <a:cs typeface="Raleway"/>
                  <a:sym typeface="Raleway"/>
                </a:rPr>
                <a:t>Scores</a:t>
              </a:r>
              <a:r>
                <a:rPr b="1" lang="en-GB" sz="1100">
                  <a:solidFill>
                    <a:srgbClr val="475569"/>
                  </a:solidFill>
                  <a:latin typeface="Raleway"/>
                  <a:ea typeface="Raleway"/>
                  <a:cs typeface="Raleway"/>
                  <a:sym typeface="Raleway"/>
                </a:rPr>
                <a:t> de “Répond à la question”</a:t>
              </a:r>
              <a:endParaRPr b="1" sz="1100">
                <a:solidFill>
                  <a:srgbClr val="475569"/>
                </a:solidFill>
                <a:latin typeface="Raleway"/>
                <a:ea typeface="Raleway"/>
                <a:cs typeface="Raleway"/>
                <a:sym typeface="Raleway"/>
              </a:endParaRPr>
            </a:p>
          </p:txBody>
        </p:sp>
        <p:sp>
          <p:nvSpPr>
            <p:cNvPr id="857" name="Google Shape;857;p51"/>
            <p:cNvSpPr/>
            <p:nvPr/>
          </p:nvSpPr>
          <p:spPr>
            <a:xfrm>
              <a:off x="571500" y="2095500"/>
              <a:ext cx="2476500" cy="2859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858" name="Google Shape;858;p51"/>
            <p:cNvGrpSpPr/>
            <p:nvPr/>
          </p:nvGrpSpPr>
          <p:grpSpPr>
            <a:xfrm>
              <a:off x="666750" y="2095500"/>
              <a:ext cx="2286000" cy="285900"/>
              <a:chOff x="666750" y="2095500"/>
              <a:chExt cx="2286000" cy="285900"/>
            </a:xfrm>
          </p:grpSpPr>
          <p:sp>
            <p:nvSpPr>
              <p:cNvPr id="859" name="Google Shape;859;p51"/>
              <p:cNvSpPr txBox="1"/>
              <p:nvPr/>
            </p:nvSpPr>
            <p:spPr>
              <a:xfrm>
                <a:off x="666750" y="2095500"/>
                <a:ext cx="13335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900">
                    <a:solidFill>
                      <a:srgbClr val="475569"/>
                    </a:solidFill>
                    <a:latin typeface="Raleway"/>
                    <a:ea typeface="Raleway"/>
                    <a:cs typeface="Raleway"/>
                    <a:sym typeface="Raleway"/>
                  </a:rPr>
                  <a:t>Variant</a:t>
                </a:r>
                <a:endParaRPr b="1" sz="900">
                  <a:solidFill>
                    <a:srgbClr val="475569"/>
                  </a:solidFill>
                  <a:latin typeface="Raleway"/>
                  <a:ea typeface="Raleway"/>
                  <a:cs typeface="Raleway"/>
                  <a:sym typeface="Raleway"/>
                </a:endParaRPr>
              </a:p>
            </p:txBody>
          </p:sp>
          <p:sp>
            <p:nvSpPr>
              <p:cNvPr id="860" name="Google Shape;860;p51"/>
              <p:cNvSpPr txBox="1"/>
              <p:nvPr/>
            </p:nvSpPr>
            <p:spPr>
              <a:xfrm>
                <a:off x="2000250" y="2095500"/>
                <a:ext cx="9525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900">
                    <a:solidFill>
                      <a:srgbClr val="475569"/>
                    </a:solidFill>
                    <a:latin typeface="Raleway"/>
                    <a:ea typeface="Raleway"/>
                    <a:cs typeface="Raleway"/>
                    <a:sym typeface="Raleway"/>
                  </a:rPr>
                  <a:t>Score (%)</a:t>
                </a:r>
                <a:endParaRPr b="1" sz="900">
                  <a:solidFill>
                    <a:srgbClr val="475569"/>
                  </a:solidFill>
                  <a:latin typeface="Raleway"/>
                  <a:ea typeface="Raleway"/>
                  <a:cs typeface="Raleway"/>
                  <a:sym typeface="Raleway"/>
                </a:endParaRPr>
              </a:p>
            </p:txBody>
          </p:sp>
        </p:grpSp>
        <p:grpSp>
          <p:nvGrpSpPr>
            <p:cNvPr id="861" name="Google Shape;861;p51"/>
            <p:cNvGrpSpPr/>
            <p:nvPr/>
          </p:nvGrpSpPr>
          <p:grpSpPr>
            <a:xfrm>
              <a:off x="571500" y="2428875"/>
              <a:ext cx="2476500" cy="333300"/>
              <a:chOff x="571500" y="2428875"/>
              <a:chExt cx="2476500" cy="333300"/>
            </a:xfrm>
          </p:grpSpPr>
          <p:sp>
            <p:nvSpPr>
              <p:cNvPr id="862" name="Google Shape;862;p51"/>
              <p:cNvSpPr/>
              <p:nvPr/>
            </p:nvSpPr>
            <p:spPr>
              <a:xfrm>
                <a:off x="571500" y="2428875"/>
                <a:ext cx="2476500" cy="333300"/>
              </a:xfrm>
              <a:prstGeom prst="rect">
                <a:avLst/>
              </a:prstGeom>
              <a:solidFill>
                <a:srgbClr val="000000">
                  <a:alpha val="0"/>
                </a:srgbClr>
              </a:solidFill>
              <a:ln cap="flat" cmpd="sng" w="9525">
                <a:solidFill>
                  <a:srgbClr val="F1F5F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63" name="Google Shape;863;p51"/>
              <p:cNvSpPr txBox="1"/>
              <p:nvPr/>
            </p:nvSpPr>
            <p:spPr>
              <a:xfrm>
                <a:off x="666750" y="2428875"/>
                <a:ext cx="1333500" cy="333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1000">
                    <a:solidFill>
                      <a:srgbClr val="1E293B"/>
                    </a:solidFill>
                    <a:latin typeface="Lato"/>
                    <a:ea typeface="Lato"/>
                    <a:cs typeface="Lato"/>
                    <a:sym typeface="Lato"/>
                  </a:rPr>
                  <a:t>HiRAG classique</a:t>
                </a:r>
                <a:endParaRPr b="1" sz="1000">
                  <a:solidFill>
                    <a:srgbClr val="1E293B"/>
                  </a:solidFill>
                  <a:latin typeface="Lato"/>
                  <a:ea typeface="Lato"/>
                  <a:cs typeface="Lato"/>
                  <a:sym typeface="Lato"/>
                </a:endParaRPr>
              </a:p>
            </p:txBody>
          </p:sp>
          <p:sp>
            <p:nvSpPr>
              <p:cNvPr id="864" name="Google Shape;864;p51"/>
              <p:cNvSpPr txBox="1"/>
              <p:nvPr/>
            </p:nvSpPr>
            <p:spPr>
              <a:xfrm>
                <a:off x="2000250" y="2428875"/>
                <a:ext cx="952500" cy="333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1000">
                    <a:solidFill>
                      <a:srgbClr val="1E293B"/>
                    </a:solidFill>
                    <a:latin typeface="Lato"/>
                    <a:ea typeface="Lato"/>
                    <a:cs typeface="Lato"/>
                    <a:sym typeface="Lato"/>
                  </a:rPr>
                  <a:t>98.3 %</a:t>
                </a:r>
                <a:endParaRPr b="0" sz="1000">
                  <a:solidFill>
                    <a:srgbClr val="1E293B"/>
                  </a:solidFill>
                  <a:latin typeface="Lato"/>
                  <a:ea typeface="Lato"/>
                  <a:cs typeface="Lato"/>
                  <a:sym typeface="Lato"/>
                </a:endParaRPr>
              </a:p>
            </p:txBody>
          </p:sp>
        </p:grpSp>
        <p:grpSp>
          <p:nvGrpSpPr>
            <p:cNvPr id="865" name="Google Shape;865;p51"/>
            <p:cNvGrpSpPr/>
            <p:nvPr/>
          </p:nvGrpSpPr>
          <p:grpSpPr>
            <a:xfrm>
              <a:off x="571500" y="2762250"/>
              <a:ext cx="2476500" cy="333300"/>
              <a:chOff x="571500" y="2762250"/>
              <a:chExt cx="2476500" cy="333300"/>
            </a:xfrm>
          </p:grpSpPr>
          <p:sp>
            <p:nvSpPr>
              <p:cNvPr id="866" name="Google Shape;866;p51"/>
              <p:cNvSpPr/>
              <p:nvPr/>
            </p:nvSpPr>
            <p:spPr>
              <a:xfrm>
                <a:off x="571500" y="2762250"/>
                <a:ext cx="2476500" cy="333300"/>
              </a:xfrm>
              <a:prstGeom prst="rect">
                <a:avLst/>
              </a:prstGeom>
              <a:solidFill>
                <a:srgbClr val="000000">
                  <a:alpha val="0"/>
                </a:srgbClr>
              </a:solidFill>
              <a:ln cap="flat" cmpd="sng" w="9525">
                <a:solidFill>
                  <a:srgbClr val="F1F5F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67" name="Google Shape;867;p51"/>
              <p:cNvSpPr txBox="1"/>
              <p:nvPr/>
            </p:nvSpPr>
            <p:spPr>
              <a:xfrm>
                <a:off x="666750" y="2762250"/>
                <a:ext cx="1333500" cy="333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1000">
                    <a:solidFill>
                      <a:srgbClr val="1E293B"/>
                    </a:solidFill>
                    <a:latin typeface="Lato"/>
                    <a:ea typeface="Lato"/>
                    <a:cs typeface="Lato"/>
                    <a:sym typeface="Lato"/>
                  </a:rPr>
                  <a:t>Naive</a:t>
                </a:r>
                <a:endParaRPr b="1" sz="1000">
                  <a:solidFill>
                    <a:srgbClr val="1E293B"/>
                  </a:solidFill>
                  <a:latin typeface="Lato"/>
                  <a:ea typeface="Lato"/>
                  <a:cs typeface="Lato"/>
                  <a:sym typeface="Lato"/>
                </a:endParaRPr>
              </a:p>
            </p:txBody>
          </p:sp>
          <p:sp>
            <p:nvSpPr>
              <p:cNvPr id="868" name="Google Shape;868;p51"/>
              <p:cNvSpPr txBox="1"/>
              <p:nvPr/>
            </p:nvSpPr>
            <p:spPr>
              <a:xfrm>
                <a:off x="2000250" y="2762250"/>
                <a:ext cx="952500" cy="333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1000">
                    <a:solidFill>
                      <a:srgbClr val="1E293B"/>
                    </a:solidFill>
                    <a:latin typeface="Lato"/>
                    <a:ea typeface="Lato"/>
                    <a:cs typeface="Lato"/>
                    <a:sym typeface="Lato"/>
                  </a:rPr>
                  <a:t>92.5 %</a:t>
                </a:r>
                <a:endParaRPr b="0" sz="1000">
                  <a:solidFill>
                    <a:srgbClr val="1E293B"/>
                  </a:solidFill>
                  <a:latin typeface="Lato"/>
                  <a:ea typeface="Lato"/>
                  <a:cs typeface="Lato"/>
                  <a:sym typeface="Lato"/>
                </a:endParaRPr>
              </a:p>
            </p:txBody>
          </p:sp>
        </p:grpSp>
        <p:grpSp>
          <p:nvGrpSpPr>
            <p:cNvPr id="869" name="Google Shape;869;p51"/>
            <p:cNvGrpSpPr/>
            <p:nvPr/>
          </p:nvGrpSpPr>
          <p:grpSpPr>
            <a:xfrm>
              <a:off x="571500" y="3095625"/>
              <a:ext cx="2476500" cy="333300"/>
              <a:chOff x="571500" y="3095625"/>
              <a:chExt cx="2476500" cy="333300"/>
            </a:xfrm>
          </p:grpSpPr>
          <p:sp>
            <p:nvSpPr>
              <p:cNvPr id="870" name="Google Shape;870;p51"/>
              <p:cNvSpPr/>
              <p:nvPr/>
            </p:nvSpPr>
            <p:spPr>
              <a:xfrm>
                <a:off x="571500" y="3095625"/>
                <a:ext cx="2476500" cy="333300"/>
              </a:xfrm>
              <a:prstGeom prst="rect">
                <a:avLst/>
              </a:prstGeom>
              <a:solidFill>
                <a:srgbClr val="000000">
                  <a:alpha val="0"/>
                </a:srgbClr>
              </a:solidFill>
              <a:ln cap="flat" cmpd="sng" w="9525">
                <a:solidFill>
                  <a:srgbClr val="F1F5F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71" name="Google Shape;871;p51"/>
              <p:cNvSpPr txBox="1"/>
              <p:nvPr/>
            </p:nvSpPr>
            <p:spPr>
              <a:xfrm>
                <a:off x="666750" y="3095625"/>
                <a:ext cx="1333500" cy="333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1000">
                    <a:solidFill>
                      <a:srgbClr val="1E293B"/>
                    </a:solidFill>
                    <a:latin typeface="Lato"/>
                    <a:ea typeface="Lato"/>
                    <a:cs typeface="Lato"/>
                    <a:sym typeface="Lato"/>
                  </a:rPr>
                  <a:t>Minmax budgeted</a:t>
                </a:r>
                <a:endParaRPr b="1" sz="1000">
                  <a:solidFill>
                    <a:srgbClr val="1E293B"/>
                  </a:solidFill>
                  <a:latin typeface="Lato"/>
                  <a:ea typeface="Lato"/>
                  <a:cs typeface="Lato"/>
                  <a:sym typeface="Lato"/>
                </a:endParaRPr>
              </a:p>
            </p:txBody>
          </p:sp>
          <p:sp>
            <p:nvSpPr>
              <p:cNvPr id="872" name="Google Shape;872;p51"/>
              <p:cNvSpPr txBox="1"/>
              <p:nvPr/>
            </p:nvSpPr>
            <p:spPr>
              <a:xfrm>
                <a:off x="2000250" y="3095625"/>
                <a:ext cx="952500" cy="333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1000">
                    <a:solidFill>
                      <a:srgbClr val="1E293B"/>
                    </a:solidFill>
                    <a:latin typeface="Lato"/>
                    <a:ea typeface="Lato"/>
                    <a:cs typeface="Lato"/>
                    <a:sym typeface="Lato"/>
                  </a:rPr>
                  <a:t>97.5 %</a:t>
                </a:r>
                <a:endParaRPr b="0" sz="1000">
                  <a:solidFill>
                    <a:srgbClr val="1E293B"/>
                  </a:solidFill>
                  <a:latin typeface="Lato"/>
                  <a:ea typeface="Lato"/>
                  <a:cs typeface="Lato"/>
                  <a:sym typeface="Lato"/>
                </a:endParaRPr>
              </a:p>
            </p:txBody>
          </p:sp>
        </p:grpSp>
        <p:grpSp>
          <p:nvGrpSpPr>
            <p:cNvPr id="873" name="Google Shape;873;p51"/>
            <p:cNvGrpSpPr/>
            <p:nvPr/>
          </p:nvGrpSpPr>
          <p:grpSpPr>
            <a:xfrm>
              <a:off x="571500" y="3429000"/>
              <a:ext cx="2476500" cy="333300"/>
              <a:chOff x="571500" y="3429000"/>
              <a:chExt cx="2476500" cy="333300"/>
            </a:xfrm>
          </p:grpSpPr>
          <p:sp>
            <p:nvSpPr>
              <p:cNvPr id="874" name="Google Shape;874;p51"/>
              <p:cNvSpPr/>
              <p:nvPr/>
            </p:nvSpPr>
            <p:spPr>
              <a:xfrm>
                <a:off x="571500" y="3429000"/>
                <a:ext cx="2476500" cy="333300"/>
              </a:xfrm>
              <a:prstGeom prst="rect">
                <a:avLst/>
              </a:prstGeom>
              <a:solidFill>
                <a:srgbClr val="F0FDFA"/>
              </a:solidFill>
              <a:ln cap="flat" cmpd="sng" w="9525">
                <a:solidFill>
                  <a:srgbClr val="F1F5F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75" name="Google Shape;875;p51"/>
              <p:cNvSpPr txBox="1"/>
              <p:nvPr/>
            </p:nvSpPr>
            <p:spPr>
              <a:xfrm>
                <a:off x="666750" y="3429000"/>
                <a:ext cx="1333500" cy="333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1000">
                    <a:solidFill>
                      <a:srgbClr val="1A9988"/>
                    </a:solidFill>
                    <a:latin typeface="Lato"/>
                    <a:ea typeface="Lato"/>
                    <a:cs typeface="Lato"/>
                    <a:sym typeface="Lato"/>
                  </a:rPr>
                  <a:t>MCTS</a:t>
                </a:r>
                <a:endParaRPr b="1" sz="1000">
                  <a:solidFill>
                    <a:srgbClr val="1A9988"/>
                  </a:solidFill>
                  <a:latin typeface="Lato"/>
                  <a:ea typeface="Lato"/>
                  <a:cs typeface="Lato"/>
                  <a:sym typeface="Lato"/>
                </a:endParaRPr>
              </a:p>
            </p:txBody>
          </p:sp>
          <p:sp>
            <p:nvSpPr>
              <p:cNvPr id="876" name="Google Shape;876;p51"/>
              <p:cNvSpPr txBox="1"/>
              <p:nvPr/>
            </p:nvSpPr>
            <p:spPr>
              <a:xfrm>
                <a:off x="2000250" y="3429000"/>
                <a:ext cx="952500" cy="333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000">
                    <a:solidFill>
                      <a:srgbClr val="1A9988"/>
                    </a:solidFill>
                    <a:latin typeface="Lato"/>
                    <a:ea typeface="Lato"/>
                    <a:cs typeface="Lato"/>
                    <a:sym typeface="Lato"/>
                  </a:rPr>
                  <a:t>100 %</a:t>
                </a:r>
                <a:endParaRPr b="1" sz="1000">
                  <a:solidFill>
                    <a:srgbClr val="1A9988"/>
                  </a:solidFill>
                  <a:latin typeface="Lato"/>
                  <a:ea typeface="Lato"/>
                  <a:cs typeface="Lato"/>
                  <a:sym typeface="Lato"/>
                </a:endParaRPr>
              </a:p>
            </p:txBody>
          </p:sp>
        </p:grpSp>
      </p:grpSp>
      <p:grpSp>
        <p:nvGrpSpPr>
          <p:cNvPr id="877" name="Google Shape;877;p51"/>
          <p:cNvGrpSpPr/>
          <p:nvPr/>
        </p:nvGrpSpPr>
        <p:grpSpPr>
          <a:xfrm>
            <a:off x="3429000" y="1428750"/>
            <a:ext cx="5238900" cy="3238500"/>
            <a:chOff x="3429000" y="1428750"/>
            <a:chExt cx="5238900" cy="3238500"/>
          </a:xfrm>
        </p:grpSpPr>
        <p:sp>
          <p:nvSpPr>
            <p:cNvPr id="878" name="Google Shape;878;p51"/>
            <p:cNvSpPr/>
            <p:nvPr/>
          </p:nvSpPr>
          <p:spPr>
            <a:xfrm>
              <a:off x="3429000" y="1428750"/>
              <a:ext cx="5238900" cy="3238500"/>
            </a:xfrm>
            <a:prstGeom prst="roundRect">
              <a:avLst>
                <a:gd fmla="val 352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79" name="Google Shape;879;p51"/>
            <p:cNvSpPr txBox="1"/>
            <p:nvPr/>
          </p:nvSpPr>
          <p:spPr>
            <a:xfrm>
              <a:off x="3619500" y="1619250"/>
              <a:ext cx="48579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1500">
                  <a:solidFill>
                    <a:srgbClr val="475569"/>
                  </a:solidFill>
                  <a:latin typeface="Raleway"/>
                  <a:ea typeface="Raleway"/>
                  <a:cs typeface="Raleway"/>
                  <a:sym typeface="Raleway"/>
                </a:rPr>
                <a:t>Préférences Humain vs LLM-as-a-judge</a:t>
              </a:r>
              <a:endParaRPr b="1" sz="1500">
                <a:solidFill>
                  <a:srgbClr val="475569"/>
                </a:solidFill>
                <a:latin typeface="Raleway"/>
                <a:ea typeface="Raleway"/>
                <a:cs typeface="Raleway"/>
                <a:sym typeface="Raleway"/>
              </a:endParaRPr>
            </a:p>
          </p:txBody>
        </p:sp>
        <p:pic>
          <p:nvPicPr>
            <p:cNvPr id="880" name="Google Shape;880;p51"/>
            <p:cNvPicPr preferRelativeResize="0"/>
            <p:nvPr/>
          </p:nvPicPr>
          <p:blipFill rotWithShape="1">
            <a:blip r:embed="rId3">
              <a:alphaModFix/>
            </a:blip>
            <a:srcRect b="355" l="0" r="0" t="8662"/>
            <a:stretch/>
          </p:blipFill>
          <p:spPr>
            <a:xfrm>
              <a:off x="3619500" y="2000250"/>
              <a:ext cx="4857900" cy="2557500"/>
            </a:xfrm>
            <a:prstGeom prst="roundRect">
              <a:avLst>
                <a:gd fmla="val 3370" name="adj"/>
              </a:avLst>
            </a:prstGeom>
            <a:noFill/>
            <a:ln>
              <a:noFill/>
            </a:ln>
          </p:spPr>
        </p:pic>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84" name="Shape 884"/>
        <p:cNvGrpSpPr/>
        <p:nvPr/>
      </p:nvGrpSpPr>
      <p:grpSpPr>
        <a:xfrm>
          <a:off x="0" y="0"/>
          <a:ext cx="0" cy="0"/>
          <a:chOff x="0" y="0"/>
          <a:chExt cx="0" cy="0"/>
        </a:xfrm>
      </p:grpSpPr>
      <p:sp>
        <p:nvSpPr>
          <p:cNvPr id="885" name="Google Shape;885;p52"/>
          <p:cNvSpPr/>
          <p:nvPr/>
        </p:nvSpPr>
        <p:spPr>
          <a:xfrm>
            <a:off x="0" y="0"/>
            <a:ext cx="9144000" cy="487800"/>
          </a:xfrm>
          <a:prstGeom prst="rect">
            <a:avLst/>
          </a:prstGeom>
          <a:solidFill>
            <a:srgbClr val="E9ED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86" name="Google Shape;886;p52"/>
          <p:cNvSpPr/>
          <p:nvPr/>
        </p:nvSpPr>
        <p:spPr>
          <a:xfrm rot="-5400000">
            <a:off x="1366358" y="1028348"/>
            <a:ext cx="45600" cy="372300"/>
          </a:xfrm>
          <a:prstGeom prst="rect">
            <a:avLst/>
          </a:prstGeom>
          <a:solidFill>
            <a:srgbClr val="EB5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87" name="Google Shape;887;p52"/>
          <p:cNvSpPr/>
          <p:nvPr/>
        </p:nvSpPr>
        <p:spPr>
          <a:xfrm rot="-5400000">
            <a:off x="994928" y="1026398"/>
            <a:ext cx="45600" cy="376200"/>
          </a:xfrm>
          <a:prstGeom prst="rect">
            <a:avLst/>
          </a:prstGeom>
          <a:solidFill>
            <a:srgbClr val="1A99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88" name="Google Shape;888;p52"/>
          <p:cNvSpPr txBox="1"/>
          <p:nvPr/>
        </p:nvSpPr>
        <p:spPr>
          <a:xfrm>
            <a:off x="723900" y="666750"/>
            <a:ext cx="7686600" cy="533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2600">
                <a:solidFill>
                  <a:srgbClr val="1A1A1A"/>
                </a:solidFill>
                <a:latin typeface="Raleway"/>
                <a:ea typeface="Raleway"/>
                <a:cs typeface="Raleway"/>
                <a:sym typeface="Raleway"/>
              </a:rPr>
              <a:t>Évaluation. </a:t>
            </a:r>
            <a:r>
              <a:rPr b="1" lang="en-GB" sz="2600">
                <a:solidFill>
                  <a:schemeClr val="dk2"/>
                </a:solidFill>
                <a:latin typeface="Raleway"/>
                <a:ea typeface="Raleway"/>
                <a:cs typeface="Raleway"/>
                <a:sym typeface="Raleway"/>
              </a:rPr>
              <a:t>Annotation humaine</a:t>
            </a:r>
            <a:endParaRPr b="1" sz="2600">
              <a:solidFill>
                <a:schemeClr val="dk2"/>
              </a:solidFill>
              <a:latin typeface="Raleway"/>
              <a:ea typeface="Raleway"/>
              <a:cs typeface="Raleway"/>
              <a:sym typeface="Raleway"/>
            </a:endParaRPr>
          </a:p>
          <a:p>
            <a:pPr indent="0" lvl="0" marL="0" rtl="0" algn="l">
              <a:spcBef>
                <a:spcPts val="0"/>
              </a:spcBef>
              <a:spcAft>
                <a:spcPts val="0"/>
              </a:spcAft>
              <a:buNone/>
            </a:pPr>
            <a:r>
              <a:t/>
            </a:r>
            <a:endParaRPr b="1" sz="2600">
              <a:solidFill>
                <a:srgbClr val="1A1A1A"/>
              </a:solidFill>
              <a:latin typeface="Raleway"/>
              <a:ea typeface="Raleway"/>
              <a:cs typeface="Raleway"/>
              <a:sym typeface="Raleway"/>
            </a:endParaRPr>
          </a:p>
        </p:txBody>
      </p:sp>
      <p:grpSp>
        <p:nvGrpSpPr>
          <p:cNvPr id="889" name="Google Shape;889;p52"/>
          <p:cNvGrpSpPr/>
          <p:nvPr/>
        </p:nvGrpSpPr>
        <p:grpSpPr>
          <a:xfrm>
            <a:off x="571500" y="1905000"/>
            <a:ext cx="8001000" cy="2667000"/>
            <a:chOff x="0" y="0"/>
            <a:chExt cx="8001000" cy="2667000"/>
          </a:xfrm>
        </p:grpSpPr>
        <p:sp>
          <p:nvSpPr>
            <p:cNvPr id="890" name="Google Shape;890;p52"/>
            <p:cNvSpPr/>
            <p:nvPr/>
          </p:nvSpPr>
          <p:spPr>
            <a:xfrm>
              <a:off x="0" y="0"/>
              <a:ext cx="8001000" cy="2667000"/>
            </a:xfrm>
            <a:prstGeom prst="roundRect">
              <a:avLst>
                <a:gd fmla="val 4285" name="adj"/>
              </a:avLst>
            </a:prstGeom>
            <a:solidFill>
              <a:srgbClr val="FFFFFF"/>
            </a:solidFill>
            <a:ln cap="flat" cmpd="sng" w="9525">
              <a:solidFill>
                <a:srgbClr val="E9EDE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91" name="Google Shape;891;p52"/>
            <p:cNvSpPr txBox="1"/>
            <p:nvPr/>
          </p:nvSpPr>
          <p:spPr>
            <a:xfrm>
              <a:off x="190500" y="190500"/>
              <a:ext cx="1524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GB" sz="1200">
                  <a:solidFill>
                    <a:srgbClr val="1A9988"/>
                  </a:solidFill>
                  <a:latin typeface="Lato"/>
                  <a:ea typeface="Lato"/>
                  <a:cs typeface="Lato"/>
                  <a:sym typeface="Lato"/>
                </a:rPr>
                <a:t>Variante</a:t>
              </a:r>
              <a:endParaRPr b="1" sz="1200">
                <a:solidFill>
                  <a:srgbClr val="1A9988"/>
                </a:solidFill>
                <a:latin typeface="Lato"/>
                <a:ea typeface="Lato"/>
                <a:cs typeface="Lato"/>
                <a:sym typeface="Lato"/>
              </a:endParaRPr>
            </a:p>
          </p:txBody>
        </p:sp>
        <p:sp>
          <p:nvSpPr>
            <p:cNvPr id="892" name="Google Shape;892;p52"/>
            <p:cNvSpPr txBox="1"/>
            <p:nvPr/>
          </p:nvSpPr>
          <p:spPr>
            <a:xfrm>
              <a:off x="1809750" y="190500"/>
              <a:ext cx="1524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000">
                  <a:solidFill>
                    <a:srgbClr val="1A9988"/>
                  </a:solidFill>
                  <a:latin typeface="Lato"/>
                  <a:ea typeface="Lato"/>
                  <a:cs typeface="Lato"/>
                  <a:sym typeface="Lato"/>
                </a:rPr>
                <a:t>Human win rate vs HiRAG</a:t>
              </a:r>
              <a:endParaRPr b="1" sz="1000">
                <a:solidFill>
                  <a:srgbClr val="1A9988"/>
                </a:solidFill>
                <a:latin typeface="Lato"/>
                <a:ea typeface="Lato"/>
                <a:cs typeface="Lato"/>
                <a:sym typeface="Lato"/>
              </a:endParaRPr>
            </a:p>
          </p:txBody>
        </p:sp>
        <p:sp>
          <p:nvSpPr>
            <p:cNvPr id="893" name="Google Shape;893;p52"/>
            <p:cNvSpPr txBox="1"/>
            <p:nvPr/>
          </p:nvSpPr>
          <p:spPr>
            <a:xfrm>
              <a:off x="6096000" y="190500"/>
              <a:ext cx="9525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000">
                  <a:solidFill>
                    <a:srgbClr val="1A9988"/>
                  </a:solidFill>
                  <a:latin typeface="Lato"/>
                  <a:ea typeface="Lato"/>
                  <a:cs typeface="Lato"/>
                  <a:sym typeface="Lato"/>
                </a:rPr>
                <a:t>Span density</a:t>
              </a:r>
              <a:endParaRPr b="1" sz="1000">
                <a:solidFill>
                  <a:srgbClr val="1A9988"/>
                </a:solidFill>
                <a:latin typeface="Lato"/>
                <a:ea typeface="Lato"/>
                <a:cs typeface="Lato"/>
                <a:sym typeface="Lato"/>
              </a:endParaRPr>
            </a:p>
          </p:txBody>
        </p:sp>
        <p:sp>
          <p:nvSpPr>
            <p:cNvPr id="894" name="Google Shape;894;p52"/>
            <p:cNvSpPr txBox="1"/>
            <p:nvPr/>
          </p:nvSpPr>
          <p:spPr>
            <a:xfrm>
              <a:off x="5048250" y="190500"/>
              <a:ext cx="9525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000">
                  <a:solidFill>
                    <a:srgbClr val="1A9988"/>
                  </a:solidFill>
                  <a:latin typeface="Lato"/>
                  <a:ea typeface="Lato"/>
                  <a:cs typeface="Lato"/>
                  <a:sym typeface="Lato"/>
                </a:rPr>
                <a:t>Human gain</a:t>
              </a:r>
              <a:endParaRPr b="1" sz="1000">
                <a:solidFill>
                  <a:srgbClr val="1A9988"/>
                </a:solidFill>
                <a:latin typeface="Lato"/>
                <a:ea typeface="Lato"/>
                <a:cs typeface="Lato"/>
                <a:sym typeface="Lato"/>
              </a:endParaRPr>
            </a:p>
          </p:txBody>
        </p:sp>
        <p:cxnSp>
          <p:nvCxnSpPr>
            <p:cNvPr id="895" name="Google Shape;895;p52"/>
            <p:cNvCxnSpPr/>
            <p:nvPr/>
          </p:nvCxnSpPr>
          <p:spPr>
            <a:xfrm>
              <a:off x="0" y="523875"/>
              <a:ext cx="8001000" cy="0"/>
            </a:xfrm>
            <a:prstGeom prst="straightConnector1">
              <a:avLst/>
            </a:prstGeom>
            <a:solidFill>
              <a:srgbClr val="FFFFFF"/>
            </a:solidFill>
            <a:ln cap="flat" cmpd="sng" w="9525">
              <a:solidFill>
                <a:srgbClr val="E9EDEE"/>
              </a:solidFill>
              <a:prstDash val="solid"/>
              <a:round/>
              <a:headEnd len="sm" w="sm" type="none"/>
              <a:tailEnd len="sm" w="sm" type="none"/>
            </a:ln>
          </p:spPr>
        </p:cxnSp>
        <p:grpSp>
          <p:nvGrpSpPr>
            <p:cNvPr id="896" name="Google Shape;896;p52"/>
            <p:cNvGrpSpPr/>
            <p:nvPr/>
          </p:nvGrpSpPr>
          <p:grpSpPr>
            <a:xfrm>
              <a:off x="190500" y="619125"/>
              <a:ext cx="6858000" cy="381000"/>
              <a:chOff x="190500" y="-381000"/>
              <a:chExt cx="6858000" cy="381000"/>
            </a:xfrm>
          </p:grpSpPr>
          <p:sp>
            <p:nvSpPr>
              <p:cNvPr id="897" name="Google Shape;897;p52"/>
              <p:cNvSpPr txBox="1"/>
              <p:nvPr/>
            </p:nvSpPr>
            <p:spPr>
              <a:xfrm>
                <a:off x="190500" y="-381000"/>
                <a:ext cx="15240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GB" sz="1100">
                    <a:solidFill>
                      <a:srgbClr val="1A1A1A"/>
                    </a:solidFill>
                    <a:latin typeface="Lato"/>
                    <a:ea typeface="Lato"/>
                    <a:cs typeface="Lato"/>
                    <a:sym typeface="Lato"/>
                  </a:rPr>
                  <a:t>Naive</a:t>
                </a:r>
                <a:endParaRPr b="1" sz="1100">
                  <a:solidFill>
                    <a:srgbClr val="1A1A1A"/>
                  </a:solidFill>
                  <a:latin typeface="Lato"/>
                  <a:ea typeface="Lato"/>
                  <a:cs typeface="Lato"/>
                  <a:sym typeface="Lato"/>
                </a:endParaRPr>
              </a:p>
            </p:txBody>
          </p:sp>
          <p:sp>
            <p:nvSpPr>
              <p:cNvPr id="898" name="Google Shape;898;p52"/>
              <p:cNvSpPr txBox="1"/>
              <p:nvPr/>
            </p:nvSpPr>
            <p:spPr>
              <a:xfrm>
                <a:off x="1809750" y="-381000"/>
                <a:ext cx="15240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GB" sz="1100">
                    <a:solidFill>
                      <a:srgbClr val="1A1A1A"/>
                    </a:solidFill>
                    <a:latin typeface="Lato"/>
                    <a:ea typeface="Lato"/>
                    <a:cs typeface="Lato"/>
                    <a:sym typeface="Lato"/>
                  </a:rPr>
                  <a:t>65.0%</a:t>
                </a:r>
                <a:endParaRPr b="0" sz="1100">
                  <a:solidFill>
                    <a:srgbClr val="1A1A1A"/>
                  </a:solidFill>
                  <a:latin typeface="Lato"/>
                  <a:ea typeface="Lato"/>
                  <a:cs typeface="Lato"/>
                  <a:sym typeface="Lato"/>
                </a:endParaRPr>
              </a:p>
            </p:txBody>
          </p:sp>
          <p:sp>
            <p:nvSpPr>
              <p:cNvPr id="899" name="Google Shape;899;p52"/>
              <p:cNvSpPr txBox="1"/>
              <p:nvPr/>
            </p:nvSpPr>
            <p:spPr>
              <a:xfrm>
                <a:off x="6096000" y="-381000"/>
                <a:ext cx="9525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GB" sz="1100">
                    <a:solidFill>
                      <a:srgbClr val="1A1A1A"/>
                    </a:solidFill>
                    <a:latin typeface="Lato"/>
                    <a:ea typeface="Lato"/>
                    <a:cs typeface="Lato"/>
                    <a:sym typeface="Lato"/>
                  </a:rPr>
                  <a:t>32.0%</a:t>
                </a:r>
                <a:endParaRPr b="0" sz="1100">
                  <a:solidFill>
                    <a:srgbClr val="1A1A1A"/>
                  </a:solidFill>
                  <a:latin typeface="Lato"/>
                  <a:ea typeface="Lato"/>
                  <a:cs typeface="Lato"/>
                  <a:sym typeface="Lato"/>
                </a:endParaRPr>
              </a:p>
            </p:txBody>
          </p:sp>
          <p:sp>
            <p:nvSpPr>
              <p:cNvPr id="900" name="Google Shape;900;p52"/>
              <p:cNvSpPr txBox="1"/>
              <p:nvPr/>
            </p:nvSpPr>
            <p:spPr>
              <a:xfrm>
                <a:off x="5048250" y="-381000"/>
                <a:ext cx="9525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100">
                    <a:solidFill>
                      <a:srgbClr val="1A9988"/>
                    </a:solidFill>
                    <a:latin typeface="Lato"/>
                    <a:ea typeface="Lato"/>
                    <a:cs typeface="Lato"/>
                    <a:sym typeface="Lato"/>
                  </a:rPr>
                  <a:t>+0.30</a:t>
                </a:r>
                <a:endParaRPr b="1" sz="1100">
                  <a:solidFill>
                    <a:srgbClr val="1A9988"/>
                  </a:solidFill>
                  <a:latin typeface="Lato"/>
                  <a:ea typeface="Lato"/>
                  <a:cs typeface="Lato"/>
                  <a:sym typeface="Lato"/>
                </a:endParaRPr>
              </a:p>
            </p:txBody>
          </p:sp>
        </p:grpSp>
        <p:grpSp>
          <p:nvGrpSpPr>
            <p:cNvPr id="901" name="Google Shape;901;p52"/>
            <p:cNvGrpSpPr/>
            <p:nvPr/>
          </p:nvGrpSpPr>
          <p:grpSpPr>
            <a:xfrm>
              <a:off x="190500" y="1095375"/>
              <a:ext cx="6858000" cy="381000"/>
              <a:chOff x="190500" y="-333375"/>
              <a:chExt cx="6858000" cy="381000"/>
            </a:xfrm>
          </p:grpSpPr>
          <p:sp>
            <p:nvSpPr>
              <p:cNvPr id="902" name="Google Shape;902;p52"/>
              <p:cNvSpPr txBox="1"/>
              <p:nvPr/>
            </p:nvSpPr>
            <p:spPr>
              <a:xfrm>
                <a:off x="190500" y="-333375"/>
                <a:ext cx="15240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GB" sz="1100">
                    <a:solidFill>
                      <a:srgbClr val="1A1A1A"/>
                    </a:solidFill>
                    <a:latin typeface="Lato"/>
                    <a:ea typeface="Lato"/>
                    <a:cs typeface="Lato"/>
                    <a:sym typeface="Lato"/>
                  </a:rPr>
                  <a:t>Minmax budgeted</a:t>
                </a:r>
                <a:endParaRPr b="1" sz="1100">
                  <a:solidFill>
                    <a:srgbClr val="1A1A1A"/>
                  </a:solidFill>
                  <a:latin typeface="Lato"/>
                  <a:ea typeface="Lato"/>
                  <a:cs typeface="Lato"/>
                  <a:sym typeface="Lato"/>
                </a:endParaRPr>
              </a:p>
            </p:txBody>
          </p:sp>
          <p:sp>
            <p:nvSpPr>
              <p:cNvPr id="903" name="Google Shape;903;p52"/>
              <p:cNvSpPr txBox="1"/>
              <p:nvPr/>
            </p:nvSpPr>
            <p:spPr>
              <a:xfrm>
                <a:off x="1809750" y="-333375"/>
                <a:ext cx="15240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GB" sz="1100">
                    <a:solidFill>
                      <a:srgbClr val="1A1A1A"/>
                    </a:solidFill>
                    <a:latin typeface="Lato"/>
                    <a:ea typeface="Lato"/>
                    <a:cs typeface="Lato"/>
                    <a:sym typeface="Lato"/>
                  </a:rPr>
                  <a:t>45.0%</a:t>
                </a:r>
                <a:endParaRPr b="0" sz="1100">
                  <a:solidFill>
                    <a:srgbClr val="1A1A1A"/>
                  </a:solidFill>
                  <a:latin typeface="Lato"/>
                  <a:ea typeface="Lato"/>
                  <a:cs typeface="Lato"/>
                  <a:sym typeface="Lato"/>
                </a:endParaRPr>
              </a:p>
            </p:txBody>
          </p:sp>
          <p:sp>
            <p:nvSpPr>
              <p:cNvPr id="904" name="Google Shape;904;p52"/>
              <p:cNvSpPr txBox="1"/>
              <p:nvPr/>
            </p:nvSpPr>
            <p:spPr>
              <a:xfrm>
                <a:off x="6096000" y="-333375"/>
                <a:ext cx="9525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GB" sz="1100">
                    <a:solidFill>
                      <a:srgbClr val="1A1A1A"/>
                    </a:solidFill>
                    <a:latin typeface="Lato"/>
                    <a:ea typeface="Lato"/>
                    <a:cs typeface="Lato"/>
                    <a:sym typeface="Lato"/>
                  </a:rPr>
                  <a:t>32.1%</a:t>
                </a:r>
                <a:endParaRPr b="0" sz="1100">
                  <a:solidFill>
                    <a:srgbClr val="1A1A1A"/>
                  </a:solidFill>
                  <a:latin typeface="Lato"/>
                  <a:ea typeface="Lato"/>
                  <a:cs typeface="Lato"/>
                  <a:sym typeface="Lato"/>
                </a:endParaRPr>
              </a:p>
            </p:txBody>
          </p:sp>
          <p:sp>
            <p:nvSpPr>
              <p:cNvPr id="905" name="Google Shape;905;p52"/>
              <p:cNvSpPr txBox="1"/>
              <p:nvPr/>
            </p:nvSpPr>
            <p:spPr>
              <a:xfrm>
                <a:off x="5048250" y="-333375"/>
                <a:ext cx="9525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100">
                    <a:solidFill>
                      <a:srgbClr val="EB5600"/>
                    </a:solidFill>
                    <a:latin typeface="Lato"/>
                    <a:ea typeface="Lato"/>
                    <a:cs typeface="Lato"/>
                    <a:sym typeface="Lato"/>
                  </a:rPr>
                  <a:t>-0.10</a:t>
                </a:r>
                <a:endParaRPr b="1" sz="1100">
                  <a:solidFill>
                    <a:srgbClr val="EB5600"/>
                  </a:solidFill>
                  <a:latin typeface="Lato"/>
                  <a:ea typeface="Lato"/>
                  <a:cs typeface="Lato"/>
                  <a:sym typeface="Lato"/>
                </a:endParaRPr>
              </a:p>
            </p:txBody>
          </p:sp>
        </p:grpSp>
        <p:grpSp>
          <p:nvGrpSpPr>
            <p:cNvPr id="906" name="Google Shape;906;p52"/>
            <p:cNvGrpSpPr/>
            <p:nvPr/>
          </p:nvGrpSpPr>
          <p:grpSpPr>
            <a:xfrm>
              <a:off x="190500" y="1571625"/>
              <a:ext cx="6858000" cy="381000"/>
              <a:chOff x="190500" y="-285750"/>
              <a:chExt cx="6858000" cy="381000"/>
            </a:xfrm>
          </p:grpSpPr>
          <p:sp>
            <p:nvSpPr>
              <p:cNvPr id="907" name="Google Shape;907;p52"/>
              <p:cNvSpPr txBox="1"/>
              <p:nvPr/>
            </p:nvSpPr>
            <p:spPr>
              <a:xfrm>
                <a:off x="190500" y="-285750"/>
                <a:ext cx="15240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GB" sz="1100">
                    <a:solidFill>
                      <a:srgbClr val="1A1A1A"/>
                    </a:solidFill>
                    <a:latin typeface="Lato"/>
                    <a:ea typeface="Lato"/>
                    <a:cs typeface="Lato"/>
                    <a:sym typeface="Lato"/>
                  </a:rPr>
                  <a:t>MCTS</a:t>
                </a:r>
                <a:endParaRPr b="1" sz="1100">
                  <a:solidFill>
                    <a:srgbClr val="1A1A1A"/>
                  </a:solidFill>
                  <a:latin typeface="Lato"/>
                  <a:ea typeface="Lato"/>
                  <a:cs typeface="Lato"/>
                  <a:sym typeface="Lato"/>
                </a:endParaRPr>
              </a:p>
            </p:txBody>
          </p:sp>
          <p:sp>
            <p:nvSpPr>
              <p:cNvPr id="908" name="Google Shape;908;p52"/>
              <p:cNvSpPr txBox="1"/>
              <p:nvPr/>
            </p:nvSpPr>
            <p:spPr>
              <a:xfrm>
                <a:off x="1809750" y="-285750"/>
                <a:ext cx="15240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GB" sz="1100">
                    <a:solidFill>
                      <a:srgbClr val="1A1A1A"/>
                    </a:solidFill>
                    <a:latin typeface="Lato"/>
                    <a:ea typeface="Lato"/>
                    <a:cs typeface="Lato"/>
                    <a:sym typeface="Lato"/>
                  </a:rPr>
                  <a:t>52.5%</a:t>
                </a:r>
                <a:endParaRPr b="0" sz="1100">
                  <a:solidFill>
                    <a:srgbClr val="1A1A1A"/>
                  </a:solidFill>
                  <a:latin typeface="Lato"/>
                  <a:ea typeface="Lato"/>
                  <a:cs typeface="Lato"/>
                  <a:sym typeface="Lato"/>
                </a:endParaRPr>
              </a:p>
            </p:txBody>
          </p:sp>
          <p:sp>
            <p:nvSpPr>
              <p:cNvPr id="909" name="Google Shape;909;p52"/>
              <p:cNvSpPr txBox="1"/>
              <p:nvPr/>
            </p:nvSpPr>
            <p:spPr>
              <a:xfrm>
                <a:off x="6096000" y="-285750"/>
                <a:ext cx="9525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GB" sz="1100">
                    <a:solidFill>
                      <a:srgbClr val="1A1A1A"/>
                    </a:solidFill>
                    <a:latin typeface="Lato"/>
                    <a:ea typeface="Lato"/>
                    <a:cs typeface="Lato"/>
                    <a:sym typeface="Lato"/>
                  </a:rPr>
                  <a:t>30.4%</a:t>
                </a:r>
                <a:endParaRPr b="0" sz="1100">
                  <a:solidFill>
                    <a:srgbClr val="1A1A1A"/>
                  </a:solidFill>
                  <a:latin typeface="Lato"/>
                  <a:ea typeface="Lato"/>
                  <a:cs typeface="Lato"/>
                  <a:sym typeface="Lato"/>
                </a:endParaRPr>
              </a:p>
            </p:txBody>
          </p:sp>
          <p:sp>
            <p:nvSpPr>
              <p:cNvPr id="910" name="Google Shape;910;p52"/>
              <p:cNvSpPr txBox="1"/>
              <p:nvPr/>
            </p:nvSpPr>
            <p:spPr>
              <a:xfrm>
                <a:off x="5048250" y="-285750"/>
                <a:ext cx="9525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100">
                    <a:solidFill>
                      <a:srgbClr val="1A9988"/>
                    </a:solidFill>
                    <a:latin typeface="Lato"/>
                    <a:ea typeface="Lato"/>
                    <a:cs typeface="Lato"/>
                    <a:sym typeface="Lato"/>
                  </a:rPr>
                  <a:t>+0.05</a:t>
                </a:r>
                <a:endParaRPr b="1" sz="1100">
                  <a:solidFill>
                    <a:srgbClr val="1A9988"/>
                  </a:solidFill>
                  <a:latin typeface="Lato"/>
                  <a:ea typeface="Lato"/>
                  <a:cs typeface="Lato"/>
                  <a:sym typeface="Lato"/>
                </a:endParaRPr>
              </a:p>
            </p:txBody>
          </p:sp>
        </p:grpSp>
      </p:grpSp>
      <p:sp>
        <p:nvSpPr>
          <p:cNvPr id="911" name="Google Shape;911;p52"/>
          <p:cNvSpPr txBox="1"/>
          <p:nvPr/>
        </p:nvSpPr>
        <p:spPr>
          <a:xfrm>
            <a:off x="4000500" y="2095500"/>
            <a:ext cx="1524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000">
                <a:solidFill>
                  <a:srgbClr val="1A9988"/>
                </a:solidFill>
                <a:latin typeface="Lato"/>
                <a:ea typeface="Lato"/>
                <a:cs typeface="Lato"/>
                <a:sym typeface="Lato"/>
              </a:rPr>
              <a:t>LLM win rate vs HiRAG</a:t>
            </a:r>
            <a:endParaRPr b="1" sz="1000">
              <a:solidFill>
                <a:srgbClr val="1A9988"/>
              </a:solidFill>
              <a:latin typeface="Lato"/>
              <a:ea typeface="Lato"/>
              <a:cs typeface="Lato"/>
              <a:sym typeface="Lato"/>
            </a:endParaRPr>
          </a:p>
        </p:txBody>
      </p:sp>
      <p:sp>
        <p:nvSpPr>
          <p:cNvPr id="912" name="Google Shape;912;p52"/>
          <p:cNvSpPr txBox="1"/>
          <p:nvPr/>
        </p:nvSpPr>
        <p:spPr>
          <a:xfrm>
            <a:off x="4000500" y="2524125"/>
            <a:ext cx="15240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GB" sz="1100">
                <a:solidFill>
                  <a:srgbClr val="1A1A1A"/>
                </a:solidFill>
                <a:latin typeface="Lato"/>
                <a:ea typeface="Lato"/>
                <a:cs typeface="Lato"/>
                <a:sym typeface="Lato"/>
              </a:rPr>
              <a:t>78.6%</a:t>
            </a:r>
            <a:endParaRPr b="0" sz="1100">
              <a:solidFill>
                <a:srgbClr val="1A1A1A"/>
              </a:solidFill>
              <a:latin typeface="Lato"/>
              <a:ea typeface="Lato"/>
              <a:cs typeface="Lato"/>
              <a:sym typeface="Lato"/>
            </a:endParaRPr>
          </a:p>
        </p:txBody>
      </p:sp>
      <p:sp>
        <p:nvSpPr>
          <p:cNvPr id="913" name="Google Shape;913;p52"/>
          <p:cNvSpPr txBox="1"/>
          <p:nvPr/>
        </p:nvSpPr>
        <p:spPr>
          <a:xfrm>
            <a:off x="4000500" y="3000375"/>
            <a:ext cx="15240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GB" sz="1100">
                <a:solidFill>
                  <a:srgbClr val="1A1A1A"/>
                </a:solidFill>
                <a:latin typeface="Lato"/>
                <a:ea typeface="Lato"/>
                <a:cs typeface="Lato"/>
                <a:sym typeface="Lato"/>
              </a:rPr>
              <a:t>61.5%</a:t>
            </a:r>
            <a:endParaRPr b="0" sz="1100">
              <a:solidFill>
                <a:srgbClr val="1A1A1A"/>
              </a:solidFill>
              <a:latin typeface="Lato"/>
              <a:ea typeface="Lato"/>
              <a:cs typeface="Lato"/>
              <a:sym typeface="Lato"/>
            </a:endParaRPr>
          </a:p>
        </p:txBody>
      </p:sp>
      <p:sp>
        <p:nvSpPr>
          <p:cNvPr id="914" name="Google Shape;914;p52"/>
          <p:cNvSpPr txBox="1"/>
          <p:nvPr/>
        </p:nvSpPr>
        <p:spPr>
          <a:xfrm>
            <a:off x="4000500" y="3476625"/>
            <a:ext cx="15240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GB" sz="1100">
                <a:solidFill>
                  <a:srgbClr val="1A1A1A"/>
                </a:solidFill>
                <a:latin typeface="Lato"/>
                <a:ea typeface="Lato"/>
                <a:cs typeface="Lato"/>
                <a:sym typeface="Lato"/>
              </a:rPr>
              <a:t>38.5%</a:t>
            </a:r>
            <a:endParaRPr b="0" sz="1100">
              <a:solidFill>
                <a:srgbClr val="1A1A1A"/>
              </a:solidFill>
              <a:latin typeface="Lato"/>
              <a:ea typeface="Lato"/>
              <a:cs typeface="Lato"/>
              <a:sym typeface="Lato"/>
            </a:endParaRPr>
          </a:p>
        </p:txBody>
      </p:sp>
      <p:sp>
        <p:nvSpPr>
          <p:cNvPr id="915" name="Google Shape;915;p52"/>
          <p:cNvSpPr txBox="1"/>
          <p:nvPr/>
        </p:nvSpPr>
        <p:spPr>
          <a:xfrm>
            <a:off x="828675" y="1381125"/>
            <a:ext cx="57150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GB" sz="1300">
                <a:solidFill>
                  <a:srgbClr val="595959"/>
                </a:solidFill>
                <a:latin typeface="Lato"/>
                <a:ea typeface="Lato"/>
                <a:cs typeface="Lato"/>
                <a:sym typeface="Lato"/>
              </a:rPr>
              <a:t>But : </a:t>
            </a:r>
            <a:r>
              <a:rPr b="0" lang="en-GB" sz="1300">
                <a:solidFill>
                  <a:srgbClr val="595959"/>
                </a:solidFill>
                <a:latin typeface="Lato"/>
                <a:ea typeface="Lato"/>
                <a:cs typeface="Lato"/>
                <a:sym typeface="Lato"/>
              </a:rPr>
              <a:t>comparer HiRAG classique à nos 3 variantes (nouvelles données incluses) :</a:t>
            </a:r>
            <a:endParaRPr b="1" sz="1300">
              <a:solidFill>
                <a:srgbClr val="595959"/>
              </a:solidFill>
              <a:latin typeface="Lato"/>
              <a:ea typeface="Lato"/>
              <a:cs typeface="Lato"/>
              <a:sym typeface="La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9" name="Shape 919"/>
        <p:cNvGrpSpPr/>
        <p:nvPr/>
      </p:nvGrpSpPr>
      <p:grpSpPr>
        <a:xfrm>
          <a:off x="0" y="0"/>
          <a:ext cx="0" cy="0"/>
          <a:chOff x="0" y="0"/>
          <a:chExt cx="0" cy="0"/>
        </a:xfrm>
      </p:grpSpPr>
      <p:pic>
        <p:nvPicPr>
          <p:cNvPr id="920" name="Google Shape;920;p53"/>
          <p:cNvPicPr preferRelativeResize="0"/>
          <p:nvPr/>
        </p:nvPicPr>
        <p:blipFill>
          <a:blip r:embed="rId3">
            <a:alphaModFix/>
          </a:blip>
          <a:stretch>
            <a:fillRect/>
          </a:stretch>
        </p:blipFill>
        <p:spPr>
          <a:xfrm>
            <a:off x="152400" y="152400"/>
            <a:ext cx="8839204" cy="409158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4" name="Shape 924"/>
        <p:cNvGrpSpPr/>
        <p:nvPr/>
      </p:nvGrpSpPr>
      <p:grpSpPr>
        <a:xfrm>
          <a:off x="0" y="0"/>
          <a:ext cx="0" cy="0"/>
          <a:chOff x="0" y="0"/>
          <a:chExt cx="0" cy="0"/>
        </a:xfrm>
      </p:grpSpPr>
      <p:pic>
        <p:nvPicPr>
          <p:cNvPr id="925" name="Google Shape;925;p54"/>
          <p:cNvPicPr preferRelativeResize="0"/>
          <p:nvPr/>
        </p:nvPicPr>
        <p:blipFill>
          <a:blip r:embed="rId3">
            <a:alphaModFix/>
          </a:blip>
          <a:stretch>
            <a:fillRect/>
          </a:stretch>
        </p:blipFill>
        <p:spPr>
          <a:xfrm>
            <a:off x="1100950" y="152400"/>
            <a:ext cx="6942090" cy="48387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29" name="Shape 929"/>
        <p:cNvGrpSpPr/>
        <p:nvPr/>
      </p:nvGrpSpPr>
      <p:grpSpPr>
        <a:xfrm>
          <a:off x="0" y="0"/>
          <a:ext cx="0" cy="0"/>
          <a:chOff x="0" y="0"/>
          <a:chExt cx="0" cy="0"/>
        </a:xfrm>
      </p:grpSpPr>
      <p:sp>
        <p:nvSpPr>
          <p:cNvPr id="930" name="Google Shape;930;p55"/>
          <p:cNvSpPr/>
          <p:nvPr/>
        </p:nvSpPr>
        <p:spPr>
          <a:xfrm>
            <a:off x="0" y="0"/>
            <a:ext cx="9144000" cy="476400"/>
          </a:xfrm>
          <a:prstGeom prst="rect">
            <a:avLst/>
          </a:prstGeom>
          <a:solidFill>
            <a:srgbClr val="E9ED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931" name="Google Shape;931;p55"/>
          <p:cNvGrpSpPr/>
          <p:nvPr/>
        </p:nvGrpSpPr>
        <p:grpSpPr>
          <a:xfrm>
            <a:off x="971550" y="-142875"/>
            <a:ext cx="114375" cy="381000"/>
            <a:chOff x="971550" y="-142875"/>
            <a:chExt cx="114375" cy="381000"/>
          </a:xfrm>
        </p:grpSpPr>
        <p:sp>
          <p:nvSpPr>
            <p:cNvPr id="932" name="Google Shape;932;p55"/>
            <p:cNvSpPr/>
            <p:nvPr/>
          </p:nvSpPr>
          <p:spPr>
            <a:xfrm rot="-5400000">
              <a:off x="804900" y="23775"/>
              <a:ext cx="381000" cy="47700"/>
            </a:xfrm>
            <a:prstGeom prst="rect">
              <a:avLst/>
            </a:prstGeom>
            <a:solidFill>
              <a:srgbClr val="1A99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3" name="Google Shape;933;p55"/>
            <p:cNvSpPr/>
            <p:nvPr/>
          </p:nvSpPr>
          <p:spPr>
            <a:xfrm rot="-5400000">
              <a:off x="871575" y="23775"/>
              <a:ext cx="381000" cy="47700"/>
            </a:xfrm>
            <a:prstGeom prst="rect">
              <a:avLst/>
            </a:prstGeom>
            <a:solidFill>
              <a:srgbClr val="EB5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934" name="Google Shape;934;p55"/>
          <p:cNvGrpSpPr/>
          <p:nvPr/>
        </p:nvGrpSpPr>
        <p:grpSpPr>
          <a:xfrm>
            <a:off x="666750" y="523875"/>
            <a:ext cx="7810500" cy="762150"/>
            <a:chOff x="666750" y="523875"/>
            <a:chExt cx="7810500" cy="762150"/>
          </a:xfrm>
        </p:grpSpPr>
        <p:sp>
          <p:nvSpPr>
            <p:cNvPr id="935" name="Google Shape;935;p55"/>
            <p:cNvSpPr txBox="1"/>
            <p:nvPr/>
          </p:nvSpPr>
          <p:spPr>
            <a:xfrm>
              <a:off x="666750" y="523875"/>
              <a:ext cx="7810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2400">
                  <a:solidFill>
                    <a:srgbClr val="1A1A1A"/>
                  </a:solidFill>
                  <a:latin typeface="Raleway"/>
                  <a:ea typeface="Raleway"/>
                  <a:cs typeface="Raleway"/>
                  <a:sym typeface="Raleway"/>
                </a:rPr>
                <a:t>Composition des prompts</a:t>
              </a:r>
              <a:endParaRPr b="1" sz="2400">
                <a:solidFill>
                  <a:srgbClr val="1A1A1A"/>
                </a:solidFill>
                <a:latin typeface="Raleway"/>
                <a:ea typeface="Raleway"/>
                <a:cs typeface="Raleway"/>
                <a:sym typeface="Raleway"/>
              </a:endParaRPr>
            </a:p>
          </p:txBody>
        </p:sp>
        <p:sp>
          <p:nvSpPr>
            <p:cNvPr id="936" name="Google Shape;936;p55"/>
            <p:cNvSpPr txBox="1"/>
            <p:nvPr/>
          </p:nvSpPr>
          <p:spPr>
            <a:xfrm>
              <a:off x="666750" y="1000125"/>
              <a:ext cx="78105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200">
                  <a:solidFill>
                    <a:srgbClr val="595959"/>
                  </a:solidFill>
                  <a:latin typeface="Lato"/>
                  <a:ea typeface="Lato"/>
                  <a:cs typeface="Lato"/>
                  <a:sym typeface="Lato"/>
                </a:rPr>
                <a:t>Analyse comparative de</a:t>
              </a:r>
              <a:r>
                <a:rPr lang="en-GB" sz="1200">
                  <a:solidFill>
                    <a:srgbClr val="595959"/>
                  </a:solidFill>
                  <a:latin typeface="Lato"/>
                  <a:ea typeface="Lato"/>
                  <a:cs typeface="Lato"/>
                  <a:sym typeface="Lato"/>
                </a:rPr>
                <a:t> l’assemblage du contexte</a:t>
              </a:r>
              <a:endParaRPr b="0" sz="1200">
                <a:solidFill>
                  <a:srgbClr val="595959"/>
                </a:solidFill>
                <a:latin typeface="Lato"/>
                <a:ea typeface="Lato"/>
                <a:cs typeface="Lato"/>
                <a:sym typeface="Lato"/>
              </a:endParaRPr>
            </a:p>
          </p:txBody>
        </p:sp>
      </p:grpSp>
      <p:grpSp>
        <p:nvGrpSpPr>
          <p:cNvPr id="937" name="Google Shape;937;p55"/>
          <p:cNvGrpSpPr/>
          <p:nvPr/>
        </p:nvGrpSpPr>
        <p:grpSpPr>
          <a:xfrm>
            <a:off x="476250" y="1428750"/>
            <a:ext cx="3952800" cy="3238500"/>
            <a:chOff x="476250" y="1428750"/>
            <a:chExt cx="3952800" cy="3238500"/>
          </a:xfrm>
        </p:grpSpPr>
        <p:sp>
          <p:nvSpPr>
            <p:cNvPr id="938" name="Google Shape;938;p55"/>
            <p:cNvSpPr/>
            <p:nvPr/>
          </p:nvSpPr>
          <p:spPr>
            <a:xfrm>
              <a:off x="476250" y="1428750"/>
              <a:ext cx="3952800" cy="3238500"/>
            </a:xfrm>
            <a:prstGeom prst="roundRect">
              <a:avLst>
                <a:gd fmla="val 352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9" name="Google Shape;939;p55"/>
            <p:cNvSpPr txBox="1"/>
            <p:nvPr/>
          </p:nvSpPr>
          <p:spPr>
            <a:xfrm>
              <a:off x="666750" y="1619250"/>
              <a:ext cx="35718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1300">
                  <a:solidFill>
                    <a:srgbClr val="EB5600"/>
                  </a:solidFill>
                  <a:latin typeface="Raleway"/>
                  <a:ea typeface="Raleway"/>
                  <a:cs typeface="Raleway"/>
                  <a:sym typeface="Raleway"/>
                </a:rPr>
                <a:t>Agriculture</a:t>
              </a:r>
              <a:endParaRPr b="1" sz="1300">
                <a:solidFill>
                  <a:srgbClr val="EB5600"/>
                </a:solidFill>
                <a:latin typeface="Raleway"/>
                <a:ea typeface="Raleway"/>
                <a:cs typeface="Raleway"/>
                <a:sym typeface="Raleway"/>
              </a:endParaRPr>
            </a:p>
          </p:txBody>
        </p:sp>
      </p:grpSp>
      <p:grpSp>
        <p:nvGrpSpPr>
          <p:cNvPr id="940" name="Google Shape;940;p55"/>
          <p:cNvGrpSpPr/>
          <p:nvPr/>
        </p:nvGrpSpPr>
        <p:grpSpPr>
          <a:xfrm>
            <a:off x="4714875" y="1428750"/>
            <a:ext cx="3952800" cy="3238500"/>
            <a:chOff x="4714875" y="1428750"/>
            <a:chExt cx="3952800" cy="3238500"/>
          </a:xfrm>
        </p:grpSpPr>
        <p:sp>
          <p:nvSpPr>
            <p:cNvPr id="941" name="Google Shape;941;p55"/>
            <p:cNvSpPr/>
            <p:nvPr/>
          </p:nvSpPr>
          <p:spPr>
            <a:xfrm>
              <a:off x="4714875" y="1428750"/>
              <a:ext cx="3952800" cy="3238500"/>
            </a:xfrm>
            <a:prstGeom prst="roundRect">
              <a:avLst>
                <a:gd fmla="val 352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42" name="Google Shape;942;p55"/>
            <p:cNvSpPr txBox="1"/>
            <p:nvPr/>
          </p:nvSpPr>
          <p:spPr>
            <a:xfrm>
              <a:off x="4905375" y="1619250"/>
              <a:ext cx="35718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1300">
                  <a:solidFill>
                    <a:srgbClr val="1A9988"/>
                  </a:solidFill>
                  <a:latin typeface="Raleway"/>
                  <a:ea typeface="Raleway"/>
                  <a:cs typeface="Raleway"/>
                  <a:sym typeface="Raleway"/>
                </a:rPr>
                <a:t>Mix</a:t>
              </a:r>
              <a:endParaRPr b="1" sz="1300">
                <a:solidFill>
                  <a:srgbClr val="1A9988"/>
                </a:solidFill>
                <a:latin typeface="Raleway"/>
                <a:ea typeface="Raleway"/>
                <a:cs typeface="Raleway"/>
                <a:sym typeface="Raleway"/>
              </a:endParaRPr>
            </a:p>
          </p:txBody>
        </p:sp>
      </p:grpSp>
      <p:pic>
        <p:nvPicPr>
          <p:cNvPr id="943" name="Google Shape;943;p55"/>
          <p:cNvPicPr preferRelativeResize="0"/>
          <p:nvPr/>
        </p:nvPicPr>
        <p:blipFill>
          <a:blip r:embed="rId4">
            <a:alphaModFix/>
          </a:blip>
          <a:stretch>
            <a:fillRect/>
          </a:stretch>
        </p:blipFill>
        <p:spPr>
          <a:xfrm>
            <a:off x="548775" y="2185275"/>
            <a:ext cx="3807749" cy="2203350"/>
          </a:xfrm>
          <a:prstGeom prst="rect">
            <a:avLst/>
          </a:prstGeom>
          <a:noFill/>
          <a:ln>
            <a:noFill/>
          </a:ln>
        </p:spPr>
      </p:pic>
      <p:pic>
        <p:nvPicPr>
          <p:cNvPr id="944" name="Google Shape;944;p55"/>
          <p:cNvPicPr preferRelativeResize="0"/>
          <p:nvPr/>
        </p:nvPicPr>
        <p:blipFill>
          <a:blip r:embed="rId5">
            <a:alphaModFix/>
          </a:blip>
          <a:stretch>
            <a:fillRect/>
          </a:stretch>
        </p:blipFill>
        <p:spPr>
          <a:xfrm>
            <a:off x="4869898" y="2233013"/>
            <a:ext cx="3642752" cy="210788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8" name="Shape 948"/>
        <p:cNvGrpSpPr/>
        <p:nvPr/>
      </p:nvGrpSpPr>
      <p:grpSpPr>
        <a:xfrm>
          <a:off x="0" y="0"/>
          <a:ext cx="0" cy="0"/>
          <a:chOff x="0" y="0"/>
          <a:chExt cx="0" cy="0"/>
        </a:xfrm>
      </p:grpSpPr>
      <p:sp>
        <p:nvSpPr>
          <p:cNvPr id="949" name="Google Shape;949;p56"/>
          <p:cNvSpPr txBox="1"/>
          <p:nvPr>
            <p:ph type="title"/>
          </p:nvPr>
        </p:nvSpPr>
        <p:spPr>
          <a:xfrm>
            <a:off x="727650" y="669600"/>
            <a:ext cx="55995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Conclusion</a:t>
            </a:r>
            <a:endParaRPr/>
          </a:p>
          <a:p>
            <a:pPr indent="0" lvl="0" marL="0" rtl="0" algn="l">
              <a:spcBef>
                <a:spcPts val="0"/>
              </a:spcBef>
              <a:spcAft>
                <a:spcPts val="0"/>
              </a:spcAft>
              <a:buNone/>
            </a:pPr>
            <a:r>
              <a:t/>
            </a:r>
            <a:endParaRPr/>
          </a:p>
        </p:txBody>
      </p:sp>
      <p:sp>
        <p:nvSpPr>
          <p:cNvPr id="950" name="Google Shape;950;p56"/>
          <p:cNvSpPr/>
          <p:nvPr/>
        </p:nvSpPr>
        <p:spPr>
          <a:xfrm>
            <a:off x="820725" y="1423625"/>
            <a:ext cx="400200" cy="4002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
                <a:solidFill>
                  <a:schemeClr val="lt1"/>
                </a:solidFill>
                <a:latin typeface="Lato"/>
                <a:ea typeface="Lato"/>
                <a:cs typeface="Lato"/>
                <a:sym typeface="Lato"/>
              </a:rPr>
              <a:t>1</a:t>
            </a:r>
            <a:endParaRPr sz="2000">
              <a:solidFill>
                <a:schemeClr val="lt1"/>
              </a:solidFill>
              <a:latin typeface="Lato"/>
              <a:ea typeface="Lato"/>
              <a:cs typeface="Lato"/>
              <a:sym typeface="Lato"/>
            </a:endParaRPr>
          </a:p>
        </p:txBody>
      </p:sp>
      <p:sp>
        <p:nvSpPr>
          <p:cNvPr id="951" name="Google Shape;951;p56"/>
          <p:cNvSpPr txBox="1"/>
          <p:nvPr/>
        </p:nvSpPr>
        <p:spPr>
          <a:xfrm>
            <a:off x="1220925" y="1351850"/>
            <a:ext cx="723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Problème potentiel avec </a:t>
            </a:r>
            <a:r>
              <a:rPr b="1" lang="en-GB" sz="1300">
                <a:solidFill>
                  <a:schemeClr val="accent1"/>
                </a:solidFill>
                <a:latin typeface="Lato"/>
                <a:ea typeface="Lato"/>
                <a:cs typeface="Lato"/>
                <a:sym typeface="Lato"/>
              </a:rPr>
              <a:t>notre s</a:t>
            </a:r>
            <a:r>
              <a:rPr b="1" lang="en-GB" sz="1300">
                <a:solidFill>
                  <a:schemeClr val="accent1"/>
                </a:solidFill>
                <a:latin typeface="Lato"/>
                <a:ea typeface="Lato"/>
                <a:cs typeface="Lato"/>
                <a:sym typeface="Lato"/>
              </a:rPr>
              <a:t>tratégie de chevauchement avec la requête</a:t>
            </a:r>
            <a:endParaRPr b="1" sz="1300">
              <a:solidFill>
                <a:schemeClr val="accent1"/>
              </a:solidFill>
              <a:latin typeface="Lato"/>
              <a:ea typeface="Lato"/>
              <a:cs typeface="Lato"/>
              <a:sym typeface="Lato"/>
            </a:endParaRPr>
          </a:p>
          <a:p>
            <a:pPr indent="0" lvl="0" marL="0" rtl="0" algn="l">
              <a:spcBef>
                <a:spcPts val="0"/>
              </a:spcBef>
              <a:spcAft>
                <a:spcPts val="0"/>
              </a:spcAft>
              <a:buNone/>
            </a:pPr>
            <a:r>
              <a:rPr lang="en-GB" sz="1300">
                <a:solidFill>
                  <a:schemeClr val="accent1"/>
                </a:solidFill>
                <a:latin typeface="Lato"/>
                <a:ea typeface="Lato"/>
                <a:cs typeface="Lato"/>
                <a:sym typeface="Lato"/>
              </a:rPr>
              <a:t>On sélectionne qu’une seule phrase (pas assez)</a:t>
            </a:r>
            <a:endParaRPr sz="1300">
              <a:solidFill>
                <a:schemeClr val="accent1"/>
              </a:solidFill>
              <a:latin typeface="Lato"/>
              <a:ea typeface="Lato"/>
              <a:cs typeface="Lato"/>
              <a:sym typeface="Lato"/>
            </a:endParaRPr>
          </a:p>
        </p:txBody>
      </p:sp>
      <p:sp>
        <p:nvSpPr>
          <p:cNvPr id="952" name="Google Shape;952;p56"/>
          <p:cNvSpPr/>
          <p:nvPr/>
        </p:nvSpPr>
        <p:spPr>
          <a:xfrm>
            <a:off x="820725" y="2402750"/>
            <a:ext cx="400200" cy="4002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
                <a:solidFill>
                  <a:schemeClr val="lt1"/>
                </a:solidFill>
                <a:latin typeface="Lato"/>
                <a:ea typeface="Lato"/>
                <a:cs typeface="Lato"/>
                <a:sym typeface="Lato"/>
              </a:rPr>
              <a:t>2</a:t>
            </a:r>
            <a:endParaRPr sz="2000">
              <a:solidFill>
                <a:schemeClr val="lt1"/>
              </a:solidFill>
              <a:latin typeface="Lato"/>
              <a:ea typeface="Lato"/>
              <a:cs typeface="Lato"/>
              <a:sym typeface="Lato"/>
            </a:endParaRPr>
          </a:p>
        </p:txBody>
      </p:sp>
      <p:sp>
        <p:nvSpPr>
          <p:cNvPr id="953" name="Google Shape;953;p56"/>
          <p:cNvSpPr txBox="1"/>
          <p:nvPr/>
        </p:nvSpPr>
        <p:spPr>
          <a:xfrm>
            <a:off x="1220925" y="2232500"/>
            <a:ext cx="7376100" cy="9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Encourageant que nos méthodes (surtout MCTS) de </a:t>
            </a:r>
            <a:r>
              <a:rPr lang="en-GB" sz="1300">
                <a:solidFill>
                  <a:schemeClr val="accent1"/>
                </a:solidFill>
                <a:latin typeface="Lato"/>
                <a:ea typeface="Lato"/>
                <a:cs typeface="Lato"/>
                <a:sym typeface="Lato"/>
              </a:rPr>
              <a:t>retrieval réussissent à battre HiRAG.</a:t>
            </a:r>
            <a:endParaRPr sz="1300">
              <a:solidFill>
                <a:schemeClr val="accent1"/>
              </a:solidFill>
              <a:latin typeface="Lato"/>
              <a:ea typeface="Lato"/>
              <a:cs typeface="Lato"/>
              <a:sym typeface="Lato"/>
            </a:endParaRPr>
          </a:p>
          <a:p>
            <a:pPr indent="0" lvl="0" marL="0" rtl="0" algn="l">
              <a:spcBef>
                <a:spcPts val="0"/>
              </a:spcBef>
              <a:spcAft>
                <a:spcPts val="0"/>
              </a:spcAft>
              <a:buNone/>
            </a:pPr>
            <a:r>
              <a:rPr lang="en-GB" sz="1300">
                <a:solidFill>
                  <a:schemeClr val="accent1"/>
                </a:solidFill>
                <a:latin typeface="Lato"/>
                <a:ea typeface="Lato"/>
                <a:cs typeface="Lato"/>
                <a:sym typeface="Lato"/>
              </a:rPr>
              <a:t>Il faut refaire l’évaluation sans  la stratégie </a:t>
            </a:r>
            <a:r>
              <a:rPr b="1" lang="en-GB" sz="1300">
                <a:solidFill>
                  <a:schemeClr val="accent1"/>
                </a:solidFill>
                <a:latin typeface="Lato"/>
                <a:ea typeface="Lato"/>
                <a:cs typeface="Lato"/>
                <a:sym typeface="Lato"/>
              </a:rPr>
              <a:t>de chevauchement avec la requête</a:t>
            </a:r>
            <a:endParaRPr sz="1300">
              <a:solidFill>
                <a:schemeClr val="accent1"/>
              </a:solidFill>
              <a:latin typeface="Lato"/>
              <a:ea typeface="Lato"/>
              <a:cs typeface="Lato"/>
              <a:sym typeface="Lato"/>
            </a:endParaRPr>
          </a:p>
          <a:p>
            <a:pPr indent="0" lvl="0" marL="0" rtl="0" algn="l">
              <a:spcBef>
                <a:spcPts val="0"/>
              </a:spcBef>
              <a:spcAft>
                <a:spcPts val="0"/>
              </a:spcAft>
              <a:buNone/>
            </a:pPr>
            <a:r>
              <a:rPr lang="en-GB" sz="1300">
                <a:solidFill>
                  <a:schemeClr val="accent1"/>
                </a:solidFill>
                <a:latin typeface="Lato"/>
                <a:ea typeface="Lato"/>
                <a:cs typeface="Lato"/>
                <a:sym typeface="Lato"/>
              </a:rPr>
              <a:t>L’idée de </a:t>
            </a:r>
            <a:r>
              <a:rPr b="1" lang="en-GB" sz="1300">
                <a:solidFill>
                  <a:schemeClr val="accent1"/>
                </a:solidFill>
                <a:latin typeface="Lato"/>
                <a:ea typeface="Lato"/>
                <a:cs typeface="Lato"/>
                <a:sym typeface="Lato"/>
              </a:rPr>
              <a:t>query-aware bridge</a:t>
            </a:r>
            <a:r>
              <a:rPr lang="en-GB" sz="1300">
                <a:solidFill>
                  <a:schemeClr val="accent1"/>
                </a:solidFill>
                <a:latin typeface="Lato"/>
                <a:ea typeface="Lato"/>
                <a:cs typeface="Lato"/>
                <a:sym typeface="Lato"/>
              </a:rPr>
              <a:t> est prometteuse</a:t>
            </a:r>
            <a:br>
              <a:rPr lang="en-GB" sz="1300">
                <a:solidFill>
                  <a:schemeClr val="accent1"/>
                </a:solidFill>
                <a:latin typeface="Lato"/>
                <a:ea typeface="Lato"/>
                <a:cs typeface="Lato"/>
                <a:sym typeface="Lato"/>
              </a:rPr>
            </a:br>
            <a:endParaRPr sz="1300">
              <a:solidFill>
                <a:schemeClr val="accent1"/>
              </a:solidFill>
              <a:latin typeface="Lato"/>
              <a:ea typeface="Lato"/>
              <a:cs typeface="Lato"/>
              <a:sym typeface="Lato"/>
            </a:endParaRPr>
          </a:p>
        </p:txBody>
      </p:sp>
      <p:sp>
        <p:nvSpPr>
          <p:cNvPr id="954" name="Google Shape;954;p56"/>
          <p:cNvSpPr/>
          <p:nvPr/>
        </p:nvSpPr>
        <p:spPr>
          <a:xfrm>
            <a:off x="820725" y="3310112"/>
            <a:ext cx="400200" cy="4002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
                <a:solidFill>
                  <a:schemeClr val="lt1"/>
                </a:solidFill>
                <a:latin typeface="Lato"/>
                <a:ea typeface="Lato"/>
                <a:cs typeface="Lato"/>
                <a:sym typeface="Lato"/>
              </a:rPr>
              <a:t>3</a:t>
            </a:r>
            <a:endParaRPr sz="2000">
              <a:solidFill>
                <a:schemeClr val="lt1"/>
              </a:solidFill>
              <a:latin typeface="Lato"/>
              <a:ea typeface="Lato"/>
              <a:cs typeface="Lato"/>
              <a:sym typeface="Lato"/>
            </a:endParaRPr>
          </a:p>
        </p:txBody>
      </p:sp>
      <p:sp>
        <p:nvSpPr>
          <p:cNvPr id="955" name="Google Shape;955;p56"/>
          <p:cNvSpPr txBox="1"/>
          <p:nvPr/>
        </p:nvSpPr>
        <p:spPr>
          <a:xfrm>
            <a:off x="1220925" y="3217700"/>
            <a:ext cx="73761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Ces résultats montrent qu’un seule graphe est </a:t>
            </a:r>
            <a:r>
              <a:rPr lang="en-GB" sz="1300">
                <a:solidFill>
                  <a:schemeClr val="accent1"/>
                </a:solidFill>
                <a:latin typeface="Lato"/>
                <a:ea typeface="Lato"/>
                <a:cs typeface="Lato"/>
                <a:sym typeface="Lato"/>
              </a:rPr>
              <a:t>insuffisant</a:t>
            </a:r>
            <a:r>
              <a:rPr lang="en-GB" sz="1300">
                <a:solidFill>
                  <a:schemeClr val="accent1"/>
                </a:solidFill>
                <a:latin typeface="Lato"/>
                <a:ea typeface="Lato"/>
                <a:cs typeface="Lato"/>
                <a:sym typeface="Lato"/>
              </a:rPr>
              <a:t> pour complètement répondre à la question. Sûrement parce que le graphe contient que des résumés</a:t>
            </a:r>
            <a:endParaRPr sz="1300">
              <a:solidFill>
                <a:schemeClr val="accent1"/>
              </a:solidFill>
              <a:latin typeface="Lato"/>
              <a:ea typeface="Lato"/>
              <a:cs typeface="Lato"/>
              <a:sym typeface="La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59" name="Shape 959"/>
        <p:cNvGrpSpPr/>
        <p:nvPr/>
      </p:nvGrpSpPr>
      <p:grpSpPr>
        <a:xfrm>
          <a:off x="0" y="0"/>
          <a:ext cx="0" cy="0"/>
          <a:chOff x="0" y="0"/>
          <a:chExt cx="0" cy="0"/>
        </a:xfrm>
      </p:grpSpPr>
      <p:sp>
        <p:nvSpPr>
          <p:cNvPr id="960" name="Google Shape;960;p57"/>
          <p:cNvSpPr txBox="1"/>
          <p:nvPr>
            <p:ph type="title"/>
          </p:nvPr>
        </p:nvSpPr>
        <p:spPr>
          <a:xfrm>
            <a:off x="727650" y="669600"/>
            <a:ext cx="55995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Conclusion</a:t>
            </a:r>
            <a:endParaRPr/>
          </a:p>
          <a:p>
            <a:pPr indent="0" lvl="0" marL="0" rtl="0" algn="l">
              <a:spcBef>
                <a:spcPts val="0"/>
              </a:spcBef>
              <a:spcAft>
                <a:spcPts val="0"/>
              </a:spcAft>
              <a:buNone/>
            </a:pPr>
            <a:r>
              <a:t/>
            </a:r>
            <a:endParaRPr/>
          </a:p>
        </p:txBody>
      </p:sp>
      <p:sp>
        <p:nvSpPr>
          <p:cNvPr id="961" name="Google Shape;961;p57"/>
          <p:cNvSpPr txBox="1"/>
          <p:nvPr/>
        </p:nvSpPr>
        <p:spPr>
          <a:xfrm>
            <a:off x="348700" y="3834300"/>
            <a:ext cx="8518200" cy="10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Context composition is very important (and part of the explanation why naive RAG seems to work better. </a:t>
            </a:r>
            <a:endParaRPr sz="1300">
              <a:solidFill>
                <a:schemeClr val="accent1"/>
              </a:solidFill>
              <a:latin typeface="Lato"/>
              <a:ea typeface="Lato"/>
              <a:cs typeface="Lato"/>
              <a:sym typeface="Lato"/>
            </a:endParaRPr>
          </a:p>
          <a:p>
            <a:pPr indent="0" lvl="0" marL="0" rtl="0" algn="l">
              <a:spcBef>
                <a:spcPts val="0"/>
              </a:spcBef>
              <a:spcAft>
                <a:spcPts val="0"/>
              </a:spcAft>
              <a:buNone/>
            </a:pPr>
            <a:r>
              <a:rPr lang="en-GB" sz="1300">
                <a:solidFill>
                  <a:schemeClr val="accent1"/>
                </a:solidFill>
                <a:latin typeface="Lato"/>
                <a:ea typeface="Lato"/>
                <a:cs typeface="Lato"/>
                <a:sym typeface="Lato"/>
              </a:rPr>
              <a:t>HiRAG adds a lot of summarised descriptions and overloads the context window / doesn’t select the useful things.</a:t>
            </a:r>
            <a:endParaRPr sz="1300">
              <a:solidFill>
                <a:schemeClr val="accent1"/>
              </a:solidFill>
              <a:latin typeface="Lato"/>
              <a:ea typeface="Lato"/>
              <a:cs typeface="Lato"/>
              <a:sym typeface="Lato"/>
            </a:endParaRPr>
          </a:p>
          <a:p>
            <a:pPr indent="0" lvl="0" marL="0" rtl="0" algn="l">
              <a:spcBef>
                <a:spcPts val="0"/>
              </a:spcBef>
              <a:spcAft>
                <a:spcPts val="0"/>
              </a:spcAft>
              <a:buNone/>
            </a:pPr>
            <a:r>
              <a:t/>
            </a:r>
            <a:endParaRPr/>
          </a:p>
          <a:p>
            <a:pPr indent="0" lvl="0" marL="0" rtl="0" algn="l">
              <a:spcBef>
                <a:spcPts val="0"/>
              </a:spcBef>
              <a:spcAft>
                <a:spcPts val="0"/>
              </a:spcAft>
              <a:buNone/>
            </a:pPr>
            <a:r>
              <a:rPr lang="en-GB"/>
              <a:t>MCTS improves the search formulation, but context composition remains the bottleneck.</a:t>
            </a:r>
            <a:endParaRPr sz="1300">
              <a:solidFill>
                <a:schemeClr val="accent1"/>
              </a:solidFill>
              <a:latin typeface="Lato"/>
              <a:ea typeface="Lato"/>
              <a:cs typeface="Lato"/>
              <a:sym typeface="Lato"/>
            </a:endParaRPr>
          </a:p>
        </p:txBody>
      </p:sp>
      <p:sp>
        <p:nvSpPr>
          <p:cNvPr id="962" name="Google Shape;962;p57"/>
          <p:cNvSpPr txBox="1"/>
          <p:nvPr/>
        </p:nvSpPr>
        <p:spPr>
          <a:xfrm>
            <a:off x="287475" y="3312450"/>
            <a:ext cx="8892900" cy="53334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600"/>
              </a:spcBef>
              <a:spcAft>
                <a:spcPts val="0"/>
              </a:spcAft>
              <a:buNone/>
            </a:pPr>
            <a:r>
              <a:rPr lang="en-GB" sz="1000">
                <a:solidFill>
                  <a:srgbClr val="202020"/>
                </a:solidFill>
              </a:rPr>
              <a:t>MCTS may find a better or more query-relevant path through the graph, but if the final prompt still gives the LLM mostly abstract graph context and not the exact source evidence, the generated answer may not become noticeably better.</a:t>
            </a:r>
            <a:endParaRPr sz="1000">
              <a:solidFill>
                <a:srgbClr val="202020"/>
              </a:solidFill>
            </a:endParaRPr>
          </a:p>
          <a:p>
            <a:pPr indent="0" lvl="0" marL="0" rtl="0" algn="l">
              <a:lnSpc>
                <a:spcPct val="150000"/>
              </a:lnSpc>
              <a:spcBef>
                <a:spcPts val="600"/>
              </a:spcBef>
              <a:spcAft>
                <a:spcPts val="0"/>
              </a:spcAft>
              <a:buNone/>
            </a:pPr>
            <a:r>
              <a:rPr lang="en-GB" sz="1000">
                <a:solidFill>
                  <a:srgbClr val="202020"/>
                </a:solidFill>
              </a:rPr>
              <a:t>Example:</a:t>
            </a:r>
            <a:endParaRPr sz="1000">
              <a:solidFill>
                <a:srgbClr val="202020"/>
              </a:solidFill>
            </a:endParaRPr>
          </a:p>
          <a:p>
            <a:pPr indent="0" lvl="0" marL="0" rtl="0" algn="l">
              <a:spcBef>
                <a:spcPts val="600"/>
              </a:spcBef>
              <a:spcAft>
                <a:spcPts val="0"/>
              </a:spcAft>
              <a:buNone/>
            </a:pPr>
            <a:r>
              <a:rPr lang="en-GB" sz="1000">
                <a:solidFill>
                  <a:srgbClr val="202020"/>
                </a:solidFill>
                <a:highlight>
                  <a:srgbClr val="EAEAEA"/>
                </a:highlight>
                <a:latin typeface="Courier New"/>
                <a:ea typeface="Courier New"/>
                <a:cs typeface="Courier New"/>
                <a:sym typeface="Courier New"/>
              </a:rPr>
              <a:t>Retrieval finds:</a:t>
            </a:r>
            <a:endParaRPr sz="1000">
              <a:solidFill>
                <a:srgbClr val="202020"/>
              </a:solidFill>
              <a:highlight>
                <a:srgbClr val="EAEAEA"/>
              </a:highlight>
              <a:latin typeface="Courier New"/>
              <a:ea typeface="Courier New"/>
              <a:cs typeface="Courier New"/>
              <a:sym typeface="Courier New"/>
            </a:endParaRPr>
          </a:p>
          <a:p>
            <a:pPr indent="0" lvl="0" marL="0" rtl="0" algn="l">
              <a:spcBef>
                <a:spcPts val="0"/>
              </a:spcBef>
              <a:spcAft>
                <a:spcPts val="0"/>
              </a:spcAft>
              <a:buNone/>
            </a:pPr>
            <a:r>
              <a:rPr lang="en-GB" sz="1000">
                <a:solidFill>
                  <a:srgbClr val="202020"/>
                </a:solidFill>
                <a:highlight>
                  <a:srgbClr val="EAEAEA"/>
                </a:highlight>
                <a:latin typeface="Courier New"/>
                <a:ea typeface="Courier New"/>
                <a:cs typeface="Courier New"/>
                <a:sym typeface="Courier New"/>
              </a:rPr>
              <a:t>- entity A</a:t>
            </a:r>
            <a:endParaRPr sz="1000">
              <a:solidFill>
                <a:srgbClr val="202020"/>
              </a:solidFill>
              <a:highlight>
                <a:srgbClr val="EAEAEA"/>
              </a:highlight>
              <a:latin typeface="Courier New"/>
              <a:ea typeface="Courier New"/>
              <a:cs typeface="Courier New"/>
              <a:sym typeface="Courier New"/>
            </a:endParaRPr>
          </a:p>
          <a:p>
            <a:pPr indent="0" lvl="0" marL="0" rtl="0" algn="l">
              <a:spcBef>
                <a:spcPts val="0"/>
              </a:spcBef>
              <a:spcAft>
                <a:spcPts val="0"/>
              </a:spcAft>
              <a:buNone/>
            </a:pPr>
            <a:r>
              <a:rPr lang="en-GB" sz="1000">
                <a:solidFill>
                  <a:srgbClr val="202020"/>
                </a:solidFill>
                <a:highlight>
                  <a:srgbClr val="EAEAEA"/>
                </a:highlight>
                <a:latin typeface="Courier New"/>
                <a:ea typeface="Courier New"/>
                <a:cs typeface="Courier New"/>
                <a:sym typeface="Courier New"/>
              </a:rPr>
              <a:t>- entity B</a:t>
            </a:r>
            <a:endParaRPr sz="1000">
              <a:solidFill>
                <a:srgbClr val="202020"/>
              </a:solidFill>
              <a:highlight>
                <a:srgbClr val="EAEAEA"/>
              </a:highlight>
              <a:latin typeface="Courier New"/>
              <a:ea typeface="Courier New"/>
              <a:cs typeface="Courier New"/>
              <a:sym typeface="Courier New"/>
            </a:endParaRPr>
          </a:p>
          <a:p>
            <a:pPr indent="0" lvl="0" marL="0" rtl="0" algn="l">
              <a:spcBef>
                <a:spcPts val="0"/>
              </a:spcBef>
              <a:spcAft>
                <a:spcPts val="0"/>
              </a:spcAft>
              <a:buNone/>
            </a:pPr>
            <a:r>
              <a:rPr lang="en-GB" sz="1000">
                <a:solidFill>
                  <a:srgbClr val="202020"/>
                </a:solidFill>
                <a:highlight>
                  <a:srgbClr val="EAEAEA"/>
                </a:highlight>
                <a:latin typeface="Courier New"/>
                <a:ea typeface="Courier New"/>
                <a:cs typeface="Courier New"/>
                <a:sym typeface="Courier New"/>
              </a:rPr>
              <a:t>- bridge path A -&gt; C -&gt; D -&gt; B</a:t>
            </a:r>
            <a:endParaRPr sz="1000">
              <a:solidFill>
                <a:srgbClr val="202020"/>
              </a:solidFill>
              <a:highlight>
                <a:srgbClr val="EAEAEA"/>
              </a:highlight>
              <a:latin typeface="Courier New"/>
              <a:ea typeface="Courier New"/>
              <a:cs typeface="Courier New"/>
              <a:sym typeface="Courier New"/>
            </a:endParaRPr>
          </a:p>
          <a:p>
            <a:pPr indent="0" lvl="0" marL="0" rtl="0" algn="l">
              <a:spcBef>
                <a:spcPts val="0"/>
              </a:spcBef>
              <a:spcAft>
                <a:spcPts val="0"/>
              </a:spcAft>
              <a:buNone/>
            </a:pPr>
            <a:r>
              <a:rPr lang="en-GB" sz="1000">
                <a:solidFill>
                  <a:srgbClr val="202020"/>
                </a:solidFill>
                <a:highlight>
                  <a:srgbClr val="EAEAEA"/>
                </a:highlight>
                <a:latin typeface="Courier New"/>
                <a:ea typeface="Courier New"/>
                <a:cs typeface="Courier New"/>
                <a:sym typeface="Courier New"/>
              </a:rPr>
              <a:t>- community report</a:t>
            </a:r>
            <a:endParaRPr sz="1000">
              <a:solidFill>
                <a:srgbClr val="202020"/>
              </a:solidFill>
              <a:highlight>
                <a:srgbClr val="EAEAEA"/>
              </a:highlight>
              <a:latin typeface="Courier New"/>
              <a:ea typeface="Courier New"/>
              <a:cs typeface="Courier New"/>
              <a:sym typeface="Courier New"/>
            </a:endParaRPr>
          </a:p>
          <a:p>
            <a:pPr indent="0" lvl="0" marL="0" rtl="0" algn="l">
              <a:spcBef>
                <a:spcPts val="0"/>
              </a:spcBef>
              <a:spcAft>
                <a:spcPts val="0"/>
              </a:spcAft>
              <a:buNone/>
            </a:pPr>
            <a:r>
              <a:rPr lang="en-GB" sz="1000">
                <a:solidFill>
                  <a:srgbClr val="202020"/>
                </a:solidFill>
                <a:highlight>
                  <a:srgbClr val="EAEAEA"/>
                </a:highlight>
                <a:latin typeface="Courier New"/>
                <a:ea typeface="Courier New"/>
                <a:cs typeface="Courier New"/>
                <a:sym typeface="Courier New"/>
              </a:rPr>
              <a:t>- 5 source chunks</a:t>
            </a:r>
            <a:endParaRPr sz="1000">
              <a:solidFill>
                <a:srgbClr val="202020"/>
              </a:solidFill>
              <a:highlight>
                <a:srgbClr val="EAEAEA"/>
              </a:highlight>
              <a:latin typeface="Courier New"/>
              <a:ea typeface="Courier New"/>
              <a:cs typeface="Courier New"/>
              <a:sym typeface="Courier New"/>
            </a:endParaRPr>
          </a:p>
          <a:p>
            <a:pPr indent="0" lvl="0" marL="76200" marR="76200" rtl="0" algn="l">
              <a:lnSpc>
                <a:spcPct val="115000"/>
              </a:lnSpc>
              <a:spcBef>
                <a:spcPts val="0"/>
              </a:spcBef>
              <a:spcAft>
                <a:spcPts val="0"/>
              </a:spcAft>
              <a:buNone/>
            </a:pPr>
            <a:r>
              <a:t/>
            </a:r>
            <a:endParaRPr sz="1000">
              <a:solidFill>
                <a:srgbClr val="202020"/>
              </a:solidFill>
              <a:highlight>
                <a:srgbClr val="EAEAEA"/>
              </a:highlight>
            </a:endParaRPr>
          </a:p>
          <a:p>
            <a:pPr indent="0" lvl="0" marL="0" rtl="0" algn="l">
              <a:lnSpc>
                <a:spcPct val="150000"/>
              </a:lnSpc>
              <a:spcBef>
                <a:spcPts val="600"/>
              </a:spcBef>
              <a:spcAft>
                <a:spcPts val="0"/>
              </a:spcAft>
              <a:buNone/>
            </a:pPr>
            <a:r>
              <a:rPr lang="en-GB" sz="1000">
                <a:solidFill>
                  <a:srgbClr val="202020"/>
                </a:solidFill>
              </a:rPr>
              <a:t>Context composition decides:</a:t>
            </a:r>
            <a:endParaRPr sz="1000">
              <a:solidFill>
                <a:srgbClr val="202020"/>
              </a:solidFill>
            </a:endParaRPr>
          </a:p>
          <a:p>
            <a:pPr indent="0" lvl="0" marL="0" rtl="0" algn="l">
              <a:spcBef>
                <a:spcPts val="600"/>
              </a:spcBef>
              <a:spcAft>
                <a:spcPts val="0"/>
              </a:spcAft>
              <a:buNone/>
            </a:pPr>
            <a:r>
              <a:rPr lang="en-GB" sz="1000">
                <a:solidFill>
                  <a:srgbClr val="202020"/>
                </a:solidFill>
                <a:highlight>
                  <a:srgbClr val="EAEAEA"/>
                </a:highlight>
                <a:latin typeface="Courier New"/>
                <a:ea typeface="Courier New"/>
                <a:cs typeface="Courier New"/>
                <a:sym typeface="Courier New"/>
              </a:rPr>
              <a:t>Final prompt:</a:t>
            </a:r>
            <a:endParaRPr sz="1000">
              <a:solidFill>
                <a:srgbClr val="202020"/>
              </a:solidFill>
              <a:highlight>
                <a:srgbClr val="EAEAEA"/>
              </a:highlight>
              <a:latin typeface="Courier New"/>
              <a:ea typeface="Courier New"/>
              <a:cs typeface="Courier New"/>
              <a:sym typeface="Courier New"/>
            </a:endParaRPr>
          </a:p>
          <a:p>
            <a:pPr indent="0" lvl="0" marL="0" rtl="0" algn="l">
              <a:spcBef>
                <a:spcPts val="0"/>
              </a:spcBef>
              <a:spcAft>
                <a:spcPts val="0"/>
              </a:spcAft>
              <a:buNone/>
            </a:pPr>
            <a:r>
              <a:rPr lang="en-GB" sz="1000">
                <a:solidFill>
                  <a:srgbClr val="202020"/>
                </a:solidFill>
                <a:highlight>
                  <a:srgbClr val="EAEAEA"/>
                </a:highlight>
                <a:latin typeface="Courier New"/>
                <a:ea typeface="Courier New"/>
                <a:cs typeface="Courier New"/>
                <a:sym typeface="Courier New"/>
              </a:rPr>
              <a:t>- 800 tokens of entity descriptions</a:t>
            </a:r>
            <a:endParaRPr sz="1000">
              <a:solidFill>
                <a:srgbClr val="202020"/>
              </a:solidFill>
              <a:highlight>
                <a:srgbClr val="EAEAEA"/>
              </a:highlight>
              <a:latin typeface="Courier New"/>
              <a:ea typeface="Courier New"/>
              <a:cs typeface="Courier New"/>
              <a:sym typeface="Courier New"/>
            </a:endParaRPr>
          </a:p>
          <a:p>
            <a:pPr indent="0" lvl="0" marL="0" rtl="0" algn="l">
              <a:spcBef>
                <a:spcPts val="0"/>
              </a:spcBef>
              <a:spcAft>
                <a:spcPts val="0"/>
              </a:spcAft>
              <a:buNone/>
            </a:pPr>
            <a:r>
              <a:rPr lang="en-GB" sz="1000">
                <a:solidFill>
                  <a:srgbClr val="202020"/>
                </a:solidFill>
                <a:highlight>
                  <a:srgbClr val="EAEAEA"/>
                </a:highlight>
                <a:latin typeface="Courier New"/>
                <a:ea typeface="Courier New"/>
                <a:cs typeface="Courier New"/>
                <a:sym typeface="Courier New"/>
              </a:rPr>
              <a:t>- 700 tokens of bridge paths</a:t>
            </a:r>
            <a:endParaRPr sz="1000">
              <a:solidFill>
                <a:srgbClr val="202020"/>
              </a:solidFill>
              <a:highlight>
                <a:srgbClr val="EAEAEA"/>
              </a:highlight>
              <a:latin typeface="Courier New"/>
              <a:ea typeface="Courier New"/>
              <a:cs typeface="Courier New"/>
              <a:sym typeface="Courier New"/>
            </a:endParaRPr>
          </a:p>
          <a:p>
            <a:pPr indent="0" lvl="0" marL="0" rtl="0" algn="l">
              <a:spcBef>
                <a:spcPts val="0"/>
              </a:spcBef>
              <a:spcAft>
                <a:spcPts val="0"/>
              </a:spcAft>
              <a:buNone/>
            </a:pPr>
            <a:r>
              <a:rPr lang="en-GB" sz="1000">
                <a:solidFill>
                  <a:srgbClr val="202020"/>
                </a:solidFill>
                <a:highlight>
                  <a:srgbClr val="EAEAEA"/>
                </a:highlight>
                <a:latin typeface="Courier New"/>
                <a:ea typeface="Courier New"/>
                <a:cs typeface="Courier New"/>
                <a:sym typeface="Courier New"/>
              </a:rPr>
              <a:t>- 1000 tokens of community report</a:t>
            </a:r>
            <a:endParaRPr sz="1000">
              <a:solidFill>
                <a:srgbClr val="202020"/>
              </a:solidFill>
              <a:highlight>
                <a:srgbClr val="EAEAEA"/>
              </a:highlight>
              <a:latin typeface="Courier New"/>
              <a:ea typeface="Courier New"/>
              <a:cs typeface="Courier New"/>
              <a:sym typeface="Courier New"/>
            </a:endParaRPr>
          </a:p>
          <a:p>
            <a:pPr indent="0" lvl="0" marL="0" rtl="0" algn="l">
              <a:spcBef>
                <a:spcPts val="0"/>
              </a:spcBef>
              <a:spcAft>
                <a:spcPts val="0"/>
              </a:spcAft>
              <a:buNone/>
            </a:pPr>
            <a:r>
              <a:rPr lang="en-GB" sz="1000">
                <a:solidFill>
                  <a:srgbClr val="202020"/>
                </a:solidFill>
                <a:highlight>
                  <a:srgbClr val="EAEAEA"/>
                </a:highlight>
                <a:latin typeface="Courier New"/>
                <a:ea typeface="Courier New"/>
                <a:cs typeface="Courier New"/>
                <a:sym typeface="Courier New"/>
              </a:rPr>
              <a:t>- only 500 tokens of source snippets</a:t>
            </a:r>
            <a:endParaRPr sz="1000">
              <a:solidFill>
                <a:srgbClr val="202020"/>
              </a:solidFill>
              <a:highlight>
                <a:srgbClr val="EAEAEA"/>
              </a:highlight>
              <a:latin typeface="Courier New"/>
              <a:ea typeface="Courier New"/>
              <a:cs typeface="Courier New"/>
              <a:sym typeface="Courier New"/>
            </a:endParaRPr>
          </a:p>
          <a:p>
            <a:pPr indent="0" lvl="0" marL="76200" marR="76200" rtl="0" algn="l">
              <a:lnSpc>
                <a:spcPct val="115000"/>
              </a:lnSpc>
              <a:spcBef>
                <a:spcPts val="0"/>
              </a:spcBef>
              <a:spcAft>
                <a:spcPts val="0"/>
              </a:spcAft>
              <a:buNone/>
            </a:pPr>
            <a:r>
              <a:t/>
            </a:r>
            <a:endParaRPr sz="1000">
              <a:solidFill>
                <a:srgbClr val="202020"/>
              </a:solidFill>
              <a:highlight>
                <a:srgbClr val="EAEAEA"/>
              </a:highlight>
            </a:endParaRPr>
          </a:p>
          <a:p>
            <a:pPr indent="0" lvl="0" marL="0" rtl="0" algn="l">
              <a:lnSpc>
                <a:spcPct val="150000"/>
              </a:lnSpc>
              <a:spcBef>
                <a:spcPts val="600"/>
              </a:spcBef>
              <a:spcAft>
                <a:spcPts val="0"/>
              </a:spcAft>
              <a:buNone/>
            </a:pPr>
            <a:r>
              <a:rPr lang="en-GB" sz="1000">
                <a:solidFill>
                  <a:srgbClr val="202020"/>
                </a:solidFill>
              </a:rPr>
              <a:t>For many QA questions, that may be worse than:</a:t>
            </a:r>
            <a:endParaRPr sz="1000">
              <a:solidFill>
                <a:srgbClr val="202020"/>
              </a:solidFill>
            </a:endParaRPr>
          </a:p>
          <a:p>
            <a:pPr indent="0" lvl="0" marL="0" rtl="0" algn="l">
              <a:spcBef>
                <a:spcPts val="600"/>
              </a:spcBef>
              <a:spcAft>
                <a:spcPts val="0"/>
              </a:spcAft>
              <a:buNone/>
            </a:pPr>
            <a:r>
              <a:rPr lang="en-GB" sz="1000">
                <a:solidFill>
                  <a:srgbClr val="202020"/>
                </a:solidFill>
                <a:highlight>
                  <a:srgbClr val="EAEAEA"/>
                </a:highlight>
                <a:latin typeface="Courier New"/>
                <a:ea typeface="Courier New"/>
                <a:cs typeface="Courier New"/>
                <a:sym typeface="Courier New"/>
              </a:rPr>
              <a:t>Final prompt:</a:t>
            </a:r>
            <a:endParaRPr sz="1000">
              <a:solidFill>
                <a:srgbClr val="202020"/>
              </a:solidFill>
              <a:highlight>
                <a:srgbClr val="EAEAEA"/>
              </a:highlight>
              <a:latin typeface="Courier New"/>
              <a:ea typeface="Courier New"/>
              <a:cs typeface="Courier New"/>
              <a:sym typeface="Courier New"/>
            </a:endParaRPr>
          </a:p>
          <a:p>
            <a:pPr indent="0" lvl="0" marL="0" rtl="0" algn="l">
              <a:spcBef>
                <a:spcPts val="0"/>
              </a:spcBef>
              <a:spcAft>
                <a:spcPts val="0"/>
              </a:spcAft>
              <a:buNone/>
            </a:pPr>
            <a:r>
              <a:rPr lang="en-GB" sz="1000">
                <a:solidFill>
                  <a:srgbClr val="202020"/>
                </a:solidFill>
                <a:highlight>
                  <a:srgbClr val="EAEAEA"/>
                </a:highlight>
                <a:latin typeface="Courier New"/>
                <a:ea typeface="Courier New"/>
                <a:cs typeface="Courier New"/>
                <a:sym typeface="Courier New"/>
              </a:rPr>
              <a:t>- 500 tokens of graph structure</a:t>
            </a:r>
            <a:endParaRPr sz="1000">
              <a:solidFill>
                <a:srgbClr val="202020"/>
              </a:solidFill>
              <a:highlight>
                <a:srgbClr val="EAEAEA"/>
              </a:highlight>
              <a:latin typeface="Courier New"/>
              <a:ea typeface="Courier New"/>
              <a:cs typeface="Courier New"/>
              <a:sym typeface="Courier New"/>
            </a:endParaRPr>
          </a:p>
          <a:p>
            <a:pPr indent="0" lvl="0" marL="0" rtl="0" algn="l">
              <a:spcBef>
                <a:spcPts val="0"/>
              </a:spcBef>
              <a:spcAft>
                <a:spcPts val="0"/>
              </a:spcAft>
              <a:buNone/>
            </a:pPr>
            <a:r>
              <a:rPr lang="en-GB" sz="1000">
                <a:solidFill>
                  <a:srgbClr val="202020"/>
                </a:solidFill>
                <a:highlight>
                  <a:srgbClr val="EAEAEA"/>
                </a:highlight>
                <a:latin typeface="Courier New"/>
                <a:ea typeface="Courier New"/>
                <a:cs typeface="Courier New"/>
                <a:sym typeface="Courier New"/>
              </a:rPr>
              <a:t>- 2500 tokens of direct source evidence</a:t>
            </a:r>
            <a:endParaRPr sz="1000">
              <a:solidFill>
                <a:srgbClr val="202020"/>
              </a:solidFill>
              <a:highlight>
                <a:srgbClr val="EAEAEA"/>
              </a:highlight>
              <a:latin typeface="Courier New"/>
              <a:ea typeface="Courier New"/>
              <a:cs typeface="Courier New"/>
              <a:sym typeface="Courier New"/>
            </a:endParaRPr>
          </a:p>
          <a:p>
            <a:pPr indent="0" lvl="0" marL="76200" marR="76200" rtl="0" algn="l">
              <a:lnSpc>
                <a:spcPct val="115000"/>
              </a:lnSpc>
              <a:spcBef>
                <a:spcPts val="0"/>
              </a:spcBef>
              <a:spcAft>
                <a:spcPts val="0"/>
              </a:spcAft>
              <a:buNone/>
            </a:pPr>
            <a:r>
              <a:t/>
            </a:r>
            <a:endParaRPr sz="1000">
              <a:solidFill>
                <a:srgbClr val="202020"/>
              </a:solidFill>
              <a:highlight>
                <a:srgbClr val="EAEAEA"/>
              </a:highlight>
            </a:endParaRPr>
          </a:p>
          <a:p>
            <a:pPr indent="0" lvl="0" marL="0" rtl="0" algn="l">
              <a:lnSpc>
                <a:spcPct val="150000"/>
              </a:lnSpc>
              <a:spcBef>
                <a:spcPts val="600"/>
              </a:spcBef>
              <a:spcAft>
                <a:spcPts val="0"/>
              </a:spcAft>
              <a:buNone/>
            </a:pPr>
            <a:r>
              <a:rPr lang="en-GB" sz="1000">
                <a:solidFill>
                  <a:srgbClr val="202020"/>
                </a:solidFill>
              </a:rPr>
              <a:t>That’s why </a:t>
            </a:r>
            <a:r>
              <a:rPr lang="en-GB" sz="900">
                <a:solidFill>
                  <a:srgbClr val="202020"/>
                </a:solidFill>
                <a:latin typeface="Courier New"/>
                <a:ea typeface="Courier New"/>
                <a:cs typeface="Courier New"/>
                <a:sym typeface="Courier New"/>
              </a:rPr>
              <a:t>naive</a:t>
            </a:r>
            <a:r>
              <a:rPr lang="en-GB" sz="1000">
                <a:solidFill>
                  <a:srgbClr val="202020"/>
                </a:solidFill>
              </a:rPr>
              <a:t> can win: it has worse structure, but often gives the LLM more direct text evidence.</a:t>
            </a:r>
            <a:endParaRPr sz="1000">
              <a:solidFill>
                <a:srgbClr val="202020"/>
              </a:solidFill>
            </a:endParaRPr>
          </a:p>
          <a:p>
            <a:pPr indent="0" lvl="0" marL="0" rtl="0" algn="l">
              <a:lnSpc>
                <a:spcPct val="150000"/>
              </a:lnSpc>
              <a:spcBef>
                <a:spcPts val="600"/>
              </a:spcBef>
              <a:spcAft>
                <a:spcPts val="0"/>
              </a:spcAft>
              <a:buNone/>
            </a:pPr>
            <a:r>
              <a:rPr lang="en-GB" sz="1000">
                <a:solidFill>
                  <a:srgbClr val="202020"/>
                </a:solidFill>
              </a:rPr>
              <a:t>In short:</a:t>
            </a:r>
            <a:endParaRPr sz="1000">
              <a:solidFill>
                <a:srgbClr val="202020"/>
              </a:solidFill>
            </a:endParaRPr>
          </a:p>
          <a:p>
            <a:pPr indent="0" lvl="0" marL="152400" rtl="0" algn="l">
              <a:lnSpc>
                <a:spcPct val="150000"/>
              </a:lnSpc>
              <a:spcBef>
                <a:spcPts val="600"/>
              </a:spcBef>
              <a:spcAft>
                <a:spcPts val="600"/>
              </a:spcAft>
              <a:buNone/>
            </a:pPr>
            <a:r>
              <a:rPr i="1" lang="en-GB" sz="1000">
                <a:solidFill>
                  <a:srgbClr val="202020"/>
                </a:solidFill>
                <a:highlight>
                  <a:srgbClr val="EAEAEA"/>
                </a:highlight>
              </a:rPr>
              <a:t>Retrieval decides where to look. Context composition decides what the LLM actually sees.</a:t>
            </a:r>
            <a:endParaRPr i="1" sz="1000">
              <a:solidFill>
                <a:srgbClr val="202020"/>
              </a:solidFill>
              <a:highlight>
                <a:srgbClr val="EAEAEA"/>
              </a:highlight>
            </a:endParaRPr>
          </a:p>
        </p:txBody>
      </p:sp>
      <p:sp>
        <p:nvSpPr>
          <p:cNvPr id="963" name="Google Shape;963;p57"/>
          <p:cNvSpPr txBox="1"/>
          <p:nvPr/>
        </p:nvSpPr>
        <p:spPr>
          <a:xfrm>
            <a:off x="0" y="3778575"/>
            <a:ext cx="8741700" cy="1318200"/>
          </a:xfrm>
          <a:prstGeom prst="rect">
            <a:avLst/>
          </a:prstGeom>
          <a:noFill/>
          <a:ln>
            <a:noFill/>
          </a:ln>
        </p:spPr>
        <p:txBody>
          <a:bodyPr anchorCtr="0" anchor="t" bIns="91425" lIns="91425" spcFirstLastPara="1" rIns="91425" wrap="square" tIns="91425">
            <a:spAutoFit/>
          </a:bodyPr>
          <a:lstStyle/>
          <a:p>
            <a:pPr indent="0" lvl="0" marL="152400" rtl="0" algn="l">
              <a:lnSpc>
                <a:spcPct val="150000"/>
              </a:lnSpc>
              <a:spcBef>
                <a:spcPts val="600"/>
              </a:spcBef>
              <a:spcAft>
                <a:spcPts val="0"/>
              </a:spcAft>
              <a:buNone/>
            </a:pPr>
            <a:r>
              <a:rPr i="1" lang="en-GB" sz="1000">
                <a:solidFill>
                  <a:srgbClr val="202020"/>
                </a:solidFill>
                <a:highlight>
                  <a:srgbClr val="EAEAEA"/>
                </a:highlight>
              </a:rPr>
              <a:t>Nos variantes améliorent bien la structure du parcours dans le graphe, mais cela ne suffit pas : pour des tâches QA, la qualité finale dépend fortement de la composition du prompt. Si le contexte final remplace trop d’évidence textuelle exacte par des abstractions graphe, naive RAG peut gagner malgré un retrieval moins structuré.</a:t>
            </a:r>
            <a:endParaRPr i="1" sz="1000">
              <a:solidFill>
                <a:srgbClr val="202020"/>
              </a:solidFill>
              <a:highlight>
                <a:srgbClr val="EAEAEA"/>
              </a:highlight>
            </a:endParaRPr>
          </a:p>
          <a:p>
            <a:pPr indent="0" lvl="0" marL="0" rtl="0" algn="l">
              <a:lnSpc>
                <a:spcPct val="115000"/>
              </a:lnSpc>
              <a:spcBef>
                <a:spcPts val="600"/>
              </a:spcBef>
              <a:spcAft>
                <a:spcPts val="0"/>
              </a:spcAft>
              <a:buNone/>
            </a:pPr>
            <a:r>
              <a:t/>
            </a:r>
            <a:endParaRPr sz="1100"/>
          </a:p>
          <a:p>
            <a:pPr indent="0" lvl="0" marL="0" rtl="0" algn="l">
              <a:spcBef>
                <a:spcPts val="0"/>
              </a:spcBef>
              <a:spcAft>
                <a:spcPts val="0"/>
              </a:spcAft>
              <a:buNone/>
            </a:pPr>
            <a:r>
              <a:t/>
            </a:r>
            <a:endParaRPr sz="1100"/>
          </a:p>
        </p:txBody>
      </p:sp>
      <p:sp>
        <p:nvSpPr>
          <p:cNvPr id="964" name="Google Shape;964;p57"/>
          <p:cNvSpPr/>
          <p:nvPr/>
        </p:nvSpPr>
        <p:spPr>
          <a:xfrm>
            <a:off x="820725" y="1423625"/>
            <a:ext cx="400200" cy="4002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
                <a:solidFill>
                  <a:schemeClr val="lt1"/>
                </a:solidFill>
                <a:latin typeface="Lato"/>
                <a:ea typeface="Lato"/>
                <a:cs typeface="Lato"/>
                <a:sym typeface="Lato"/>
              </a:rPr>
              <a:t>1</a:t>
            </a:r>
            <a:endParaRPr sz="2000">
              <a:solidFill>
                <a:schemeClr val="lt1"/>
              </a:solidFill>
              <a:latin typeface="Lato"/>
              <a:ea typeface="Lato"/>
              <a:cs typeface="Lato"/>
              <a:sym typeface="Lato"/>
            </a:endParaRPr>
          </a:p>
        </p:txBody>
      </p:sp>
      <p:sp>
        <p:nvSpPr>
          <p:cNvPr id="965" name="Google Shape;965;p57"/>
          <p:cNvSpPr txBox="1"/>
          <p:nvPr/>
        </p:nvSpPr>
        <p:spPr>
          <a:xfrm>
            <a:off x="1220925" y="1351839"/>
            <a:ext cx="60921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Problème potentiel avec </a:t>
            </a:r>
            <a:r>
              <a:rPr b="1" lang="en-GB" sz="1300">
                <a:solidFill>
                  <a:schemeClr val="accent1"/>
                </a:solidFill>
                <a:latin typeface="Lato"/>
                <a:ea typeface="Lato"/>
                <a:cs typeface="Lato"/>
                <a:sym typeface="Lato"/>
              </a:rPr>
              <a:t>notre stratégie de chevauchement avec la requête</a:t>
            </a:r>
            <a:endParaRPr b="1" sz="1300">
              <a:solidFill>
                <a:schemeClr val="accent1"/>
              </a:solidFill>
              <a:latin typeface="Lato"/>
              <a:ea typeface="Lato"/>
              <a:cs typeface="Lato"/>
              <a:sym typeface="Lato"/>
            </a:endParaRPr>
          </a:p>
          <a:p>
            <a:pPr indent="0" lvl="0" marL="0" rtl="0" algn="l">
              <a:spcBef>
                <a:spcPts val="0"/>
              </a:spcBef>
              <a:spcAft>
                <a:spcPts val="0"/>
              </a:spcAft>
              <a:buNone/>
            </a:pPr>
            <a:r>
              <a:rPr lang="en-GB" sz="1300">
                <a:solidFill>
                  <a:schemeClr val="accent1"/>
                </a:solidFill>
                <a:latin typeface="Lato"/>
                <a:ea typeface="Lato"/>
                <a:cs typeface="Lato"/>
                <a:sym typeface="Lato"/>
              </a:rPr>
              <a:t>On sélectionne qu’une seule phrase (pas assez)</a:t>
            </a:r>
            <a:endParaRPr sz="1300">
              <a:solidFill>
                <a:schemeClr val="accent1"/>
              </a:solidFill>
              <a:latin typeface="Lato"/>
              <a:ea typeface="Lato"/>
              <a:cs typeface="Lato"/>
              <a:sym typeface="Lato"/>
            </a:endParaRPr>
          </a:p>
        </p:txBody>
      </p:sp>
      <p:sp>
        <p:nvSpPr>
          <p:cNvPr id="966" name="Google Shape;966;p57"/>
          <p:cNvSpPr/>
          <p:nvPr/>
        </p:nvSpPr>
        <p:spPr>
          <a:xfrm>
            <a:off x="820725" y="2058525"/>
            <a:ext cx="400200" cy="4002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
                <a:solidFill>
                  <a:schemeClr val="lt1"/>
                </a:solidFill>
                <a:latin typeface="Lato"/>
                <a:ea typeface="Lato"/>
                <a:cs typeface="Lato"/>
                <a:sym typeface="Lato"/>
              </a:rPr>
              <a:t>2</a:t>
            </a:r>
            <a:endParaRPr sz="2000">
              <a:solidFill>
                <a:schemeClr val="lt1"/>
              </a:solidFill>
              <a:latin typeface="Lato"/>
              <a:ea typeface="Lato"/>
              <a:cs typeface="Lato"/>
              <a:sym typeface="Lato"/>
            </a:endParaRPr>
          </a:p>
        </p:txBody>
      </p:sp>
      <p:sp>
        <p:nvSpPr>
          <p:cNvPr id="967" name="Google Shape;967;p57"/>
          <p:cNvSpPr txBox="1"/>
          <p:nvPr/>
        </p:nvSpPr>
        <p:spPr>
          <a:xfrm>
            <a:off x="1220925" y="1986739"/>
            <a:ext cx="60921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Encourageant que nos méthodes de retrieval réussissent de battre HIRAG. Mais on doit refaire l’évaluation sans  la stratégie </a:t>
            </a:r>
            <a:r>
              <a:rPr b="1" lang="en-GB" sz="1300">
                <a:solidFill>
                  <a:schemeClr val="accent1"/>
                </a:solidFill>
                <a:latin typeface="Lato"/>
                <a:ea typeface="Lato"/>
                <a:cs typeface="Lato"/>
                <a:sym typeface="Lato"/>
              </a:rPr>
              <a:t>de chevauchement avec la requête</a:t>
            </a:r>
            <a:endParaRPr sz="1300">
              <a:solidFill>
                <a:schemeClr val="accent1"/>
              </a:solidFill>
              <a:latin typeface="Lato"/>
              <a:ea typeface="Lato"/>
              <a:cs typeface="Lato"/>
              <a:sym typeface="Lato"/>
            </a:endParaRPr>
          </a:p>
        </p:txBody>
      </p:sp>
      <p:sp>
        <p:nvSpPr>
          <p:cNvPr id="968" name="Google Shape;968;p57"/>
          <p:cNvSpPr/>
          <p:nvPr/>
        </p:nvSpPr>
        <p:spPr>
          <a:xfrm>
            <a:off x="820725" y="2685487"/>
            <a:ext cx="400200" cy="4002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
                <a:solidFill>
                  <a:schemeClr val="lt1"/>
                </a:solidFill>
                <a:latin typeface="Lato"/>
                <a:ea typeface="Lato"/>
                <a:cs typeface="Lato"/>
                <a:sym typeface="Lato"/>
              </a:rPr>
              <a:t>3</a:t>
            </a:r>
            <a:endParaRPr sz="2000">
              <a:solidFill>
                <a:schemeClr val="lt1"/>
              </a:solidFill>
              <a:latin typeface="Lato"/>
              <a:ea typeface="Lato"/>
              <a:cs typeface="Lato"/>
              <a:sym typeface="Lato"/>
            </a:endParaRPr>
          </a:p>
        </p:txBody>
      </p:sp>
      <p:sp>
        <p:nvSpPr>
          <p:cNvPr id="969" name="Google Shape;969;p57"/>
          <p:cNvSpPr txBox="1"/>
          <p:nvPr/>
        </p:nvSpPr>
        <p:spPr>
          <a:xfrm>
            <a:off x="1220925" y="2593076"/>
            <a:ext cx="60921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Ces résultats montrent qu’un seule graphe est insuffisant pour complètement répondre à la question. Sûrement parce que le graphe contient que des résumés</a:t>
            </a:r>
            <a:endParaRPr sz="1300">
              <a:solidFill>
                <a:schemeClr val="accent1"/>
              </a:solidFill>
              <a:latin typeface="Lato"/>
              <a:ea typeface="Lato"/>
              <a:cs typeface="Lato"/>
              <a:sym typeface="Lato"/>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